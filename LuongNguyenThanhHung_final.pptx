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bài toán nhận dạng hoạt động từ tín hiệu cổ tay. Phần xử lý tín hiệu và inference chạy trên ESP32; máy tính gửi dữ liệu đã lưu qua USB.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ba mục tiêu: nhận dạng tám hoạt động, so sánh các kiến trúc, kiểm tra độ trễ và bộ nhớ trên ESP32. Các model được chạy riêng, không ghép thành ensemble. Thí nghiệm chưa có cảm biến.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BVP của Empatica E4 được gọi là PPG trong báo cáo. Chỉ dùng PPG và ACC ở cổ tay; không dùng ECG hoặc nhãn nhịp tim. Mã 0 là giai đoạn chuyển tiếp và bị loại. Tám mã gốc 1–8 được ánh xạ thành 0–7 trong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được chia theo người trước khi tạo cửa sổ. Train gồm S1–S10; Validation gồm S11–S12; Test gồm S13–S15. Không chia ngẫu nhiên các cửa sổ của cùng người vào nhiều tập. Các cửa sổ chồng lấn nên không phải 9.420 mẫu độc lập.</a:t>
            </a:r>
          </a:p>
          <a:p>
            <a:r>
              <a:t>Trong công thức chọn nhãn, n_k là số mẫu mang nhãn k; n_0=0 loại cửa sổ chuyển tiếp.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cửa sổ dài 8 giây chứa 512 mẫu PPG, 256 mẫu ACC trên mỗi trục và 32 mẫu nhãn. Bước nhảy là 2 giây. Sau decimate, PPG cũng còn 256 mẫu. CNN dùng mean và std từ Train. RF không dùng z-score để giữ các đặc trưng biên độ. Độ trễ xử lý không bao gồm 8 giây thu tín hiệu đầu tiên.</a:t>
            </a:r>
          </a:p>
          <a:p>
            <a:r>
              <a:t>Công thức z-score dùng mean và std của từng kênh trên Train. Các giá trị này giữ cố định cho Validation và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Hop bên trong STFT là 4 mẫu, tương ứng 0,125 giây, khác với bước nhảy HAR 2 giây. STFT không padding, tạo 49 vị trí thời gian và 25 bin trong dải 0–12 Hz. Resize về 32 × 32 không tăng độ phân giải phổ. Số kênh C lần lượt là 4, 3, 1 cho E3, E4, E5.</a:t>
            </a:r>
          </a:p>
          <a:p>
            <a:r>
              <a:t>Công thức STFT dùng cửa sổ Hann w[n], dịch 4 mẫu theo m và FFT 64 điểm theo k. Phổ dùng ln(1+|Z|).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là Random Forest. E2 là CNN 1-D. E3–E5 cùng kiến trúc CNN 2-D nhưng khác nhóm tín hiệu. E6 dùng MultiKernel, Mixup và EMA. Q1 là bản INT8 của E3 seed 42. MACs chỉ đếm Conv và Linear. Số tham số khi huấn luyện không bằng số byte trọng số khi xuất model. BatchNorm được gộp vào Conv trước khi xuất.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kênh có bảy đặc trưng thống kê mỗi kênh, tổng cộng 28. PPG và độ lớn ACC có thêm năm đặc trưng phổ mỗi tín hiệu, tổng cộng 10. Validation chọn max_depth=None và min_samples_leaf=5. RF gồm 100 cây với 326.208 nút; 38 đặc trưng không có nghĩa model sẽ dùng ít bộ nhớ.</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kích thước tensor không gồm batch. E2 có ReLU sau mỗi Conv, nhưng không có ReLU giữa hai lớp Linear. E3–E5 có cùng các lớp sau đầu vào. E4 nhận ba kênh ACC; E5 nhận một kênh PPG. Dropout chỉ bật khi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Stem của E6 có Conv kernel 7, BatchNorm, ELU và MaxPool. Có ba MultiKernel block; MaxPool nằm trước block 1 và giữa các block. Trong mỗi block, mỗi nhánh có Conv 1×1 riêng để giảm 24 xuống 8 kênh, rồi Conv kernel 3, 5 hoặc 7. Ghép ba nhánh thành 24 kênh, qua Conv 1×1 và BatchNorm, cộng với input rồi dùng ELU. Thứ tự các lớp đã được kiểm tra theo code trong notebook.</a:t>
            </a:r>
          </a:p>
          <a:p>
            <a:r>
              <a:t>Trong Mixup, hai đầu vào và nhãn one-hot được trộn với cùng lambda; lambda lấy từ Beta(0.2,0.2). Chỉ dùng Mixup trong Train.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lần huấn luyện giữ checkpoint tốt nhất trên Validation. E2–E5 chạy ba seed; kết quả là trung bình và độ lệch chuẩn mẫu, không phải khoảng tin cậy. E6 chỉ có seed 42, dùng Mixup và ReduceLROnPlateau. Tiêu chí chọn checkpoint là trung bình Macro F1 của S11 và S12.</a:t>
            </a:r>
          </a:p>
          <a:p>
            <a:r>
              <a:t>Trong Weighted Cross-Entropy, a_y là trọng số lớp, B là batch, và loss được chia cho tổng trọng số trong batch.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0,809622 được chọn trên S11; hệ số EMA 0,35 được chọn trên S12. EMA chỉ dùng cửa sổ hiện tại và quá khứ, không dùng nhãn thật khi inference. Reset khi đổi phiên hoặc tín hiệu bị gián đoạn. Hai hàng trước và sau EMA dùng cùng một checkpoint. Chưa đánh giá quy tắc reset khi thu tín hiệu liên tục từ cảm biến.</a:t>
            </a:r>
          </a:p>
          <a:p>
            <a:r>
              <a:t>l_t là logits; p_t là xác suất sau temperature scaling; p-bar là EMA. Công thức chỉ dùng xác suất hiện tại và trạng thái quá khứ.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chỉ số được tính từ nhãn do ESP32 trả về trên toàn bộ Test. Macro F1 là trung bình F1 của tám lớp; không tính F1 từ Precision và Recall đã lấy trung bình. Weighted F1 có trọng số theo số mẫu từng lớp. Máy tính chỉ nhận và tổng hợp kết quả.</a:t>
            </a:r>
          </a:p>
          <a:p>
            <a:r>
              <a:t>TP, FP, FN được tính riêng theo từng lớp. N_k là số mẫu thật của lớp k; N là tổng số mẫu.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E2–E5 dùng trung bình và độ lệch chuẩn mẫu qua ba checkpoint; E1, E6 và Q1 dùng một checkpoint. E6 dùng kết quả sau EMA. E6 cao hơn E2 trung bình 6,05 điểm Accuracy và 6,83 điểm Macro F1; chênh lệch này chưa đủ để kết luận về ý nghĩa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E6 chênh 10,22 điểm giữa S13 và S15, nên kết quả khác nhau giữa ba người. Trung bình theo người là trung bình của ba Macro F1 riêng; nó khác Macro F1 tính lại trên toàn bộ Test. E2–E5 vẫn dùng trung bình ba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Tất cả giá trị trong bảng là F1 (%). E2–E5 dùng trung bình ba checkpoint; E6 sau EMA. E6 có F1 cao ở Đạp xe và Lái ô tô, nhưng Làm việc chỉ đạt 61,98%. E5 thấp trong cấu hình đã thử, chưa đủ để kết luận PPG không có ích trong các cấu hình khác. E3 hơn E4 khoảng 2,83 điểm trên toàn Test, nhưng E4 hơn E3 trong 2/9 trường hợp xét theo từng người và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Confusion matrix được chuẩn hóa theo hàng. Hàng là nhãn thật, cột là nhãn dự đoán; đường chéo là Recall, không phải F1. Trong 1.805 cửa sổ Làm việc, 778 bị nhận thành Nghỉ trưa/ăn trưa, chiếm 43,10%. Bảng bên phải dùng seed 42 và cộng lỗi ở cả hai hướng. Cặp Làm việc–Nghỉ trưa của E6 có 965 lỗi, gồm 778 và 187 ở hai hướng. Bảng lỗi không xác định được nguyên nhân của nhầm lẫn.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Benchmark dùng cùng board 240 MHz, cùng 1.000 cửa sổ Test và 50 lượt warm-up. Thời gian đo gồm tiền xử lý, inference và hậu xử lý; dữ liệu đã nằm trong RAM trước khi bắt đầu đo. Không tính USB, đọc tệp hoặc thu tín hiệu. Các chỉ số phân loại vẫn tính trên 9.420 cửa sổ, không phải chỉ 1.000 cửa sổ benchmark. E6 chạy firmware riêng; đây vẫn là giới hạn của so sánh.</a:t>
            </a:r>
          </a:p>
          <a:p>
            <a:r>
              <a:t>t_total gồm tiền xử lý, inference và hậu xử lý. Các thành phần không được dùng trong một model không đóng góp vào thời gian của model đó.</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dùng checkpoint seed 42. E1 có Mean khoảng 1,21 giây; các CNN có Mean từ khoảng 61 đến 110 ms. P95 đều dưới bước nhảy 2 giây. Thời gian xử lý không bao gồm 8 giây thu tín hiệu trước dự đoán đầu tiên. E6 có Mean thấp hơn E2 0,735 ms, trong khi P95 cao hơn 1,469 ms. Không nên kết luận E6 nhanh hơn từ chênh lệch nhỏ này.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được tạo từ E3 seed 42 bằng lượng tử hóa sau huấn luyện. Calibration chỉ dùng 512 cửa sổ Train, không dùng Validation hoặc Test. Mức giảm 72,31% là dung lượng trọng số, không phải toàn firmware hoặc RAM. Thời gian inference giảm 16,31%, nhưng pipeline chỉ giảm 4,07% vì STFT vẫn dùng số thực và bước quantize tốn trung bình 2,625 ms. Q1 dùng reference kernel C++, chưa dùng ESP-NN.</a:t>
            </a:r>
          </a:p>
          <a:p>
            <a:r>
              <a:t>s là scale, z_0 là zero-point, q là giá trị INT8 trong [-128,127]. Công thức liên hệ INT8 với giá trị số thực.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là số đo mới với bảy firmware riêng. Mỗi model chạy một lần trên cùng cửa sổ S13_W000035. Dung lượng firmware trong flash đã gồm trọng số nên không cộng hai cột này. RAM tĩnh khác với flash. Heap và stack là phần còn trống. Min free heap được theo dõi từ lúc khởi động, không phải peak RAM riêng của inference. E3 và E5 dùng cùng kích thước buffer trong code hiện tại. Q1 có trọng số nhỏ hơn E3 nhưng RAM tĩnh cao hơn; không được suy ra INT8 luôn giảm RAM.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kết quả trong phạm vi đã thử: E2 cao nhất trong E1–E5 theo Macro F1 trung bình; E6 cao nhất trong nhóm E1–E6 và Q1. Test chỉ có ba người, E6 chỉ một checkpoint. Chưa dùng cảm biến hoặc đo điện năng và chạy lâu dài. Sau khi chuyển kernel sang IRAM, benchmark vẫn ghi nhận một lỗi RF và một lỗi CRC; các lượt lỗi không được tính vào thống kê độ trễ. Số đo bộ nhớ trên một cửa sổ chưa xác định peak RAM riêng của inference.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mọi người đã theo dõi. Link GitHub dẫn tới mã nguồn, notebook và firmware. Mời mọi người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github.com/Hung0Toy2810/AI4IoT_final_projec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879D8"/>
          </a:solidFill>
          <a:ln>
            <a:solidFill>
              <a:srgbClr val="2879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3"/>
          <a:stretch>
            <a:fillRect/>
          </a:stretch>
        </p:blipFill>
        <p:spPr>
          <a:xfrm>
            <a:off x="658368" y="519593"/>
            <a:ext cx="1325880" cy="1109652"/>
          </a:xfrm>
          <a:prstGeom prst="rect">
            <a:avLst/>
          </a:prstGeom>
        </p:spPr>
      </p:pic>
      <p:sp>
        <p:nvSpPr>
          <p:cNvPr id="5" name="TextBox 4"/>
          <p:cNvSpPr txBox="1"/>
          <p:nvPr/>
        </p:nvSpPr>
        <p:spPr>
          <a:xfrm>
            <a:off x="2148840" y="576072"/>
            <a:ext cx="9052560" cy="320040"/>
          </a:xfrm>
          <a:prstGeom prst="rect">
            <a:avLst/>
          </a:prstGeom>
          <a:noFill/>
        </p:spPr>
        <p:txBody>
          <a:bodyPr wrap="square" anchor="t">
            <a:spAutoFit/>
          </a:bodyPr>
          <a:lstStyle/>
          <a:p>
            <a:pPr algn="l"/>
            <a:r>
              <a:rPr sz="1600" b="1">
                <a:solidFill>
                  <a:srgbClr val="1F334A"/>
                </a:solidFill>
                <a:latin typeface="Times New Roman"/>
              </a:rPr>
              <a:t>TRƯỜNG ĐẠI HỌC CÔNG NGHỆ KỸ THUẬT TP. HỒ CHÍ MINH</a:t>
            </a:r>
          </a:p>
        </p:txBody>
      </p:sp>
      <p:sp>
        <p:nvSpPr>
          <p:cNvPr id="6" name="TextBox 5"/>
          <p:cNvSpPr txBox="1"/>
          <p:nvPr/>
        </p:nvSpPr>
        <p:spPr>
          <a:xfrm>
            <a:off x="2148840" y="960120"/>
            <a:ext cx="7315200" cy="274320"/>
          </a:xfrm>
          <a:prstGeom prst="rect">
            <a:avLst/>
          </a:prstGeom>
          <a:noFill/>
        </p:spPr>
        <p:txBody>
          <a:bodyPr wrap="square" anchor="t">
            <a:spAutoFit/>
          </a:bodyPr>
          <a:lstStyle/>
          <a:p>
            <a:pPr algn="l"/>
            <a:r>
              <a:rPr sz="1500" b="1">
                <a:solidFill>
                  <a:srgbClr val="5F6978"/>
                </a:solidFill>
                <a:latin typeface="Times New Roman"/>
              </a:rPr>
              <a:t>KHOA CÔNG NGHỆ THÔNG TIN</a:t>
            </a:r>
          </a:p>
        </p:txBody>
      </p:sp>
      <p:sp>
        <p:nvSpPr>
          <p:cNvPr id="7" name="TextBox 6"/>
          <p:cNvSpPr txBox="1"/>
          <p:nvPr/>
        </p:nvSpPr>
        <p:spPr>
          <a:xfrm>
            <a:off x="731520" y="1828800"/>
            <a:ext cx="10789920" cy="1234440"/>
          </a:xfrm>
          <a:prstGeom prst="rect">
            <a:avLst/>
          </a:prstGeom>
          <a:noFill/>
        </p:spPr>
        <p:txBody>
          <a:bodyPr wrap="square" anchor="ctr">
            <a:spAutoFit/>
          </a:bodyPr>
          <a:lstStyle/>
          <a:p>
            <a:pPr algn="ctr"/>
            <a:r>
              <a:rPr sz="3000" b="1">
                <a:solidFill>
                  <a:srgbClr val="2879D8"/>
                </a:solidFill>
                <a:latin typeface="Times New Roman"/>
              </a:rPr>
              <a:t>NHẬN DẠNG HOẠT ĐỘNG THƯỜNG NHẬT
TỪ PPG VÀ GIA TỐC KẾ CỔ TAY</a:t>
            </a:r>
          </a:p>
        </p:txBody>
      </p:sp>
      <p:sp>
        <p:nvSpPr>
          <p:cNvPr id="8" name="Rectangle 7"/>
          <p:cNvSpPr/>
          <p:nvPr/>
        </p:nvSpPr>
        <p:spPr>
          <a:xfrm>
            <a:off x="4251960" y="3182112"/>
            <a:ext cx="3703320" cy="45720"/>
          </a:xfrm>
          <a:prstGeom prst="rect">
            <a:avLst/>
          </a:prstGeom>
          <a:solidFill>
            <a:srgbClr val="D13737"/>
          </a:solidFill>
          <a:ln>
            <a:solidFill>
              <a:srgbClr val="D1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3429000"/>
            <a:ext cx="8503920" cy="365760"/>
          </a:xfrm>
          <a:prstGeom prst="rect">
            <a:avLst/>
          </a:prstGeom>
          <a:noFill/>
        </p:spPr>
        <p:txBody>
          <a:bodyPr wrap="square" anchor="t">
            <a:spAutoFit/>
          </a:bodyPr>
          <a:lstStyle/>
          <a:p>
            <a:pPr algn="ctr"/>
            <a:r>
              <a:rPr sz="2000" b="1">
                <a:solidFill>
                  <a:srgbClr val="1F334A"/>
                </a:solidFill>
                <a:latin typeface="Times New Roman"/>
              </a:rPr>
              <a:t>Tiểu luận học phần Trí tuệ nhân tạo cho IoT</a:t>
            </a:r>
          </a:p>
        </p:txBody>
      </p:sp>
      <p:sp>
        <p:nvSpPr>
          <p:cNvPr id="10" name="TextBox 9"/>
          <p:cNvSpPr txBox="1"/>
          <p:nvPr/>
        </p:nvSpPr>
        <p:spPr>
          <a:xfrm>
            <a:off x="1920240" y="4956048"/>
            <a:ext cx="8321040" cy="685800"/>
          </a:xfrm>
          <a:prstGeom prst="rect">
            <a:avLst/>
          </a:prstGeom>
          <a:noFill/>
        </p:spPr>
        <p:txBody>
          <a:bodyPr wrap="square" anchor="t">
            <a:spAutoFit/>
          </a:bodyPr>
          <a:lstStyle/>
          <a:p>
            <a:pPr algn="ctr"/>
            <a:r>
              <a:rPr sz="1800" b="0">
                <a:solidFill>
                  <a:srgbClr val="191919"/>
                </a:solidFill>
                <a:latin typeface="Times New Roman"/>
              </a:rPr>
              <a:t>Sinh viên: Lương Nguyễn Thành Hưng · MSSV: 23110111
GVHD: ThS. Hồ Nhựt Minh</a:t>
            </a:r>
          </a:p>
        </p:txBody>
      </p:sp>
      <p:sp>
        <p:nvSpPr>
          <p:cNvPr id="11" name="TextBox 10"/>
          <p:cNvSpPr txBox="1"/>
          <p:nvPr/>
        </p:nvSpPr>
        <p:spPr>
          <a:xfrm>
            <a:off x="3108960" y="6035040"/>
            <a:ext cx="5943600" cy="256032"/>
          </a:xfrm>
          <a:prstGeom prst="rect">
            <a:avLst/>
          </a:prstGeom>
          <a:noFill/>
        </p:spPr>
        <p:txBody>
          <a:bodyPr wrap="square" anchor="t">
            <a:spAutoFit/>
          </a:bodyPr>
          <a:lstStyle/>
          <a:p>
            <a:pPr algn="ctr"/>
            <a:r>
              <a:rPr sz="1400" b="1">
                <a:solidFill>
                  <a:srgbClr val="5F6978"/>
                </a:solidFill>
                <a:latin typeface="Times New Roman"/>
              </a:rPr>
              <a:t>TP. Hồ Chí Minh,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Mục tiêu và phạm vi</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02 / 23</a:t>
            </a:r>
          </a:p>
        </p:txBody>
      </p:sp>
      <p:sp>
        <p:nvSpPr>
          <p:cNvPr id="6" name="Rounded Rectangle 5"/>
          <p:cNvSpPr/>
          <p:nvPr/>
        </p:nvSpPr>
        <p:spPr>
          <a:xfrm>
            <a:off x="548640" y="1417320"/>
            <a:ext cx="5394960" cy="41148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499262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Bài toán</a:t>
            </a:r>
          </a:p>
        </p:txBody>
      </p:sp>
      <p:sp>
        <p:nvSpPr>
          <p:cNvPr id="8" name="TextBox 7"/>
          <p:cNvSpPr txBox="1"/>
          <p:nvPr/>
        </p:nvSpPr>
        <p:spPr>
          <a:xfrm>
            <a:off x="749808" y="2130552"/>
            <a:ext cx="4992624" cy="3328416"/>
          </a:xfrm>
          <a:prstGeom prst="rect">
            <a:avLst/>
          </a:prstGeom>
          <a:noFill/>
        </p:spPr>
        <p:txBody>
          <a:bodyPr wrap="square" lIns="18288" rIns="18288" tIns="18288" bIns="0">
            <a:spAutoFit/>
          </a:bodyPr>
          <a:lstStyle/>
          <a:p>
            <a:pPr algn="l">
              <a:spcAft>
                <a:spcPts val="800"/>
              </a:spcAft>
            </a:pPr>
            <a:r>
              <a:rPr sz="2200" b="0">
                <a:solidFill>
                  <a:srgbClr val="223544"/>
                </a:solidFill>
                <a:latin typeface="Times New Roman"/>
              </a:rPr>
              <a:t>Nhận dạng 8 hoạt động từ PPG và ACC ở cổ tay.</a:t>
            </a:r>
          </a:p>
          <a:p>
            <a:pPr algn="l">
              <a:spcAft>
                <a:spcPts val="800"/>
              </a:spcAft>
            </a:pPr>
            <a:r>
              <a:rPr sz="2200" b="0">
                <a:solidFill>
                  <a:srgbClr val="223544"/>
                </a:solidFill>
                <a:latin typeface="Times New Roman"/>
              </a:rPr>
              <a:t>So sánh E1–E6 và bản INT8 Q1.</a:t>
            </a:r>
          </a:p>
          <a:p>
            <a:pPr algn="l">
              <a:spcAft>
                <a:spcPts val="800"/>
              </a:spcAft>
            </a:pPr>
            <a:r>
              <a:rPr sz="2200" b="0">
                <a:solidFill>
                  <a:srgbClr val="223544"/>
                </a:solidFill>
                <a:latin typeface="Times New Roman"/>
              </a:rPr>
              <a:t>Đánh giá kết quả phân loại, độ trễ và bộ nhớ trên ESP32.</a:t>
            </a:r>
          </a:p>
        </p:txBody>
      </p:sp>
      <p:sp>
        <p:nvSpPr>
          <p:cNvPr id="9" name="Rounded Rectangle 8"/>
          <p:cNvSpPr/>
          <p:nvPr/>
        </p:nvSpPr>
        <p:spPr>
          <a:xfrm>
            <a:off x="6172200" y="1417320"/>
            <a:ext cx="5440680" cy="41148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554480"/>
            <a:ext cx="503834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Điều kiện thí nghiệm</a:t>
            </a:r>
          </a:p>
        </p:txBody>
      </p:sp>
      <p:sp>
        <p:nvSpPr>
          <p:cNvPr id="11" name="TextBox 10"/>
          <p:cNvSpPr txBox="1"/>
          <p:nvPr/>
        </p:nvSpPr>
        <p:spPr>
          <a:xfrm>
            <a:off x="6373368" y="2130552"/>
            <a:ext cx="5038344" cy="3328416"/>
          </a:xfrm>
          <a:prstGeom prst="rect">
            <a:avLst/>
          </a:prstGeom>
          <a:noFill/>
        </p:spPr>
        <p:txBody>
          <a:bodyPr wrap="square" lIns="18288" rIns="18288" tIns="18288" bIns="0">
            <a:spAutoFit/>
          </a:bodyPr>
          <a:lstStyle/>
          <a:p>
            <a:pPr algn="l">
              <a:spcAft>
                <a:spcPts val="800"/>
              </a:spcAft>
            </a:pPr>
            <a:r>
              <a:rPr sz="2200" b="0">
                <a:solidFill>
                  <a:srgbClr val="223544"/>
                </a:solidFill>
                <a:latin typeface="Times New Roman"/>
              </a:rPr>
              <a:t>Dùng dữ liệu PPG-DaLiA đã lưu.</a:t>
            </a:r>
          </a:p>
          <a:p>
            <a:pPr algn="l">
              <a:spcAft>
                <a:spcPts val="800"/>
              </a:spcAft>
            </a:pPr>
            <a:r>
              <a:rPr sz="2200" b="0">
                <a:solidFill>
                  <a:srgbClr val="223544"/>
                </a:solidFill>
                <a:latin typeface="Times New Roman"/>
              </a:rPr>
              <a:t>Máy tính gửi từng cửa sổ qua USB.</a:t>
            </a:r>
          </a:p>
          <a:p>
            <a:pPr algn="l">
              <a:spcAft>
                <a:spcPts val="800"/>
              </a:spcAft>
            </a:pPr>
            <a:r>
              <a:rPr sz="2200" b="0">
                <a:solidFill>
                  <a:srgbClr val="223544"/>
                </a:solidFill>
                <a:latin typeface="Times New Roman"/>
              </a:rPr>
              <a:t>ESP32 chạy tiền xử lý và inference.</a:t>
            </a:r>
          </a:p>
          <a:p>
            <a:pPr algn="l">
              <a:spcAft>
                <a:spcPts val="800"/>
              </a:spcAft>
            </a:pPr>
            <a:r>
              <a:rPr sz="2200" b="0">
                <a:solidFill>
                  <a:srgbClr val="223544"/>
                </a:solidFill>
                <a:latin typeface="Times New Roman"/>
              </a:rPr>
              <a:t>Chưa thu dữ liệu từ cảm biến.</a:t>
            </a:r>
          </a:p>
        </p:txBody>
      </p:sp>
      <p:sp>
        <p:nvSpPr>
          <p:cNvPr id="12" name="Rounded Rectangle 11"/>
          <p:cNvSpPr/>
          <p:nvPr/>
        </p:nvSpPr>
        <p:spPr>
          <a:xfrm>
            <a:off x="530352" y="5815584"/>
            <a:ext cx="11109960" cy="438912"/>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5852160"/>
            <a:ext cx="10753344" cy="347472"/>
          </a:xfrm>
          <a:prstGeom prst="rect">
            <a:avLst/>
          </a:prstGeom>
          <a:noFill/>
        </p:spPr>
        <p:txBody>
          <a:bodyPr wrap="square" lIns="18288" rIns="18288" tIns="18288" bIns="0">
            <a:spAutoFit/>
          </a:bodyPr>
          <a:lstStyle/>
          <a:p>
            <a:pPr algn="l">
              <a:spcAft>
                <a:spcPts val="800"/>
              </a:spcAft>
            </a:pPr>
            <a:r>
              <a:rPr sz="1800" b="0">
                <a:solidFill>
                  <a:srgbClr val="FFFFFF"/>
                </a:solidFill>
                <a:latin typeface="Times New Roman"/>
              </a:rPr>
              <a:t>Các model được đánh giá riêng; không ghép thành ensemble.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PPG-DaLiA: tín hiệu và tám hoạt động</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03 / 23</a:t>
            </a:r>
          </a:p>
        </p:txBody>
      </p:sp>
      <p:sp>
        <p:nvSpPr>
          <p:cNvPr id="6" name="Rounded Rectangle 5"/>
          <p:cNvSpPr/>
          <p:nvPr/>
        </p:nvSpPr>
        <p:spPr>
          <a:xfrm>
            <a:off x="548640" y="1417320"/>
            <a:ext cx="3794760" cy="4343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9242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Tín hiệu cổ tay</a:t>
            </a:r>
          </a:p>
        </p:txBody>
      </p:sp>
      <p:sp>
        <p:nvSpPr>
          <p:cNvPr id="8" name="TextBox 7"/>
          <p:cNvSpPr txBox="1"/>
          <p:nvPr/>
        </p:nvSpPr>
        <p:spPr>
          <a:xfrm>
            <a:off x="749808" y="2130552"/>
            <a:ext cx="3392424" cy="3557016"/>
          </a:xfrm>
          <a:prstGeom prst="rect">
            <a:avLst/>
          </a:prstGeom>
          <a:noFill/>
        </p:spPr>
        <p:txBody>
          <a:bodyPr wrap="square" lIns="18288" rIns="18288" tIns="18288" bIns="0">
            <a:spAutoFit/>
          </a:bodyPr>
          <a:lstStyle/>
          <a:p>
            <a:pPr algn="l">
              <a:spcAft>
                <a:spcPts val="800"/>
              </a:spcAft>
            </a:pPr>
            <a:r>
              <a:rPr sz="2300" b="0">
                <a:solidFill>
                  <a:srgbClr val="223544"/>
                </a:solidFill>
                <a:latin typeface="Times New Roman"/>
              </a:rPr>
              <a:t>15 người: S1–S15</a:t>
            </a:r>
          </a:p>
          <a:p>
            <a:pPr algn="l">
              <a:spcAft>
                <a:spcPts val="800"/>
              </a:spcAft>
            </a:pPr>
            <a:r>
              <a:rPr sz="2300" b="0">
                <a:solidFill>
                  <a:srgbClr val="223544"/>
                </a:solidFill>
                <a:latin typeface="Times New Roman"/>
              </a:rPr>
              <a:t>PPG/BVP: 64 Hz</a:t>
            </a:r>
          </a:p>
          <a:p>
            <a:pPr algn="l">
              <a:spcAft>
                <a:spcPts val="800"/>
              </a:spcAft>
            </a:pPr>
            <a:r>
              <a:rPr sz="2300" b="0">
                <a:solidFill>
                  <a:srgbClr val="223544"/>
                </a:solidFill>
                <a:latin typeface="Times New Roman"/>
              </a:rPr>
              <a:t>ACC: 32 Hz, 3 trục</a:t>
            </a:r>
          </a:p>
          <a:p>
            <a:pPr algn="l">
              <a:spcAft>
                <a:spcPts val="800"/>
              </a:spcAft>
            </a:pPr>
            <a:r>
              <a:rPr sz="2300" b="0">
                <a:solidFill>
                  <a:srgbClr val="223544"/>
                </a:solidFill>
                <a:latin typeface="Times New Roman"/>
              </a:rPr>
              <a:t>Nhãn hoạt động: 4 Hz</a:t>
            </a:r>
          </a:p>
          <a:p>
            <a:pPr algn="l">
              <a:spcAft>
                <a:spcPts val="800"/>
              </a:spcAft>
            </a:pPr>
            <a:r>
              <a:rPr sz="2300" b="0">
                <a:solidFill>
                  <a:srgbClr val="223544"/>
                </a:solidFill>
                <a:latin typeface="Times New Roman"/>
              </a:rPr>
              <a:t>Nhãn 0: chuyển tiếp</a:t>
            </a:r>
          </a:p>
        </p:txBody>
      </p:sp>
      <p:graphicFrame>
        <p:nvGraphicFramePr>
          <p:cNvPr id="9" name="Table 8"/>
          <p:cNvGraphicFramePr>
            <a:graphicFrameLocks noGrp="1"/>
          </p:cNvGraphicFramePr>
          <p:nvPr/>
        </p:nvGraphicFramePr>
        <p:xfrm>
          <a:off x="4572000" y="1417320"/>
          <a:ext cx="7040880" cy="4343400"/>
        </p:xfrm>
        <a:graphic>
          <a:graphicData uri="http://schemas.openxmlformats.org/drawingml/2006/table">
            <a:tbl>
              <a:tblPr firstRow="1" bandRow="1">
                <a:tableStyleId>{5C22544A-7EE6-4342-B048-85BDC9FD1C3A}</a:tableStyleId>
              </a:tblPr>
              <a:tblGrid>
                <a:gridCol w="914400"/>
                <a:gridCol w="6126480"/>
              </a:tblGrid>
              <a:tr h="482600">
                <a:tc>
                  <a:txBody>
                    <a:bodyPr/>
                    <a:lstStyle/>
                    <a:p>
                      <a:r>
                        <a:rPr sz="2100" b="1">
                          <a:solidFill>
                            <a:srgbClr val="FFFFFF"/>
                          </a:solidFill>
                          <a:latin typeface="Times New Roman"/>
                        </a:rPr>
                        <a:t>Mã</a:t>
                      </a:r>
                    </a:p>
                  </a:txBody>
                  <a:tcPr marL="109728" marR="91440" marT="73152" marB="54864" anchor="ctr">
                    <a:solidFill>
                      <a:srgbClr val="19364D"/>
                    </a:solidFill>
                  </a:tcPr>
                </a:tc>
                <a:tc>
                  <a:txBody>
                    <a:bodyPr/>
                    <a:lstStyle/>
                    <a:p>
                      <a:r>
                        <a:rPr sz="2100" b="1">
                          <a:solidFill>
                            <a:srgbClr val="FFFFFF"/>
                          </a:solidFill>
                          <a:latin typeface="Times New Roman"/>
                        </a:rPr>
                        <a:t>Hoạt động</a:t>
                      </a:r>
                    </a:p>
                  </a:txBody>
                  <a:tcPr marL="109728" marR="91440" marT="73152" marB="54864" anchor="ctr">
                    <a:solidFill>
                      <a:srgbClr val="19364D"/>
                    </a:solidFill>
                  </a:tcPr>
                </a:tc>
              </a:tr>
              <a:tr h="482600">
                <a:tc>
                  <a:txBody>
                    <a:bodyPr/>
                    <a:lstStyle/>
                    <a:p>
                      <a:r>
                        <a:rPr sz="2100" b="0">
                          <a:solidFill>
                            <a:srgbClr val="223544"/>
                          </a:solidFill>
                          <a:latin typeface="Times New Roman"/>
                        </a:rPr>
                        <a:t>1</a:t>
                      </a:r>
                    </a:p>
                  </a:txBody>
                  <a:tcPr marL="109728" marR="91440" marT="73152" marB="54864" anchor="ctr">
                    <a:solidFill>
                      <a:srgbClr val="FFFFFF"/>
                    </a:solidFill>
                  </a:tcPr>
                </a:tc>
                <a:tc>
                  <a:txBody>
                    <a:bodyPr/>
                    <a:lstStyle/>
                    <a:p>
                      <a:r>
                        <a:rPr sz="2100" b="0">
                          <a:solidFill>
                            <a:srgbClr val="223544"/>
                          </a:solidFill>
                          <a:latin typeface="Times New Roman"/>
                        </a:rPr>
                        <a:t>Ngồi yên</a:t>
                      </a:r>
                    </a:p>
                  </a:txBody>
                  <a:tcPr marL="109728" marR="91440" marT="73152" marB="54864" anchor="ctr">
                    <a:solidFill>
                      <a:srgbClr val="FFFFFF"/>
                    </a:solidFill>
                  </a:tcPr>
                </a:tc>
              </a:tr>
              <a:tr h="482600">
                <a:tc>
                  <a:txBody>
                    <a:bodyPr/>
                    <a:lstStyle/>
                    <a:p>
                      <a:r>
                        <a:rPr sz="2100" b="0">
                          <a:solidFill>
                            <a:srgbClr val="223544"/>
                          </a:solidFill>
                          <a:latin typeface="Times New Roman"/>
                        </a:rPr>
                        <a:t>2</a:t>
                      </a:r>
                    </a:p>
                  </a:txBody>
                  <a:tcPr marL="109728" marR="91440" marT="73152" marB="54864" anchor="ctr">
                    <a:solidFill>
                      <a:srgbClr val="EEF4F8"/>
                    </a:solidFill>
                  </a:tcPr>
                </a:tc>
                <a:tc>
                  <a:txBody>
                    <a:bodyPr/>
                    <a:lstStyle/>
                    <a:p>
                      <a:r>
                        <a:rPr sz="2100" b="0">
                          <a:solidFill>
                            <a:srgbClr val="223544"/>
                          </a:solidFill>
                          <a:latin typeface="Times New Roman"/>
                        </a:rPr>
                        <a:t>Lên/xuống cầu thang</a:t>
                      </a:r>
                    </a:p>
                  </a:txBody>
                  <a:tcPr marL="109728" marR="91440" marT="73152" marB="54864" anchor="ctr">
                    <a:solidFill>
                      <a:srgbClr val="EEF4F8"/>
                    </a:solidFill>
                  </a:tcPr>
                </a:tc>
              </a:tr>
              <a:tr h="482600">
                <a:tc>
                  <a:txBody>
                    <a:bodyPr/>
                    <a:lstStyle/>
                    <a:p>
                      <a:r>
                        <a:rPr sz="2100" b="0">
                          <a:solidFill>
                            <a:srgbClr val="223544"/>
                          </a:solidFill>
                          <a:latin typeface="Times New Roman"/>
                        </a:rPr>
                        <a:t>3</a:t>
                      </a:r>
                    </a:p>
                  </a:txBody>
                  <a:tcPr marL="109728" marR="91440" marT="73152" marB="54864" anchor="ctr">
                    <a:solidFill>
                      <a:srgbClr val="FFFFFF"/>
                    </a:solidFill>
                  </a:tcPr>
                </a:tc>
                <a:tc>
                  <a:txBody>
                    <a:bodyPr/>
                    <a:lstStyle/>
                    <a:p>
                      <a:r>
                        <a:rPr sz="2100" b="0">
                          <a:solidFill>
                            <a:srgbClr val="223544"/>
                          </a:solidFill>
                          <a:latin typeface="Times New Roman"/>
                        </a:rPr>
                        <a:t>Chơi bi lắc</a:t>
                      </a:r>
                    </a:p>
                  </a:txBody>
                  <a:tcPr marL="109728" marR="91440" marT="73152" marB="54864" anchor="ctr">
                    <a:solidFill>
                      <a:srgbClr val="FFFFFF"/>
                    </a:solidFill>
                  </a:tcPr>
                </a:tc>
              </a:tr>
              <a:tr h="482600">
                <a:tc>
                  <a:txBody>
                    <a:bodyPr/>
                    <a:lstStyle/>
                    <a:p>
                      <a:r>
                        <a:rPr sz="2100" b="0">
                          <a:solidFill>
                            <a:srgbClr val="223544"/>
                          </a:solidFill>
                          <a:latin typeface="Times New Roman"/>
                        </a:rPr>
                        <a:t>4</a:t>
                      </a:r>
                    </a:p>
                  </a:txBody>
                  <a:tcPr marL="109728" marR="91440" marT="73152" marB="54864" anchor="ctr">
                    <a:solidFill>
                      <a:srgbClr val="EEF4F8"/>
                    </a:solidFill>
                  </a:tcPr>
                </a:tc>
                <a:tc>
                  <a:txBody>
                    <a:bodyPr/>
                    <a:lstStyle/>
                    <a:p>
                      <a:r>
                        <a:rPr sz="2100" b="0">
                          <a:solidFill>
                            <a:srgbClr val="223544"/>
                          </a:solidFill>
                          <a:latin typeface="Times New Roman"/>
                        </a:rPr>
                        <a:t>Đạp xe</a:t>
                      </a:r>
                    </a:p>
                  </a:txBody>
                  <a:tcPr marL="109728" marR="91440" marT="73152" marB="54864" anchor="ctr">
                    <a:solidFill>
                      <a:srgbClr val="EEF4F8"/>
                    </a:solidFill>
                  </a:tcPr>
                </a:tc>
              </a:tr>
              <a:tr h="482600">
                <a:tc>
                  <a:txBody>
                    <a:bodyPr/>
                    <a:lstStyle/>
                    <a:p>
                      <a:r>
                        <a:rPr sz="2100" b="0">
                          <a:solidFill>
                            <a:srgbClr val="223544"/>
                          </a:solidFill>
                          <a:latin typeface="Times New Roman"/>
                        </a:rPr>
                        <a:t>5</a:t>
                      </a:r>
                    </a:p>
                  </a:txBody>
                  <a:tcPr marL="109728" marR="91440" marT="73152" marB="54864" anchor="ctr">
                    <a:solidFill>
                      <a:srgbClr val="FFFFFF"/>
                    </a:solidFill>
                  </a:tcPr>
                </a:tc>
                <a:tc>
                  <a:txBody>
                    <a:bodyPr/>
                    <a:lstStyle/>
                    <a:p>
                      <a:r>
                        <a:rPr sz="2100" b="0">
                          <a:solidFill>
                            <a:srgbClr val="223544"/>
                          </a:solidFill>
                          <a:latin typeface="Times New Roman"/>
                        </a:rPr>
                        <a:t>Lái ô tô</a:t>
                      </a:r>
                    </a:p>
                  </a:txBody>
                  <a:tcPr marL="109728" marR="91440" marT="73152" marB="54864" anchor="ctr">
                    <a:solidFill>
                      <a:srgbClr val="FFFFFF"/>
                    </a:solidFill>
                  </a:tcPr>
                </a:tc>
              </a:tr>
              <a:tr h="482600">
                <a:tc>
                  <a:txBody>
                    <a:bodyPr/>
                    <a:lstStyle/>
                    <a:p>
                      <a:r>
                        <a:rPr sz="2100" b="0">
                          <a:solidFill>
                            <a:srgbClr val="223544"/>
                          </a:solidFill>
                          <a:latin typeface="Times New Roman"/>
                        </a:rPr>
                        <a:t>6</a:t>
                      </a:r>
                    </a:p>
                  </a:txBody>
                  <a:tcPr marL="109728" marR="91440" marT="73152" marB="54864" anchor="ctr">
                    <a:solidFill>
                      <a:srgbClr val="EEF4F8"/>
                    </a:solidFill>
                  </a:tcPr>
                </a:tc>
                <a:tc>
                  <a:txBody>
                    <a:bodyPr/>
                    <a:lstStyle/>
                    <a:p>
                      <a:r>
                        <a:rPr sz="2100" b="0">
                          <a:solidFill>
                            <a:srgbClr val="223544"/>
                          </a:solidFill>
                          <a:latin typeface="Times New Roman"/>
                        </a:rPr>
                        <a:t>Nghỉ trưa/ăn trưa</a:t>
                      </a:r>
                    </a:p>
                  </a:txBody>
                  <a:tcPr marL="109728" marR="91440" marT="73152" marB="54864" anchor="ctr">
                    <a:solidFill>
                      <a:srgbClr val="EEF4F8"/>
                    </a:solidFill>
                  </a:tcPr>
                </a:tc>
              </a:tr>
              <a:tr h="482600">
                <a:tc>
                  <a:txBody>
                    <a:bodyPr/>
                    <a:lstStyle/>
                    <a:p>
                      <a:r>
                        <a:rPr sz="2100" b="0">
                          <a:solidFill>
                            <a:srgbClr val="223544"/>
                          </a:solidFill>
                          <a:latin typeface="Times New Roman"/>
                        </a:rPr>
                        <a:t>7</a:t>
                      </a:r>
                    </a:p>
                  </a:txBody>
                  <a:tcPr marL="109728" marR="91440" marT="73152" marB="54864" anchor="ctr">
                    <a:solidFill>
                      <a:srgbClr val="FFFFFF"/>
                    </a:solidFill>
                  </a:tcPr>
                </a:tc>
                <a:tc>
                  <a:txBody>
                    <a:bodyPr/>
                    <a:lstStyle/>
                    <a:p>
                      <a:r>
                        <a:rPr sz="2100" b="0">
                          <a:solidFill>
                            <a:srgbClr val="223544"/>
                          </a:solidFill>
                          <a:latin typeface="Times New Roman"/>
                        </a:rPr>
                        <a:t>Đi bộ</a:t>
                      </a:r>
                    </a:p>
                  </a:txBody>
                  <a:tcPr marL="109728" marR="91440" marT="73152" marB="54864" anchor="ctr">
                    <a:solidFill>
                      <a:srgbClr val="FFFFFF"/>
                    </a:solidFill>
                  </a:tcPr>
                </a:tc>
              </a:tr>
              <a:tr h="482600">
                <a:tc>
                  <a:txBody>
                    <a:bodyPr/>
                    <a:lstStyle/>
                    <a:p>
                      <a:r>
                        <a:rPr sz="2100" b="0">
                          <a:solidFill>
                            <a:srgbClr val="223544"/>
                          </a:solidFill>
                          <a:latin typeface="Times New Roman"/>
                        </a:rPr>
                        <a:t>8</a:t>
                      </a:r>
                    </a:p>
                  </a:txBody>
                  <a:tcPr marL="109728" marR="91440" marT="73152" marB="54864" anchor="ctr">
                    <a:solidFill>
                      <a:srgbClr val="EEF4F8"/>
                    </a:solidFill>
                  </a:tcPr>
                </a:tc>
                <a:tc>
                  <a:txBody>
                    <a:bodyPr/>
                    <a:lstStyle/>
                    <a:p>
                      <a:r>
                        <a:rPr sz="2100" b="0">
                          <a:solidFill>
                            <a:srgbClr val="223544"/>
                          </a:solidFill>
                          <a:latin typeface="Times New Roman"/>
                        </a:rPr>
                        <a:t>Làm việc</a:t>
                      </a:r>
                    </a:p>
                  </a:txBody>
                  <a:tcPr marL="109728" marR="91440" marT="73152" marB="54864" anchor="ctr">
                    <a:solidFill>
                      <a:srgbClr val="EEF4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Chia dữ liệu theo người</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04 / 23</a:t>
            </a:r>
          </a:p>
        </p:txBody>
      </p:sp>
      <p:sp>
        <p:nvSpPr>
          <p:cNvPr id="6" name="Rounded Rectangle 5"/>
          <p:cNvSpPr/>
          <p:nvPr/>
        </p:nvSpPr>
        <p:spPr>
          <a:xfrm>
            <a:off x="548640" y="1645920"/>
            <a:ext cx="3474720" cy="2057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83080"/>
            <a:ext cx="307238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Train</a:t>
            </a:r>
          </a:p>
        </p:txBody>
      </p:sp>
      <p:sp>
        <p:nvSpPr>
          <p:cNvPr id="8" name="TextBox 7"/>
          <p:cNvSpPr txBox="1"/>
          <p:nvPr/>
        </p:nvSpPr>
        <p:spPr>
          <a:xfrm>
            <a:off x="749808" y="2359152"/>
            <a:ext cx="3072384" cy="1271016"/>
          </a:xfrm>
          <a:prstGeom prst="rect">
            <a:avLst/>
          </a:prstGeom>
          <a:noFill/>
        </p:spPr>
        <p:txBody>
          <a:bodyPr wrap="square" lIns="18288" rIns="18288" tIns="18288" bIns="0">
            <a:spAutoFit/>
          </a:bodyPr>
          <a:lstStyle/>
          <a:p>
            <a:pPr algn="l">
              <a:spcAft>
                <a:spcPts val="800"/>
              </a:spcAft>
            </a:pPr>
            <a:r>
              <a:rPr sz="2500" b="0">
                <a:solidFill>
                  <a:srgbClr val="223544"/>
                </a:solidFill>
                <a:latin typeface="Times New Roman"/>
              </a:rPr>
              <a:t>S1–S10</a:t>
            </a:r>
          </a:p>
          <a:p>
            <a:pPr algn="l">
              <a:spcAft>
                <a:spcPts val="800"/>
              </a:spcAft>
            </a:pPr>
            <a:r>
              <a:rPr sz="2500" b="0">
                <a:solidFill>
                  <a:srgbClr val="223544"/>
                </a:solidFill>
                <a:latin typeface="Times New Roman"/>
              </a:rPr>
              <a:t>30.941 cửa sổ</a:t>
            </a:r>
          </a:p>
        </p:txBody>
      </p:sp>
      <p:sp>
        <p:nvSpPr>
          <p:cNvPr id="9" name="Rounded Rectangle 8"/>
          <p:cNvSpPr/>
          <p:nvPr/>
        </p:nvSpPr>
        <p:spPr>
          <a:xfrm>
            <a:off x="4343400" y="1645920"/>
            <a:ext cx="3474720" cy="2057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783080"/>
            <a:ext cx="307238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Validation</a:t>
            </a:r>
          </a:p>
        </p:txBody>
      </p:sp>
      <p:sp>
        <p:nvSpPr>
          <p:cNvPr id="11" name="TextBox 10"/>
          <p:cNvSpPr txBox="1"/>
          <p:nvPr/>
        </p:nvSpPr>
        <p:spPr>
          <a:xfrm>
            <a:off x="4544568" y="2359152"/>
            <a:ext cx="3072384" cy="1271016"/>
          </a:xfrm>
          <a:prstGeom prst="rect">
            <a:avLst/>
          </a:prstGeom>
          <a:noFill/>
        </p:spPr>
        <p:txBody>
          <a:bodyPr wrap="square" lIns="18288" rIns="18288" tIns="18288" bIns="0">
            <a:spAutoFit/>
          </a:bodyPr>
          <a:lstStyle/>
          <a:p>
            <a:pPr algn="l">
              <a:spcAft>
                <a:spcPts val="800"/>
              </a:spcAft>
            </a:pPr>
            <a:r>
              <a:rPr sz="2500" b="0">
                <a:solidFill>
                  <a:srgbClr val="223544"/>
                </a:solidFill>
                <a:latin typeface="Times New Roman"/>
              </a:rPr>
              <a:t>S11–S12</a:t>
            </a:r>
          </a:p>
          <a:p>
            <a:pPr algn="l">
              <a:spcAft>
                <a:spcPts val="800"/>
              </a:spcAft>
            </a:pPr>
            <a:r>
              <a:rPr sz="2500" b="0">
                <a:solidFill>
                  <a:srgbClr val="223544"/>
                </a:solidFill>
                <a:latin typeface="Times New Roman"/>
              </a:rPr>
              <a:t>6.402 cửa sổ</a:t>
            </a:r>
          </a:p>
        </p:txBody>
      </p:sp>
      <p:sp>
        <p:nvSpPr>
          <p:cNvPr id="12" name="Rounded Rectangle 11"/>
          <p:cNvSpPr/>
          <p:nvPr/>
        </p:nvSpPr>
        <p:spPr>
          <a:xfrm>
            <a:off x="8138160" y="1645920"/>
            <a:ext cx="3474720" cy="2057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1783080"/>
            <a:ext cx="3072384"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Test</a:t>
            </a:r>
          </a:p>
        </p:txBody>
      </p:sp>
      <p:sp>
        <p:nvSpPr>
          <p:cNvPr id="14" name="TextBox 13"/>
          <p:cNvSpPr txBox="1"/>
          <p:nvPr/>
        </p:nvSpPr>
        <p:spPr>
          <a:xfrm>
            <a:off x="8339328" y="2359152"/>
            <a:ext cx="3072384" cy="1271016"/>
          </a:xfrm>
          <a:prstGeom prst="rect">
            <a:avLst/>
          </a:prstGeom>
          <a:noFill/>
        </p:spPr>
        <p:txBody>
          <a:bodyPr wrap="square" lIns="18288" rIns="18288" tIns="18288" bIns="0">
            <a:spAutoFit/>
          </a:bodyPr>
          <a:lstStyle/>
          <a:p>
            <a:pPr algn="l">
              <a:spcAft>
                <a:spcPts val="800"/>
              </a:spcAft>
            </a:pPr>
            <a:r>
              <a:rPr sz="2500" b="0">
                <a:solidFill>
                  <a:srgbClr val="223544"/>
                </a:solidFill>
                <a:latin typeface="Times New Roman"/>
              </a:rPr>
              <a:t>S13–S15</a:t>
            </a:r>
          </a:p>
          <a:p>
            <a:pPr algn="l">
              <a:spcAft>
                <a:spcPts val="800"/>
              </a:spcAft>
            </a:pPr>
            <a:r>
              <a:rPr sz="2500" b="0">
                <a:solidFill>
                  <a:srgbClr val="223544"/>
                </a:solidFill>
                <a:latin typeface="Times New Roman"/>
              </a:rPr>
              <a:t>9.420 cửa sổ</a:t>
            </a:r>
          </a:p>
        </p:txBody>
      </p:sp>
      <p:sp>
        <p:nvSpPr>
          <p:cNvPr id="15" name="TextBox 14"/>
          <p:cNvSpPr txBox="1"/>
          <p:nvPr/>
        </p:nvSpPr>
        <p:spPr>
          <a:xfrm>
            <a:off x="685800" y="3858768"/>
            <a:ext cx="10881360" cy="1051560"/>
          </a:xfrm>
          <a:prstGeom prst="rect">
            <a:avLst/>
          </a:prstGeom>
          <a:noFill/>
        </p:spPr>
        <p:txBody>
          <a:bodyPr wrap="square" lIns="18288" rIns="18288" tIns="18288" bIns="0">
            <a:spAutoFit/>
          </a:bodyPr>
          <a:lstStyle/>
          <a:p>
            <a:pPr algn="l">
              <a:spcAft>
                <a:spcPts val="800"/>
              </a:spcAft>
            </a:pPr>
            <a:r>
              <a:rPr sz="2100" b="0">
                <a:solidFill>
                  <a:srgbClr val="223544"/>
                </a:solidFill>
                <a:latin typeface="Times New Roman"/>
              </a:rPr>
              <a:t>Checkpoint và tham số EMA của E6 được chọn trên Validation.</a:t>
            </a:r>
          </a:p>
          <a:p>
            <a:pPr algn="l">
              <a:spcAft>
                <a:spcPts val="800"/>
              </a:spcAft>
            </a:pPr>
            <a:r>
              <a:rPr sz="2100" b="0">
                <a:solidFill>
                  <a:srgbClr val="223544"/>
                </a:solidFill>
                <a:latin typeface="Times New Roman"/>
              </a:rPr>
              <a:t>Test dùng để đánh giá sau khi chốt cấu hình.</a:t>
            </a:r>
          </a:p>
          <a:p>
            <a:pPr algn="l">
              <a:spcAft>
                <a:spcPts val="800"/>
              </a:spcAft>
            </a:pPr>
            <a:r>
              <a:rPr sz="2100" b="0">
                <a:solidFill>
                  <a:srgbClr val="223544"/>
                </a:solidFill>
                <a:latin typeface="Times New Roman"/>
              </a:rPr>
              <a:t>Sau lọc: giữ 46.763/64.697 cửa sổ (72,28%).</a:t>
            </a:r>
          </a:p>
        </p:txBody>
      </p:sp>
      <p:sp>
        <p:nvSpPr>
          <p:cNvPr id="16" name="Rounded Rectangle 15"/>
          <p:cNvSpPr/>
          <p:nvPr/>
        </p:nvSpPr>
        <p:spPr>
          <a:xfrm>
            <a:off x="530352" y="5815584"/>
            <a:ext cx="11109960" cy="438912"/>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852160"/>
            <a:ext cx="10753344" cy="347472"/>
          </a:xfrm>
          <a:prstGeom prst="rect">
            <a:avLst/>
          </a:prstGeom>
          <a:noFill/>
        </p:spPr>
        <p:txBody>
          <a:bodyPr wrap="square" lIns="18288" rIns="18288" tIns="18288" bIns="0">
            <a:spAutoFit/>
          </a:bodyPr>
          <a:lstStyle/>
          <a:p>
            <a:pPr algn="l">
              <a:spcAft>
                <a:spcPts val="800"/>
              </a:spcAft>
            </a:pPr>
            <a:r>
              <a:rPr sz="1800" b="0">
                <a:solidFill>
                  <a:srgbClr val="FFFFFF"/>
                </a:solidFill>
                <a:latin typeface="Times New Roman"/>
              </a:rPr>
              <a:t>9.420 cửa sổ Test chỉ thuộc 3 người; các cửa sổ chồng lấn nhau.</a:t>
            </a:r>
          </a:p>
        </p:txBody>
      </p:sp>
      <p:pic>
        <p:nvPicPr>
          <p:cNvPr id="18" name="Report equation 01" descr="equation_01.png"/>
          <p:cNvPicPr>
            <a:picLocks noChangeAspect="1"/>
          </p:cNvPicPr>
          <p:nvPr/>
        </p:nvPicPr>
        <p:blipFill>
          <a:blip r:embed="rId3"/>
          <a:stretch>
            <a:fillRect/>
          </a:stretch>
        </p:blipFill>
        <p:spPr>
          <a:xfrm>
            <a:off x="731520" y="5058518"/>
            <a:ext cx="7315200" cy="572299"/>
          </a:xfrm>
          <a:prstGeom prst="rect">
            <a:avLst/>
          </a:prstGeom>
        </p:spPr>
      </p:pic>
      <p:sp>
        <p:nvSpPr>
          <p:cNvPr id="19" name="TextBox 18"/>
          <p:cNvSpPr txBox="1"/>
          <p:nvPr/>
        </p:nvSpPr>
        <p:spPr>
          <a:xfrm>
            <a:off x="8229600" y="4983480"/>
            <a:ext cx="3246120" cy="822960"/>
          </a:xfrm>
          <a:prstGeom prst="rect">
            <a:avLst/>
          </a:prstGeom>
          <a:noFill/>
        </p:spPr>
        <p:txBody>
          <a:bodyPr wrap="square" lIns="0" rIns="0" tIns="0" bIns="0">
            <a:spAutoFit/>
          </a:bodyPr>
          <a:lstStyle/>
          <a:p>
            <a:pPr algn="l">
              <a:spcAft>
                <a:spcPts val="600"/>
              </a:spcAft>
            </a:pPr>
            <a:r>
              <a:rPr sz="1800" b="0">
                <a:solidFill>
                  <a:srgbClr val="526575"/>
                </a:solidFill>
                <a:latin typeface="Times New Roman"/>
              </a:rPr>
              <a:t>nₖ: số mẫu mang nhãn k</a:t>
            </a:r>
          </a:p>
          <a:p>
            <a:pPr algn="l">
              <a:spcAft>
                <a:spcPts val="600"/>
              </a:spcAft>
            </a:pPr>
            <a:r>
              <a:rPr sz="1800" b="0">
                <a:solidFill>
                  <a:srgbClr val="526575"/>
                </a:solidFill>
                <a:latin typeface="Times New Roman"/>
              </a:rPr>
              <a:t>yw: nhãn của cửa sổ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Tiền xử lý: cửa sổ, tần số và chuẩn hóa</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05 / 23</a:t>
            </a:r>
          </a:p>
        </p:txBody>
      </p:sp>
      <p:pic>
        <p:nvPicPr>
          <p:cNvPr id="6" name="Original pipeline diagram" descr="pipeline_flow.png"/>
          <p:cNvPicPr>
            <a:picLocks noChangeAspect="1"/>
          </p:cNvPicPr>
          <p:nvPr/>
        </p:nvPicPr>
        <p:blipFill>
          <a:blip r:embed="rId3"/>
          <a:stretch>
            <a:fillRect/>
          </a:stretch>
        </p:blipFill>
        <p:spPr>
          <a:xfrm>
            <a:off x="704268" y="1115568"/>
            <a:ext cx="6501022" cy="5230368"/>
          </a:xfrm>
          <a:prstGeom prst="rect">
            <a:avLst/>
          </a:prstGeom>
        </p:spPr>
      </p:pic>
      <p:sp>
        <p:nvSpPr>
          <p:cNvPr id="7" name="TextBox 6"/>
          <p:cNvSpPr txBox="1"/>
          <p:nvPr/>
        </p:nvSpPr>
        <p:spPr>
          <a:xfrm>
            <a:off x="7635240" y="1417320"/>
            <a:ext cx="3931920" cy="365760"/>
          </a:xfrm>
          <a:prstGeom prst="rect">
            <a:avLst/>
          </a:prstGeom>
          <a:noFill/>
        </p:spPr>
        <p:txBody>
          <a:bodyPr wrap="square" lIns="0" rIns="0" tIns="0" bIns="0">
            <a:spAutoFit/>
          </a:bodyPr>
          <a:lstStyle/>
          <a:p>
            <a:pPr algn="l">
              <a:spcAft>
                <a:spcPts val="600"/>
              </a:spcAft>
            </a:pPr>
            <a:r>
              <a:rPr sz="2400" b="1">
                <a:solidFill>
                  <a:srgbClr val="2879D8"/>
                </a:solidFill>
                <a:latin typeface="Times New Roman"/>
              </a:rPr>
              <a:t>Thông số tiền xử lý</a:t>
            </a:r>
          </a:p>
        </p:txBody>
      </p:sp>
      <p:sp>
        <p:nvSpPr>
          <p:cNvPr id="8" name="TextBox 7"/>
          <p:cNvSpPr txBox="1"/>
          <p:nvPr/>
        </p:nvSpPr>
        <p:spPr>
          <a:xfrm>
            <a:off x="7635240" y="1947672"/>
            <a:ext cx="3886200" cy="2697480"/>
          </a:xfrm>
          <a:prstGeom prst="rect">
            <a:avLst/>
          </a:prstGeom>
          <a:noFill/>
        </p:spPr>
        <p:txBody>
          <a:bodyPr wrap="square" lIns="0" rIns="0" tIns="0" bIns="0">
            <a:spAutoFit/>
          </a:bodyPr>
          <a:lstStyle/>
          <a:p>
            <a:pPr algn="l">
              <a:spcAft>
                <a:spcPts val="600"/>
              </a:spcAft>
            </a:pPr>
            <a:r>
              <a:rPr sz="2100" b="0">
                <a:solidFill>
                  <a:srgbClr val="19364D"/>
                </a:solidFill>
                <a:latin typeface="Times New Roman"/>
              </a:rPr>
              <a:t>Cửa sổ: 8 giây; bước nhảy: 2 giây.</a:t>
            </a:r>
          </a:p>
          <a:p>
            <a:pPr algn="l">
              <a:spcAft>
                <a:spcPts val="600"/>
              </a:spcAft>
            </a:pPr>
            <a:r>
              <a:rPr sz="2100" b="0">
                <a:solidFill>
                  <a:srgbClr val="19364D"/>
                </a:solidFill>
                <a:latin typeface="Times New Roman"/>
              </a:rPr>
              <a:t>PPG: 64 → 32 Hz; ACC: 32 Hz.</a:t>
            </a:r>
          </a:p>
          <a:p>
            <a:pPr algn="l">
              <a:spcAft>
                <a:spcPts val="600"/>
              </a:spcAft>
            </a:pPr>
            <a:r>
              <a:rPr sz="2100" b="0">
                <a:solidFill>
                  <a:srgbClr val="19364D"/>
                </a:solidFill>
                <a:latin typeface="Times New Roman"/>
              </a:rPr>
              <a:t>Loại cửa sổ chứa nhãn 0.</a:t>
            </a:r>
          </a:p>
          <a:p>
            <a:pPr algn="l">
              <a:spcAft>
                <a:spcPts val="600"/>
              </a:spcAft>
            </a:pPr>
            <a:r>
              <a:rPr sz="2100" b="0">
                <a:solidFill>
                  <a:srgbClr val="19364D"/>
                </a:solidFill>
                <a:latin typeface="Times New Roman"/>
              </a:rPr>
              <a:t>Giữ nhãn có ít nhất 26/32 mẫu.</a:t>
            </a:r>
          </a:p>
          <a:p>
            <a:pPr algn="l">
              <a:spcAft>
                <a:spcPts val="600"/>
              </a:spcAft>
            </a:pPr>
            <a:r>
              <a:rPr sz="2100" b="0">
                <a:solidFill>
                  <a:srgbClr val="19364D"/>
                </a:solidFill>
                <a:latin typeface="Times New Roman"/>
              </a:rPr>
              <a:t>CNN dùng mean/std từ Train.</a:t>
            </a:r>
          </a:p>
          <a:p>
            <a:pPr algn="l">
              <a:spcAft>
                <a:spcPts val="600"/>
              </a:spcAft>
            </a:pPr>
            <a:r>
              <a:rPr sz="2100" b="0">
                <a:solidFill>
                  <a:srgbClr val="19364D"/>
                </a:solidFill>
                <a:latin typeface="Times New Roman"/>
              </a:rPr>
              <a:t>RF không chuẩn hóa z-score.</a:t>
            </a:r>
          </a:p>
        </p:txBody>
      </p:sp>
      <p:sp>
        <p:nvSpPr>
          <p:cNvPr id="9" name="TextBox 8"/>
          <p:cNvSpPr txBox="1"/>
          <p:nvPr/>
        </p:nvSpPr>
        <p:spPr>
          <a:xfrm>
            <a:off x="7635240" y="4809744"/>
            <a:ext cx="3886200" cy="365760"/>
          </a:xfrm>
          <a:prstGeom prst="rect">
            <a:avLst/>
          </a:prstGeom>
          <a:noFill/>
        </p:spPr>
        <p:txBody>
          <a:bodyPr wrap="square" lIns="0" rIns="0" tIns="0" bIns="0">
            <a:spAutoFit/>
          </a:bodyPr>
          <a:lstStyle/>
          <a:p>
            <a:pPr algn="l">
              <a:spcAft>
                <a:spcPts val="600"/>
              </a:spcAft>
            </a:pPr>
            <a:r>
              <a:rPr sz="2000" b="1">
                <a:solidFill>
                  <a:srgbClr val="19364D"/>
                </a:solidFill>
                <a:latin typeface="Times New Roman"/>
              </a:rPr>
              <a:t>Chuẩn hóa từng kênh cho CNN</a:t>
            </a:r>
          </a:p>
        </p:txBody>
      </p:sp>
      <p:pic>
        <p:nvPicPr>
          <p:cNvPr id="10" name="Report equation 02" descr="equation_02.png"/>
          <p:cNvPicPr>
            <a:picLocks noChangeAspect="1"/>
          </p:cNvPicPr>
          <p:nvPr/>
        </p:nvPicPr>
        <p:blipFill>
          <a:blip r:embed="rId4"/>
          <a:stretch>
            <a:fillRect/>
          </a:stretch>
        </p:blipFill>
        <p:spPr>
          <a:xfrm>
            <a:off x="7929724" y="5349240"/>
            <a:ext cx="3242366" cy="777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STFT: từ chuỗi tín hiệu sang đầu vào CNN 2-D</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06 / 23</a:t>
            </a:r>
          </a:p>
        </p:txBody>
      </p:sp>
      <p:sp>
        <p:nvSpPr>
          <p:cNvPr id="6" name="Rounded Rectangle 5"/>
          <p:cNvSpPr/>
          <p:nvPr/>
        </p:nvSpPr>
        <p:spPr>
          <a:xfrm>
            <a:off x="640080" y="137160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527048"/>
            <a:ext cx="2315718" cy="914400"/>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Tín hiệu 32 Hz</a:t>
            </a:r>
          </a:p>
          <a:p>
            <a:pPr algn="ctr">
              <a:spcAft>
                <a:spcPts val="800"/>
              </a:spcAft>
            </a:pPr>
            <a:r>
              <a:rPr sz="2000" b="1">
                <a:solidFill>
                  <a:srgbClr val="216C9A"/>
                </a:solidFill>
                <a:latin typeface="Times New Roman"/>
              </a:rPr>
              <a:t>C × 256</a:t>
            </a:r>
          </a:p>
        </p:txBody>
      </p:sp>
      <p:sp>
        <p:nvSpPr>
          <p:cNvPr id="8" name="TextBox 7"/>
          <p:cNvSpPr txBox="1"/>
          <p:nvPr/>
        </p:nvSpPr>
        <p:spPr>
          <a:xfrm>
            <a:off x="3138678" y="190195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9" name="Rounded Rectangle 8"/>
          <p:cNvSpPr/>
          <p:nvPr/>
        </p:nvSpPr>
        <p:spPr>
          <a:xfrm>
            <a:off x="3449574" y="137160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1014" y="1527048"/>
            <a:ext cx="2315718" cy="914400"/>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Hann 64 mẫu</a:t>
            </a:r>
          </a:p>
          <a:p>
            <a:pPr algn="ctr">
              <a:spcAft>
                <a:spcPts val="800"/>
              </a:spcAft>
            </a:pPr>
            <a:r>
              <a:rPr sz="2000" b="1">
                <a:solidFill>
                  <a:srgbClr val="216C9A"/>
                </a:solidFill>
                <a:latin typeface="Times New Roman"/>
              </a:rPr>
              <a:t>hop 4 mẫu</a:t>
            </a:r>
          </a:p>
        </p:txBody>
      </p:sp>
      <p:sp>
        <p:nvSpPr>
          <p:cNvPr id="11" name="TextBox 10"/>
          <p:cNvSpPr txBox="1"/>
          <p:nvPr/>
        </p:nvSpPr>
        <p:spPr>
          <a:xfrm>
            <a:off x="5948172" y="190195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2" name="Rounded Rectangle 11"/>
          <p:cNvSpPr/>
          <p:nvPr/>
        </p:nvSpPr>
        <p:spPr>
          <a:xfrm>
            <a:off x="6259068" y="137160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7" y="1527048"/>
            <a:ext cx="2315718" cy="914400"/>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0–12 Hz</a:t>
            </a:r>
          </a:p>
          <a:p>
            <a:pPr algn="ctr">
              <a:spcAft>
                <a:spcPts val="800"/>
              </a:spcAft>
            </a:pPr>
            <a:r>
              <a:rPr sz="2000" b="1">
                <a:solidFill>
                  <a:srgbClr val="216C9A"/>
                </a:solidFill>
                <a:latin typeface="Times New Roman"/>
              </a:rPr>
              <a:t>C × 25 × 49</a:t>
            </a:r>
          </a:p>
        </p:txBody>
      </p:sp>
      <p:sp>
        <p:nvSpPr>
          <p:cNvPr id="14" name="TextBox 13"/>
          <p:cNvSpPr txBox="1"/>
          <p:nvPr/>
        </p:nvSpPr>
        <p:spPr>
          <a:xfrm>
            <a:off x="8757666" y="190195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5" name="Rounded Rectangle 14"/>
          <p:cNvSpPr/>
          <p:nvPr/>
        </p:nvSpPr>
        <p:spPr>
          <a:xfrm>
            <a:off x="9068561" y="137160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60001" y="1527048"/>
            <a:ext cx="2315718" cy="914400"/>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log + resize</a:t>
            </a:r>
          </a:p>
          <a:p>
            <a:pPr algn="ctr">
              <a:spcAft>
                <a:spcPts val="800"/>
              </a:spcAft>
            </a:pPr>
            <a:r>
              <a:rPr sz="2000" b="1">
                <a:solidFill>
                  <a:srgbClr val="216C9A"/>
                </a:solidFill>
                <a:latin typeface="Times New Roman"/>
              </a:rPr>
              <a:t>C × 32 × 32</a:t>
            </a:r>
          </a:p>
        </p:txBody>
      </p:sp>
      <p:sp>
        <p:nvSpPr>
          <p:cNvPr id="18" name="Rounded Rectangle 17"/>
          <p:cNvSpPr/>
          <p:nvPr/>
        </p:nvSpPr>
        <p:spPr>
          <a:xfrm>
            <a:off x="530352" y="5815584"/>
            <a:ext cx="11109960" cy="438912"/>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852160"/>
            <a:ext cx="10753344" cy="347472"/>
          </a:xfrm>
          <a:prstGeom prst="rect">
            <a:avLst/>
          </a:prstGeom>
          <a:noFill/>
        </p:spPr>
        <p:txBody>
          <a:bodyPr wrap="square" lIns="18288" rIns="18288" tIns="18288" bIns="0">
            <a:spAutoFit/>
          </a:bodyPr>
          <a:lstStyle/>
          <a:p>
            <a:pPr algn="l">
              <a:spcAft>
                <a:spcPts val="800"/>
              </a:spcAft>
            </a:pPr>
            <a:r>
              <a:rPr sz="1800" b="0">
                <a:solidFill>
                  <a:srgbClr val="FFFFFF"/>
                </a:solidFill>
                <a:latin typeface="Times New Roman"/>
              </a:rPr>
              <a:t>Resize về 32 × 32 chỉ đổi kích thước tensor, không tăng độ phân giải phổ.</a:t>
            </a:r>
          </a:p>
        </p:txBody>
      </p:sp>
      <p:pic>
        <p:nvPicPr>
          <p:cNvPr id="20" name="Report equation 03" descr="equation_03.png"/>
          <p:cNvPicPr>
            <a:picLocks noChangeAspect="1"/>
          </p:cNvPicPr>
          <p:nvPr/>
        </p:nvPicPr>
        <p:blipFill>
          <a:blip r:embed="rId3"/>
          <a:stretch>
            <a:fillRect/>
          </a:stretch>
        </p:blipFill>
        <p:spPr>
          <a:xfrm>
            <a:off x="658368" y="2979394"/>
            <a:ext cx="6446520" cy="1703883"/>
          </a:xfrm>
          <a:prstGeom prst="rect">
            <a:avLst/>
          </a:prstGeom>
        </p:spPr>
      </p:pic>
      <p:sp>
        <p:nvSpPr>
          <p:cNvPr id="21" name="TextBox 20"/>
          <p:cNvSpPr txBox="1"/>
          <p:nvPr/>
        </p:nvSpPr>
        <p:spPr>
          <a:xfrm>
            <a:off x="7424927" y="3063240"/>
            <a:ext cx="4160520" cy="2057400"/>
          </a:xfrm>
          <a:prstGeom prst="rect">
            <a:avLst/>
          </a:prstGeom>
          <a:noFill/>
        </p:spPr>
        <p:txBody>
          <a:bodyPr wrap="square" lIns="0" rIns="0" tIns="0" bIns="0">
            <a:spAutoFit/>
          </a:bodyPr>
          <a:lstStyle/>
          <a:p>
            <a:pPr algn="l">
              <a:spcAft>
                <a:spcPts val="600"/>
              </a:spcAft>
            </a:pPr>
            <a:r>
              <a:rPr sz="2100" b="0">
                <a:solidFill>
                  <a:srgbClr val="19364D"/>
                </a:solidFill>
                <a:latin typeface="Times New Roman"/>
              </a:rPr>
              <a:t>Hann: 64 mẫu (2 giây).</a:t>
            </a:r>
          </a:p>
          <a:p>
            <a:pPr algn="l">
              <a:spcAft>
                <a:spcPts val="600"/>
              </a:spcAft>
            </a:pPr>
            <a:r>
              <a:rPr sz="2100" b="0">
                <a:solidFill>
                  <a:srgbClr val="19364D"/>
                </a:solidFill>
                <a:latin typeface="Times New Roman"/>
              </a:rPr>
              <a:t>Hop: 4 mẫu (0,125 giây).</a:t>
            </a:r>
          </a:p>
          <a:p>
            <a:pPr algn="l">
              <a:spcAft>
                <a:spcPts val="600"/>
              </a:spcAft>
            </a:pPr>
            <a:r>
              <a:rPr sz="2100" b="0">
                <a:solidFill>
                  <a:srgbClr val="19364D"/>
                </a:solidFill>
                <a:latin typeface="Times New Roman"/>
              </a:rPr>
              <a:t>FFT: 64 điểm; bin 0,5 Hz.</a:t>
            </a:r>
          </a:p>
          <a:p>
            <a:pPr algn="l">
              <a:spcAft>
                <a:spcPts val="600"/>
              </a:spcAft>
            </a:pPr>
            <a:r>
              <a:rPr sz="2100" b="0">
                <a:solidFill>
                  <a:srgbClr val="19364D"/>
                </a:solidFill>
                <a:latin typeface="Times New Roman"/>
              </a:rPr>
              <a:t>Không padding hai biên.</a:t>
            </a:r>
          </a:p>
          <a:p>
            <a:pPr algn="l">
              <a:spcAft>
                <a:spcPts val="600"/>
              </a:spcAft>
            </a:pPr>
            <a:r>
              <a:rPr sz="2100" b="0">
                <a:solidFill>
                  <a:srgbClr val="19364D"/>
                </a:solidFill>
                <a:latin typeface="Times New Roman"/>
              </a:rPr>
              <a:t>C = 4, 3, 1 cho E3, E4, E5.</a:t>
            </a:r>
          </a:p>
        </p:txBody>
      </p:sp>
      <p:sp>
        <p:nvSpPr>
          <p:cNvPr id="22" name="TextBox 21"/>
          <p:cNvSpPr txBox="1"/>
          <p:nvPr/>
        </p:nvSpPr>
        <p:spPr>
          <a:xfrm>
            <a:off x="822960" y="4956048"/>
            <a:ext cx="10561320" cy="566928"/>
          </a:xfrm>
          <a:prstGeom prst="rect">
            <a:avLst/>
          </a:prstGeom>
          <a:noFill/>
        </p:spPr>
        <p:txBody>
          <a:bodyPr wrap="square" lIns="0" rIns="0" tIns="0" bIns="0">
            <a:spAutoFit/>
          </a:bodyPr>
          <a:lstStyle/>
          <a:p>
            <a:pPr algn="l">
              <a:spcAft>
                <a:spcPts val="600"/>
              </a:spcAft>
            </a:pPr>
            <a:r>
              <a:rPr sz="1900" b="0">
                <a:solidFill>
                  <a:srgbClr val="526575"/>
                </a:solidFill>
                <a:latin typeface="Times New Roman"/>
              </a:rPr>
              <a:t>w[n]: cửa sổ Hann · k: bin tần số · m: vị trí STFT · S: phổ sau phép 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Bảy cấu hình: E1–E6 và Q1</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07 / 23</a:t>
            </a:r>
          </a:p>
        </p:txBody>
      </p:sp>
      <p:graphicFrame>
        <p:nvGraphicFramePr>
          <p:cNvPr id="6" name="Table 5"/>
          <p:cNvGraphicFramePr>
            <a:graphicFrameLocks noGrp="1"/>
          </p:cNvGraphicFramePr>
          <p:nvPr/>
        </p:nvGraphicFramePr>
        <p:xfrm>
          <a:off x="548640" y="1417320"/>
          <a:ext cx="11064240" cy="3977639"/>
        </p:xfrm>
        <a:graphic>
          <a:graphicData uri="http://schemas.openxmlformats.org/drawingml/2006/table">
            <a:tbl>
              <a:tblPr firstRow="1" bandRow="1">
                <a:tableStyleId>{5C22544A-7EE6-4342-B048-85BDC9FD1C3A}</a:tableStyleId>
              </a:tblPr>
              <a:tblGrid>
                <a:gridCol w="777240"/>
                <a:gridCol w="4023360"/>
                <a:gridCol w="1828800"/>
                <a:gridCol w="1737360"/>
                <a:gridCol w="2697480"/>
              </a:tblGrid>
              <a:tr h="497204">
                <a:tc>
                  <a:txBody>
                    <a:bodyPr/>
                    <a:lstStyle/>
                    <a:p>
                      <a:r>
                        <a:rPr sz="1800" b="1">
                          <a:solidFill>
                            <a:srgbClr val="FFFFFF"/>
                          </a:solidFill>
                          <a:latin typeface="Times New Roman"/>
                        </a:rPr>
                        <a:t>Mã</a:t>
                      </a:r>
                    </a:p>
                  </a:txBody>
                  <a:tcPr marL="109728" marR="91440" marT="73152" marB="54864" anchor="ctr">
                    <a:solidFill>
                      <a:srgbClr val="19364D"/>
                    </a:solidFill>
                  </a:tcPr>
                </a:tc>
                <a:tc>
                  <a:txBody>
                    <a:bodyPr/>
                    <a:lstStyle/>
                    <a:p>
                      <a:r>
                        <a:rPr sz="2000" b="1">
                          <a:solidFill>
                            <a:srgbClr val="FFFFFF"/>
                          </a:solidFill>
                          <a:latin typeface="Times New Roman"/>
                        </a:rPr>
                        <a:t>Kiến trúc</a:t>
                      </a:r>
                    </a:p>
                  </a:txBody>
                  <a:tcPr marL="109728" marR="91440" marT="73152" marB="54864" anchor="ctr">
                    <a:solidFill>
                      <a:srgbClr val="19364D"/>
                    </a:solidFill>
                  </a:tcPr>
                </a:tc>
                <a:tc>
                  <a:txBody>
                    <a:bodyPr/>
                    <a:lstStyle/>
                    <a:p>
                      <a:r>
                        <a:rPr sz="2000" b="1">
                          <a:solidFill>
                            <a:srgbClr val="FFFFFF"/>
                          </a:solidFill>
                          <a:latin typeface="Times New Roman"/>
                        </a:rPr>
                        <a:t>Tín hiệu</a:t>
                      </a:r>
                    </a:p>
                  </a:txBody>
                  <a:tcPr marL="109728" marR="91440" marT="73152" marB="54864" anchor="ctr">
                    <a:solidFill>
                      <a:srgbClr val="19364D"/>
                    </a:solidFill>
                  </a:tcPr>
                </a:tc>
                <a:tc>
                  <a:txBody>
                    <a:bodyPr/>
                    <a:lstStyle/>
                    <a:p>
                      <a:r>
                        <a:rPr sz="2000" b="1">
                          <a:solidFill>
                            <a:srgbClr val="FFFFFF"/>
                          </a:solidFill>
                          <a:latin typeface="Times New Roman"/>
                        </a:rPr>
                        <a:t>Tham số</a:t>
                      </a:r>
                    </a:p>
                  </a:txBody>
                  <a:tcPr marL="109728" marR="91440" marT="73152" marB="54864" anchor="ctr">
                    <a:solidFill>
                      <a:srgbClr val="19364D"/>
                    </a:solidFill>
                  </a:tcPr>
                </a:tc>
                <a:tc>
                  <a:txBody>
                    <a:bodyPr/>
                    <a:lstStyle/>
                    <a:p>
                      <a:r>
                        <a:rPr sz="2000" b="1">
                          <a:solidFill>
                            <a:srgbClr val="FFFFFF"/>
                          </a:solidFill>
                          <a:latin typeface="Times New Roman"/>
                        </a:rPr>
                        <a:t>MACs/cửa sổ</a:t>
                      </a:r>
                    </a:p>
                  </a:txBody>
                  <a:tcPr marL="109728" marR="91440" marT="73152" marB="54864" anchor="ctr">
                    <a:solidFill>
                      <a:srgbClr val="19364D"/>
                    </a:solidFill>
                  </a:tcPr>
                </a:tc>
              </a:tr>
              <a:tr h="497204">
                <a:tc>
                  <a:txBody>
                    <a:bodyPr/>
                    <a:lstStyle/>
                    <a:p>
                      <a:r>
                        <a:rPr sz="2000" b="0">
                          <a:solidFill>
                            <a:srgbClr val="223544"/>
                          </a:solidFill>
                          <a:latin typeface="Times New Roman"/>
                        </a:rPr>
                        <a:t>E1</a:t>
                      </a:r>
                    </a:p>
                  </a:txBody>
                  <a:tcPr marL="109728" marR="91440" marT="73152" marB="54864" anchor="ctr">
                    <a:solidFill>
                      <a:srgbClr val="FFFFFF"/>
                    </a:solidFill>
                  </a:tcPr>
                </a:tc>
                <a:tc>
                  <a:txBody>
                    <a:bodyPr/>
                    <a:lstStyle/>
                    <a:p>
                      <a:r>
                        <a:rPr sz="2000" b="0">
                          <a:solidFill>
                            <a:srgbClr val="223544"/>
                          </a:solidFill>
                          <a:latin typeface="Times New Roman"/>
                        </a:rPr>
                        <a:t>Random Forest; 38 đặc trưng</a:t>
                      </a:r>
                    </a:p>
                  </a:txBody>
                  <a:tcPr marL="109728" marR="91440" marT="73152" marB="54864" anchor="ctr">
                    <a:solidFill>
                      <a:srgbClr val="FFFFFF"/>
                    </a:solidFill>
                  </a:tcPr>
                </a:tc>
                <a:tc>
                  <a:txBody>
                    <a:bodyPr/>
                    <a:lstStyle/>
                    <a:p>
                      <a:r>
                        <a:rPr sz="2000" b="0">
                          <a:solidFill>
                            <a:srgbClr val="223544"/>
                          </a:solidFill>
                          <a:latin typeface="Times New Roman"/>
                        </a:rPr>
                        <a:t>PPG+ACC</a:t>
                      </a:r>
                    </a:p>
                  </a:txBody>
                  <a:tcPr marL="109728" marR="91440" marT="73152" marB="54864" anchor="ctr">
                    <a:solidFill>
                      <a:srgbClr val="FFFFFF"/>
                    </a:solidFill>
                  </a:tcPr>
                </a:tc>
                <a:tc>
                  <a:txBody>
                    <a:bodyPr/>
                    <a:lstStyle/>
                    <a:p>
                      <a:r>
                        <a:rPr sz="2000" b="0">
                          <a:solidFill>
                            <a:srgbClr val="223544"/>
                          </a:solidFill>
                          <a:latin typeface="Times New Roman"/>
                        </a:rPr>
                        <a:t>—</a:t>
                      </a:r>
                    </a:p>
                  </a:txBody>
                  <a:tcPr marL="109728" marR="91440" marT="73152" marB="54864" anchor="ctr">
                    <a:solidFill>
                      <a:srgbClr val="FFFFFF"/>
                    </a:solidFill>
                  </a:tcPr>
                </a:tc>
                <a:tc>
                  <a:txBody>
                    <a:bodyPr/>
                    <a:lstStyle/>
                    <a:p>
                      <a:r>
                        <a:rPr sz="2000" b="0">
                          <a:solidFill>
                            <a:srgbClr val="223544"/>
                          </a:solidFill>
                          <a:latin typeface="Times New Roman"/>
                        </a:rPr>
                        <a:t>—</a:t>
                      </a:r>
                    </a:p>
                  </a:txBody>
                  <a:tcPr marL="109728" marR="91440" marT="73152" marB="54864" anchor="ctr">
                    <a:solidFill>
                      <a:srgbClr val="FFFFFF"/>
                    </a:solidFill>
                  </a:tcPr>
                </a:tc>
              </a:tr>
              <a:tr h="497204">
                <a:tc>
                  <a:txBody>
                    <a:bodyPr/>
                    <a:lstStyle/>
                    <a:p>
                      <a:r>
                        <a:rPr sz="2000" b="0">
                          <a:solidFill>
                            <a:srgbClr val="223544"/>
                          </a:solidFill>
                          <a:latin typeface="Times New Roman"/>
                        </a:rPr>
                        <a:t>E2</a:t>
                      </a:r>
                    </a:p>
                  </a:txBody>
                  <a:tcPr marL="109728" marR="91440" marT="73152" marB="54864" anchor="ctr">
                    <a:solidFill>
                      <a:srgbClr val="EEF4F8"/>
                    </a:solidFill>
                  </a:tcPr>
                </a:tc>
                <a:tc>
                  <a:txBody>
                    <a:bodyPr/>
                    <a:lstStyle/>
                    <a:p>
                      <a:r>
                        <a:rPr sz="2000" b="0">
                          <a:solidFill>
                            <a:srgbClr val="223544"/>
                          </a:solidFill>
                          <a:latin typeface="Times New Roman"/>
                        </a:rPr>
                        <a:t>CNN 1-D</a:t>
                      </a:r>
                    </a:p>
                  </a:txBody>
                  <a:tcPr marL="109728" marR="91440" marT="73152" marB="54864" anchor="ctr">
                    <a:solidFill>
                      <a:srgbClr val="EEF4F8"/>
                    </a:solidFill>
                  </a:tcPr>
                </a:tc>
                <a:tc>
                  <a:txBody>
                    <a:bodyPr/>
                    <a:lstStyle/>
                    <a:p>
                      <a:r>
                        <a:rPr sz="2000" b="0">
                          <a:solidFill>
                            <a:srgbClr val="223544"/>
                          </a:solidFill>
                          <a:latin typeface="Times New Roman"/>
                        </a:rPr>
                        <a:t>PPG+ACC</a:t>
                      </a:r>
                    </a:p>
                  </a:txBody>
                  <a:tcPr marL="109728" marR="91440" marT="73152" marB="54864" anchor="ctr">
                    <a:solidFill>
                      <a:srgbClr val="EEF4F8"/>
                    </a:solidFill>
                  </a:tcPr>
                </a:tc>
                <a:tc>
                  <a:txBody>
                    <a:bodyPr/>
                    <a:lstStyle/>
                    <a:p>
                      <a:r>
                        <a:rPr sz="2000" b="0">
                          <a:solidFill>
                            <a:srgbClr val="223544"/>
                          </a:solidFill>
                          <a:latin typeface="Times New Roman"/>
                        </a:rPr>
                        <a:t>11592</a:t>
                      </a:r>
                    </a:p>
                  </a:txBody>
                  <a:tcPr marL="109728" marR="91440" marT="73152" marB="54864" anchor="ctr">
                    <a:solidFill>
                      <a:srgbClr val="EEF4F8"/>
                    </a:solidFill>
                  </a:tcPr>
                </a:tc>
                <a:tc>
                  <a:txBody>
                    <a:bodyPr/>
                    <a:lstStyle/>
                    <a:p>
                      <a:r>
                        <a:rPr sz="2000" b="0">
                          <a:solidFill>
                            <a:srgbClr val="223544"/>
                          </a:solidFill>
                          <a:latin typeface="Times New Roman"/>
                        </a:rPr>
                        <a:t>805120</a:t>
                      </a:r>
                    </a:p>
                  </a:txBody>
                  <a:tcPr marL="109728" marR="91440" marT="73152" marB="54864" anchor="ctr">
                    <a:solidFill>
                      <a:srgbClr val="EEF4F8"/>
                    </a:solidFill>
                  </a:tcPr>
                </a:tc>
              </a:tr>
              <a:tr h="497204">
                <a:tc>
                  <a:txBody>
                    <a:bodyPr/>
                    <a:lstStyle/>
                    <a:p>
                      <a:r>
                        <a:rPr sz="2000" b="0">
                          <a:solidFill>
                            <a:srgbClr val="223544"/>
                          </a:solidFill>
                          <a:latin typeface="Times New Roman"/>
                        </a:rPr>
                        <a:t>E3</a:t>
                      </a:r>
                    </a:p>
                  </a:txBody>
                  <a:tcPr marL="109728" marR="91440" marT="73152" marB="54864" anchor="ctr">
                    <a:solidFill>
                      <a:srgbClr val="FFFFFF"/>
                    </a:solidFill>
                  </a:tcPr>
                </a:tc>
                <a:tc>
                  <a:txBody>
                    <a:bodyPr/>
                    <a:lstStyle/>
                    <a:p>
                      <a:r>
                        <a:rPr sz="2000" b="0">
                          <a:solidFill>
                            <a:srgbClr val="223544"/>
                          </a:solidFill>
                          <a:latin typeface="Times New Roman"/>
                        </a:rPr>
                        <a:t>CNN 2-D STFT</a:t>
                      </a:r>
                    </a:p>
                  </a:txBody>
                  <a:tcPr marL="109728" marR="91440" marT="73152" marB="54864" anchor="ctr">
                    <a:solidFill>
                      <a:srgbClr val="FFFFFF"/>
                    </a:solidFill>
                  </a:tcPr>
                </a:tc>
                <a:tc>
                  <a:txBody>
                    <a:bodyPr/>
                    <a:lstStyle/>
                    <a:p>
                      <a:r>
                        <a:rPr sz="2000" b="0">
                          <a:solidFill>
                            <a:srgbClr val="223544"/>
                          </a:solidFill>
                          <a:latin typeface="Times New Roman"/>
                        </a:rPr>
                        <a:t>PPG+ACC</a:t>
                      </a:r>
                    </a:p>
                  </a:txBody>
                  <a:tcPr marL="109728" marR="91440" marT="73152" marB="54864" anchor="ctr">
                    <a:solidFill>
                      <a:srgbClr val="FFFFFF"/>
                    </a:solidFill>
                  </a:tcPr>
                </a:tc>
                <a:tc>
                  <a:txBody>
                    <a:bodyPr/>
                    <a:lstStyle/>
                    <a:p>
                      <a:r>
                        <a:rPr sz="2000" b="0">
                          <a:solidFill>
                            <a:srgbClr val="223544"/>
                          </a:solidFill>
                          <a:latin typeface="Times New Roman"/>
                        </a:rPr>
                        <a:t>5768</a:t>
                      </a:r>
                    </a:p>
                  </a:txBody>
                  <a:tcPr marL="109728" marR="91440" marT="73152" marB="54864" anchor="ctr">
                    <a:solidFill>
                      <a:srgbClr val="FFFFFF"/>
                    </a:solidFill>
                  </a:tcPr>
                </a:tc>
                <a:tc>
                  <a:txBody>
                    <a:bodyPr/>
                    <a:lstStyle/>
                    <a:p>
                      <a:r>
                        <a:rPr sz="2000" b="0">
                          <a:solidFill>
                            <a:srgbClr val="223544"/>
                          </a:solidFill>
                          <a:latin typeface="Times New Roman"/>
                        </a:rPr>
                        <a:t>811776</a:t>
                      </a:r>
                    </a:p>
                  </a:txBody>
                  <a:tcPr marL="109728" marR="91440" marT="73152" marB="54864" anchor="ctr">
                    <a:solidFill>
                      <a:srgbClr val="FFFFFF"/>
                    </a:solidFill>
                  </a:tcPr>
                </a:tc>
              </a:tr>
              <a:tr h="497204">
                <a:tc>
                  <a:txBody>
                    <a:bodyPr/>
                    <a:lstStyle/>
                    <a:p>
                      <a:r>
                        <a:rPr sz="2000" b="0">
                          <a:solidFill>
                            <a:srgbClr val="223544"/>
                          </a:solidFill>
                          <a:latin typeface="Times New Roman"/>
                        </a:rPr>
                        <a:t>E4</a:t>
                      </a:r>
                    </a:p>
                  </a:txBody>
                  <a:tcPr marL="109728" marR="91440" marT="73152" marB="54864" anchor="ctr">
                    <a:solidFill>
                      <a:srgbClr val="EEF4F8"/>
                    </a:solidFill>
                  </a:tcPr>
                </a:tc>
                <a:tc>
                  <a:txBody>
                    <a:bodyPr/>
                    <a:lstStyle/>
                    <a:p>
                      <a:r>
                        <a:rPr sz="2000" b="0">
                          <a:solidFill>
                            <a:srgbClr val="223544"/>
                          </a:solidFill>
                          <a:latin typeface="Times New Roman"/>
                        </a:rPr>
                        <a:t>CNN 2-D STFT</a:t>
                      </a:r>
                    </a:p>
                  </a:txBody>
                  <a:tcPr marL="109728" marR="91440" marT="73152" marB="54864" anchor="ctr">
                    <a:solidFill>
                      <a:srgbClr val="EEF4F8"/>
                    </a:solidFill>
                  </a:tcPr>
                </a:tc>
                <a:tc>
                  <a:txBody>
                    <a:bodyPr/>
                    <a:lstStyle/>
                    <a:p>
                      <a:r>
                        <a:rPr sz="2000" b="0">
                          <a:solidFill>
                            <a:srgbClr val="223544"/>
                          </a:solidFill>
                          <a:latin typeface="Times New Roman"/>
                        </a:rPr>
                        <a:t>ACC</a:t>
                      </a:r>
                    </a:p>
                  </a:txBody>
                  <a:tcPr marL="109728" marR="91440" marT="73152" marB="54864" anchor="ctr">
                    <a:solidFill>
                      <a:srgbClr val="EEF4F8"/>
                    </a:solidFill>
                  </a:tcPr>
                </a:tc>
                <a:tc>
                  <a:txBody>
                    <a:bodyPr/>
                    <a:lstStyle/>
                    <a:p>
                      <a:r>
                        <a:rPr sz="2000" b="0">
                          <a:solidFill>
                            <a:srgbClr val="223544"/>
                          </a:solidFill>
                          <a:latin typeface="Times New Roman"/>
                        </a:rPr>
                        <a:t>5696</a:t>
                      </a:r>
                    </a:p>
                  </a:txBody>
                  <a:tcPr marL="109728" marR="91440" marT="73152" marB="54864" anchor="ctr">
                    <a:solidFill>
                      <a:srgbClr val="EEF4F8"/>
                    </a:solidFill>
                  </a:tcPr>
                </a:tc>
                <a:tc>
                  <a:txBody>
                    <a:bodyPr/>
                    <a:lstStyle/>
                    <a:p>
                      <a:r>
                        <a:rPr sz="2000" b="0">
                          <a:solidFill>
                            <a:srgbClr val="223544"/>
                          </a:solidFill>
                          <a:latin typeface="Times New Roman"/>
                        </a:rPr>
                        <a:t>738048</a:t>
                      </a:r>
                    </a:p>
                  </a:txBody>
                  <a:tcPr marL="109728" marR="91440" marT="73152" marB="54864" anchor="ctr">
                    <a:solidFill>
                      <a:srgbClr val="EEF4F8"/>
                    </a:solidFill>
                  </a:tcPr>
                </a:tc>
              </a:tr>
              <a:tr h="497204">
                <a:tc>
                  <a:txBody>
                    <a:bodyPr/>
                    <a:lstStyle/>
                    <a:p>
                      <a:r>
                        <a:rPr sz="2000" b="0">
                          <a:solidFill>
                            <a:srgbClr val="223544"/>
                          </a:solidFill>
                          <a:latin typeface="Times New Roman"/>
                        </a:rPr>
                        <a:t>E5</a:t>
                      </a:r>
                    </a:p>
                  </a:txBody>
                  <a:tcPr marL="109728" marR="91440" marT="73152" marB="54864" anchor="ctr">
                    <a:solidFill>
                      <a:srgbClr val="FFFFFF"/>
                    </a:solidFill>
                  </a:tcPr>
                </a:tc>
                <a:tc>
                  <a:txBody>
                    <a:bodyPr/>
                    <a:lstStyle/>
                    <a:p>
                      <a:r>
                        <a:rPr sz="2000" b="0">
                          <a:solidFill>
                            <a:srgbClr val="223544"/>
                          </a:solidFill>
                          <a:latin typeface="Times New Roman"/>
                        </a:rPr>
                        <a:t>CNN 2-D STFT</a:t>
                      </a:r>
                    </a:p>
                  </a:txBody>
                  <a:tcPr marL="109728" marR="91440" marT="73152" marB="54864" anchor="ctr">
                    <a:solidFill>
                      <a:srgbClr val="FFFFFF"/>
                    </a:solidFill>
                  </a:tcPr>
                </a:tc>
                <a:tc>
                  <a:txBody>
                    <a:bodyPr/>
                    <a:lstStyle/>
                    <a:p>
                      <a:r>
                        <a:rPr sz="2000" b="0">
                          <a:solidFill>
                            <a:srgbClr val="223544"/>
                          </a:solidFill>
                          <a:latin typeface="Times New Roman"/>
                        </a:rPr>
                        <a:t>PPG</a:t>
                      </a:r>
                    </a:p>
                  </a:txBody>
                  <a:tcPr marL="109728" marR="91440" marT="73152" marB="54864" anchor="ctr">
                    <a:solidFill>
                      <a:srgbClr val="FFFFFF"/>
                    </a:solidFill>
                  </a:tcPr>
                </a:tc>
                <a:tc>
                  <a:txBody>
                    <a:bodyPr/>
                    <a:lstStyle/>
                    <a:p>
                      <a:r>
                        <a:rPr sz="2000" b="0">
                          <a:solidFill>
                            <a:srgbClr val="223544"/>
                          </a:solidFill>
                          <a:latin typeface="Times New Roman"/>
                        </a:rPr>
                        <a:t>5552</a:t>
                      </a:r>
                    </a:p>
                  </a:txBody>
                  <a:tcPr marL="109728" marR="91440" marT="73152" marB="54864" anchor="ctr">
                    <a:solidFill>
                      <a:srgbClr val="FFFFFF"/>
                    </a:solidFill>
                  </a:tcPr>
                </a:tc>
                <a:tc>
                  <a:txBody>
                    <a:bodyPr/>
                    <a:lstStyle/>
                    <a:p>
                      <a:r>
                        <a:rPr sz="2000" b="0">
                          <a:solidFill>
                            <a:srgbClr val="223544"/>
                          </a:solidFill>
                          <a:latin typeface="Times New Roman"/>
                        </a:rPr>
                        <a:t>590592</a:t>
                      </a:r>
                    </a:p>
                  </a:txBody>
                  <a:tcPr marL="109728" marR="91440" marT="73152" marB="54864" anchor="ctr">
                    <a:solidFill>
                      <a:srgbClr val="FFFFFF"/>
                    </a:solidFill>
                  </a:tcPr>
                </a:tc>
              </a:tr>
              <a:tr h="497204">
                <a:tc>
                  <a:txBody>
                    <a:bodyPr/>
                    <a:lstStyle/>
                    <a:p>
                      <a:r>
                        <a:rPr sz="2000" b="0">
                          <a:solidFill>
                            <a:srgbClr val="223544"/>
                          </a:solidFill>
                          <a:latin typeface="Times New Roman"/>
                        </a:rPr>
                        <a:t>E6</a:t>
                      </a:r>
                    </a:p>
                  </a:txBody>
                  <a:tcPr marL="109728" marR="91440" marT="73152" marB="54864" anchor="ctr">
                    <a:solidFill>
                      <a:srgbClr val="E4F1F8"/>
                    </a:solidFill>
                  </a:tcPr>
                </a:tc>
                <a:tc>
                  <a:txBody>
                    <a:bodyPr/>
                    <a:lstStyle/>
                    <a:p>
                      <a:r>
                        <a:rPr sz="2000" b="0">
                          <a:solidFill>
                            <a:srgbClr val="223544"/>
                          </a:solidFill>
                          <a:latin typeface="Times New Roman"/>
                        </a:rPr>
                        <a:t>MultiKernel 1-D</a:t>
                      </a:r>
                    </a:p>
                  </a:txBody>
                  <a:tcPr marL="109728" marR="91440" marT="73152" marB="54864" anchor="ctr">
                    <a:solidFill>
                      <a:srgbClr val="E4F1F8"/>
                    </a:solidFill>
                  </a:tcPr>
                </a:tc>
                <a:tc>
                  <a:txBody>
                    <a:bodyPr/>
                    <a:lstStyle/>
                    <a:p>
                      <a:r>
                        <a:rPr sz="2000" b="0">
                          <a:solidFill>
                            <a:srgbClr val="223544"/>
                          </a:solidFill>
                          <a:latin typeface="Times New Roman"/>
                        </a:rPr>
                        <a:t>PPG+ACC</a:t>
                      </a:r>
                    </a:p>
                  </a:txBody>
                  <a:tcPr marL="109728" marR="91440" marT="73152" marB="54864" anchor="ctr">
                    <a:solidFill>
                      <a:srgbClr val="E4F1F8"/>
                    </a:solidFill>
                  </a:tcPr>
                </a:tc>
                <a:tc>
                  <a:txBody>
                    <a:bodyPr/>
                    <a:lstStyle/>
                    <a:p>
                      <a:r>
                        <a:rPr sz="2000" b="0">
                          <a:solidFill>
                            <a:srgbClr val="223544"/>
                          </a:solidFill>
                          <a:latin typeface="Times New Roman"/>
                        </a:rPr>
                        <a:t>7688</a:t>
                      </a:r>
                    </a:p>
                  </a:txBody>
                  <a:tcPr marL="109728" marR="91440" marT="73152" marB="54864" anchor="ctr">
                    <a:solidFill>
                      <a:srgbClr val="E4F1F8"/>
                    </a:solidFill>
                  </a:tcPr>
                </a:tc>
                <a:tc>
                  <a:txBody>
                    <a:bodyPr/>
                    <a:lstStyle/>
                    <a:p>
                      <a:r>
                        <a:rPr sz="2000" b="0">
                          <a:solidFill>
                            <a:srgbClr val="223544"/>
                          </a:solidFill>
                          <a:latin typeface="Times New Roman"/>
                        </a:rPr>
                        <a:t>645312</a:t>
                      </a:r>
                    </a:p>
                  </a:txBody>
                  <a:tcPr marL="109728" marR="91440" marT="73152" marB="54864" anchor="ctr">
                    <a:solidFill>
                      <a:srgbClr val="E4F1F8"/>
                    </a:solidFill>
                  </a:tcPr>
                </a:tc>
              </a:tr>
              <a:tr h="497211">
                <a:tc>
                  <a:txBody>
                    <a:bodyPr/>
                    <a:lstStyle/>
                    <a:p>
                      <a:r>
                        <a:rPr sz="2000" b="0">
                          <a:solidFill>
                            <a:srgbClr val="223544"/>
                          </a:solidFill>
                          <a:latin typeface="Times New Roman"/>
                        </a:rPr>
                        <a:t>Q1</a:t>
                      </a:r>
                    </a:p>
                  </a:txBody>
                  <a:tcPr marL="109728" marR="91440" marT="73152" marB="54864" anchor="ctr">
                    <a:solidFill>
                      <a:srgbClr val="FFFFFF"/>
                    </a:solidFill>
                  </a:tcPr>
                </a:tc>
                <a:tc>
                  <a:txBody>
                    <a:bodyPr/>
                    <a:lstStyle/>
                    <a:p>
                      <a:r>
                        <a:rPr sz="2000" b="0">
                          <a:solidFill>
                            <a:srgbClr val="223544"/>
                          </a:solidFill>
                          <a:latin typeface="Times New Roman"/>
                        </a:rPr>
                        <a:t>E3 INT8</a:t>
                      </a:r>
                    </a:p>
                  </a:txBody>
                  <a:tcPr marL="109728" marR="91440" marT="73152" marB="54864" anchor="ctr">
                    <a:solidFill>
                      <a:srgbClr val="FFFFFF"/>
                    </a:solidFill>
                  </a:tcPr>
                </a:tc>
                <a:tc>
                  <a:txBody>
                    <a:bodyPr/>
                    <a:lstStyle/>
                    <a:p>
                      <a:r>
                        <a:rPr sz="2000" b="0">
                          <a:solidFill>
                            <a:srgbClr val="223544"/>
                          </a:solidFill>
                          <a:latin typeface="Times New Roman"/>
                        </a:rPr>
                        <a:t>PPG+ACC</a:t>
                      </a:r>
                    </a:p>
                  </a:txBody>
                  <a:tcPr marL="109728" marR="91440" marT="73152" marB="54864" anchor="ctr">
                    <a:solidFill>
                      <a:srgbClr val="FFFFFF"/>
                    </a:solidFill>
                  </a:tcPr>
                </a:tc>
                <a:tc>
                  <a:txBody>
                    <a:bodyPr/>
                    <a:lstStyle/>
                    <a:p>
                      <a:r>
                        <a:rPr sz="2000" b="0">
                          <a:solidFill>
                            <a:srgbClr val="223544"/>
                          </a:solidFill>
                          <a:latin typeface="Times New Roman"/>
                        </a:rPr>
                        <a:t>5768</a:t>
                      </a:r>
                    </a:p>
                  </a:txBody>
                  <a:tcPr marL="109728" marR="91440" marT="73152" marB="54864" anchor="ctr">
                    <a:solidFill>
                      <a:srgbClr val="FFFFFF"/>
                    </a:solidFill>
                  </a:tcPr>
                </a:tc>
                <a:tc>
                  <a:txBody>
                    <a:bodyPr/>
                    <a:lstStyle/>
                    <a:p>
                      <a:r>
                        <a:rPr sz="2000" b="0">
                          <a:solidFill>
                            <a:srgbClr val="223544"/>
                          </a:solidFill>
                          <a:latin typeface="Times New Roman"/>
                        </a:rPr>
                        <a:t>811776</a:t>
                      </a:r>
                    </a:p>
                  </a:txBody>
                  <a:tcPr marL="109728" marR="91440" marT="73152" marB="54864" anchor="ctr">
                    <a:solidFill>
                      <a:srgbClr val="FFFFFF"/>
                    </a:solidFill>
                  </a:tcPr>
                </a:tc>
              </a:tr>
            </a:tbl>
          </a:graphicData>
        </a:graphic>
      </p:graphicFrame>
      <p:sp>
        <p:nvSpPr>
          <p:cNvPr id="7" name="Rounded Rectangle 6"/>
          <p:cNvSpPr/>
          <p:nvPr/>
        </p:nvSpPr>
        <p:spPr>
          <a:xfrm>
            <a:off x="530352" y="5815584"/>
            <a:ext cx="11109960" cy="438912"/>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852160"/>
            <a:ext cx="10753344" cy="347472"/>
          </a:xfrm>
          <a:prstGeom prst="rect">
            <a:avLst/>
          </a:prstGeom>
          <a:noFill/>
        </p:spPr>
        <p:txBody>
          <a:bodyPr wrap="square" lIns="18288" rIns="18288" tIns="18288" bIns="0">
            <a:spAutoFit/>
          </a:bodyPr>
          <a:lstStyle/>
          <a:p>
            <a:pPr algn="l">
              <a:spcAft>
                <a:spcPts val="800"/>
              </a:spcAft>
            </a:pPr>
            <a:r>
              <a:rPr sz="1800" b="0">
                <a:solidFill>
                  <a:srgbClr val="FFFFFF"/>
                </a:solidFill>
                <a:latin typeface="Times New Roman"/>
              </a:rPr>
              <a:t>MACs chỉ tính Conv/Linear; chưa gồm tiền xử lý, STFT, pooling hoặc EMA.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E1: Random Forest và 38 đặc trưng</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08 / 23</a:t>
            </a:r>
          </a:p>
        </p:txBody>
      </p:sp>
      <p:pic>
        <p:nvPicPr>
          <p:cNvPr id="6" name="Original RF architecture, full top row" descr="image.png"/>
          <p:cNvPicPr>
            <a:picLocks noChangeAspect="1"/>
          </p:cNvPicPr>
          <p:nvPr/>
        </p:nvPicPr>
        <p:blipFill>
          <a:blip r:embed="rId3"/>
          <a:srcRect b="56000"/>
          <a:stretch>
            <a:fillRect/>
          </a:stretch>
        </p:blipFill>
        <p:spPr>
          <a:xfrm>
            <a:off x="640080" y="1152144"/>
            <a:ext cx="10899648" cy="2587752"/>
          </a:xfrm>
          <a:prstGeom prst="rect">
            <a:avLst/>
          </a:prstGeom>
        </p:spPr>
      </p:pic>
      <p:sp>
        <p:nvSpPr>
          <p:cNvPr id="7" name="TextBox 6"/>
          <p:cNvSpPr txBox="1"/>
          <p:nvPr/>
        </p:nvSpPr>
        <p:spPr>
          <a:xfrm>
            <a:off x="822960" y="3995928"/>
            <a:ext cx="5623560" cy="411480"/>
          </a:xfrm>
          <a:prstGeom prst="rect">
            <a:avLst/>
          </a:prstGeom>
          <a:noFill/>
        </p:spPr>
        <p:txBody>
          <a:bodyPr wrap="square" lIns="0" rIns="0">
            <a:spAutoFit/>
          </a:bodyPr>
          <a:lstStyle/>
          <a:p>
            <a:pPr>
              <a:spcAft>
                <a:spcPts val="600"/>
              </a:spcAft>
            </a:pPr>
            <a:r>
              <a:rPr sz="2300" b="1">
                <a:solidFill>
                  <a:srgbClr val="19364D"/>
                </a:solidFill>
                <a:latin typeface="Times New Roman"/>
              </a:rPr>
              <a:t>38 đặc trưng: 28 thống kê + 10 phổ</a:t>
            </a:r>
          </a:p>
        </p:txBody>
      </p:sp>
      <p:sp>
        <p:nvSpPr>
          <p:cNvPr id="8" name="TextBox 7"/>
          <p:cNvSpPr txBox="1"/>
          <p:nvPr/>
        </p:nvSpPr>
        <p:spPr>
          <a:xfrm>
            <a:off x="822960" y="4553712"/>
            <a:ext cx="5532120" cy="1527048"/>
          </a:xfrm>
          <a:prstGeom prst="rect">
            <a:avLst/>
          </a:prstGeom>
          <a:noFill/>
        </p:spPr>
        <p:txBody>
          <a:bodyPr wrap="square" lIns="0" rIns="0">
            <a:spAutoFit/>
          </a:bodyPr>
          <a:lstStyle/>
          <a:p>
            <a:pPr>
              <a:spcAft>
                <a:spcPts val="600"/>
              </a:spcAft>
            </a:pPr>
            <a:r>
              <a:rPr sz="2000" b="0">
                <a:solidFill>
                  <a:srgbClr val="19364D"/>
                </a:solidFill>
                <a:latin typeface="Times New Roman"/>
              </a:rPr>
              <a:t>Mỗi kênh: mean, std, min, max, RMS,</a:t>
            </a:r>
          </a:p>
          <a:p>
            <a:pPr>
              <a:spcAft>
                <a:spcPts val="600"/>
              </a:spcAft>
            </a:pPr>
            <a:r>
              <a:rPr sz="2000" b="0">
                <a:solidFill>
                  <a:srgbClr val="19364D"/>
                </a:solidFill>
                <a:latin typeface="Times New Roman"/>
              </a:rPr>
              <a:t>Fisher kurtosis và zero-crossing rate.</a:t>
            </a:r>
          </a:p>
          <a:p>
            <a:pPr>
              <a:spcAft>
                <a:spcPts val="600"/>
              </a:spcAft>
            </a:pPr>
            <a:r>
              <a:rPr sz="2000" b="0">
                <a:solidFill>
                  <a:srgbClr val="19364D"/>
                </a:solidFill>
                <a:latin typeface="Times New Roman"/>
              </a:rPr>
              <a:t>PPG và độ lớn ACC: công suất ở 4 dải</a:t>
            </a:r>
          </a:p>
          <a:p>
            <a:pPr>
              <a:spcAft>
                <a:spcPts val="600"/>
              </a:spcAft>
            </a:pPr>
            <a:r>
              <a:rPr sz="2000" b="0">
                <a:solidFill>
                  <a:srgbClr val="19364D"/>
                </a:solidFill>
                <a:latin typeface="Times New Roman"/>
              </a:rPr>
              <a:t>và tần số có PSD cao nhất.</a:t>
            </a:r>
          </a:p>
        </p:txBody>
      </p:sp>
      <p:sp>
        <p:nvSpPr>
          <p:cNvPr id="9" name="TextBox 8"/>
          <p:cNvSpPr txBox="1"/>
          <p:nvPr/>
        </p:nvSpPr>
        <p:spPr>
          <a:xfrm>
            <a:off x="6858000" y="3995928"/>
            <a:ext cx="4480560" cy="411480"/>
          </a:xfrm>
          <a:prstGeom prst="rect">
            <a:avLst/>
          </a:prstGeom>
          <a:noFill/>
        </p:spPr>
        <p:txBody>
          <a:bodyPr wrap="square" lIns="0" rIns="0">
            <a:spAutoFit/>
          </a:bodyPr>
          <a:lstStyle/>
          <a:p>
            <a:pPr>
              <a:spcAft>
                <a:spcPts val="600"/>
              </a:spcAft>
            </a:pPr>
            <a:r>
              <a:rPr sz="2300" b="1">
                <a:solidFill>
                  <a:srgbClr val="19364D"/>
                </a:solidFill>
                <a:latin typeface="Times New Roman"/>
              </a:rPr>
              <a:t>Cấu hình Random Forest</a:t>
            </a:r>
          </a:p>
        </p:txBody>
      </p:sp>
      <p:sp>
        <p:nvSpPr>
          <p:cNvPr id="10" name="TextBox 9"/>
          <p:cNvSpPr txBox="1"/>
          <p:nvPr/>
        </p:nvSpPr>
        <p:spPr>
          <a:xfrm>
            <a:off x="6858000" y="4553712"/>
            <a:ext cx="4480560" cy="1527048"/>
          </a:xfrm>
          <a:prstGeom prst="rect">
            <a:avLst/>
          </a:prstGeom>
          <a:noFill/>
        </p:spPr>
        <p:txBody>
          <a:bodyPr wrap="square" lIns="0" rIns="0">
            <a:spAutoFit/>
          </a:bodyPr>
          <a:lstStyle/>
          <a:p>
            <a:pPr>
              <a:spcAft>
                <a:spcPts val="600"/>
              </a:spcAft>
            </a:pPr>
            <a:r>
              <a:rPr sz="2100" b="0">
                <a:solidFill>
                  <a:srgbClr val="19364D"/>
                </a:solidFill>
                <a:latin typeface="Times New Roman"/>
              </a:rPr>
              <a:t>100 cây; seed 42.</a:t>
            </a:r>
          </a:p>
          <a:p>
            <a:pPr>
              <a:spcAft>
                <a:spcPts val="600"/>
              </a:spcAft>
            </a:pPr>
            <a:r>
              <a:rPr sz="2100" b="0">
                <a:solidFill>
                  <a:srgbClr val="19364D"/>
                </a:solidFill>
                <a:latin typeface="Times New Roman"/>
              </a:rPr>
              <a:t>Validation chọn:</a:t>
            </a:r>
          </a:p>
          <a:p>
            <a:pPr>
              <a:spcAft>
                <a:spcPts val="600"/>
              </a:spcAft>
            </a:pPr>
            <a:r>
              <a:rPr sz="2100" b="0">
                <a:solidFill>
                  <a:srgbClr val="19364D"/>
                </a:solidFill>
                <a:latin typeface="Times New Roman"/>
              </a:rPr>
              <a:t>min_samples_leaf=5</a:t>
            </a:r>
          </a:p>
          <a:p>
            <a:pPr>
              <a:spcAft>
                <a:spcPts val="600"/>
              </a:spcAft>
            </a:pPr>
            <a:r>
              <a:rPr sz="2100" b="0">
                <a:solidFill>
                  <a:srgbClr val="19364D"/>
                </a:solidFill>
                <a:latin typeface="Times New Roman"/>
              </a:rPr>
              <a:t>max_depth=None.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r>
              <a:rPr sz="3100" b="1">
                <a:solidFill>
                  <a:srgbClr val="19364D"/>
                </a:solidFill>
                <a:latin typeface="Times New Roman"/>
              </a:rPr>
              <a:t>Kiến trúc CNN: E2–E5</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09 / 23</a:t>
            </a:r>
          </a:p>
        </p:txBody>
      </p:sp>
      <p:pic>
        <p:nvPicPr>
          <p:cNvPr id="6" name="Original CNN architecture" descr="image.png"/>
          <p:cNvPicPr>
            <a:picLocks noChangeAspect="1"/>
          </p:cNvPicPr>
          <p:nvPr/>
        </p:nvPicPr>
        <p:blipFill>
          <a:blip r:embed="rId3"/>
          <a:stretch>
            <a:fillRect/>
          </a:stretch>
        </p:blipFill>
        <p:spPr>
          <a:xfrm>
            <a:off x="892915" y="960120"/>
            <a:ext cx="4386369" cy="5303520"/>
          </a:xfrm>
          <a:prstGeom prst="rect">
            <a:avLst/>
          </a:prstGeom>
        </p:spPr>
      </p:pic>
      <p:sp>
        <p:nvSpPr>
          <p:cNvPr id="7" name="TextBox 6"/>
          <p:cNvSpPr txBox="1"/>
          <p:nvPr/>
        </p:nvSpPr>
        <p:spPr>
          <a:xfrm>
            <a:off x="5623560" y="1143000"/>
            <a:ext cx="5943600" cy="411480"/>
          </a:xfrm>
          <a:prstGeom prst="rect">
            <a:avLst/>
          </a:prstGeom>
          <a:noFill/>
        </p:spPr>
        <p:txBody>
          <a:bodyPr wrap="square">
            <a:spAutoFit/>
          </a:bodyPr>
          <a:lstStyle/>
          <a:p>
            <a:pPr>
              <a:spcAft>
                <a:spcPts val="1200"/>
              </a:spcAft>
            </a:pPr>
            <a:r>
              <a:rPr sz="2400" b="1">
                <a:solidFill>
                  <a:srgbClr val="183B50"/>
                </a:solidFill>
                <a:latin typeface="Times New Roman"/>
              </a:rPr>
              <a:t>E2 · Chuỗi tín hiệu 4 × 256</a:t>
            </a:r>
          </a:p>
        </p:txBody>
      </p:sp>
      <p:sp>
        <p:nvSpPr>
          <p:cNvPr id="8" name="TextBox 7"/>
          <p:cNvSpPr txBox="1"/>
          <p:nvPr/>
        </p:nvSpPr>
        <p:spPr>
          <a:xfrm>
            <a:off x="5623560" y="1673352"/>
            <a:ext cx="5897880" cy="1280160"/>
          </a:xfrm>
          <a:prstGeom prst="rect">
            <a:avLst/>
          </a:prstGeom>
          <a:noFill/>
        </p:spPr>
        <p:txBody>
          <a:bodyPr wrap="square">
            <a:spAutoFit/>
          </a:bodyPr>
          <a:lstStyle/>
          <a:p>
            <a:pPr>
              <a:spcAft>
                <a:spcPts val="1200"/>
              </a:spcAft>
            </a:pPr>
            <a:r>
              <a:rPr sz="2200" b="0">
                <a:solidFill>
                  <a:srgbClr val="183B50"/>
                </a:solidFill>
                <a:latin typeface="Times New Roman"/>
              </a:rPr>
              <a:t>Conv 1-D: 4 → 16 → 32 → 64 kênh.</a:t>
            </a:r>
          </a:p>
          <a:p>
            <a:pPr>
              <a:spcAft>
                <a:spcPts val="1200"/>
              </a:spcAft>
            </a:pPr>
            <a:r>
              <a:rPr sz="2200" b="0">
                <a:solidFill>
                  <a:srgbClr val="183B50"/>
                </a:solidFill>
                <a:latin typeface="Times New Roman"/>
              </a:rPr>
              <a:t>Kernel 5, 5, 3; MaxPool ở hai block đầu.</a:t>
            </a:r>
          </a:p>
          <a:p>
            <a:pPr>
              <a:spcAft>
                <a:spcPts val="1200"/>
              </a:spcAft>
            </a:pPr>
            <a:r>
              <a:rPr sz="2200" b="0">
                <a:solidFill>
                  <a:srgbClr val="183B50"/>
                </a:solidFill>
                <a:latin typeface="Times New Roman"/>
              </a:rPr>
              <a:t>Global average pooling → 64 giá trị.</a:t>
            </a:r>
          </a:p>
        </p:txBody>
      </p:sp>
      <p:sp>
        <p:nvSpPr>
          <p:cNvPr id="9" name="TextBox 8"/>
          <p:cNvSpPr txBox="1"/>
          <p:nvPr/>
        </p:nvSpPr>
        <p:spPr>
          <a:xfrm>
            <a:off x="5623560" y="3090672"/>
            <a:ext cx="5943600" cy="411480"/>
          </a:xfrm>
          <a:prstGeom prst="rect">
            <a:avLst/>
          </a:prstGeom>
          <a:noFill/>
        </p:spPr>
        <p:txBody>
          <a:bodyPr wrap="square">
            <a:spAutoFit/>
          </a:bodyPr>
          <a:lstStyle/>
          <a:p>
            <a:pPr>
              <a:spcAft>
                <a:spcPts val="1200"/>
              </a:spcAft>
            </a:pPr>
            <a:r>
              <a:rPr sz="2400" b="1">
                <a:solidFill>
                  <a:srgbClr val="183B50"/>
                </a:solidFill>
                <a:latin typeface="Times New Roman"/>
              </a:rPr>
              <a:t>E3–E5 · STFT C × 32 × 32</a:t>
            </a:r>
          </a:p>
        </p:txBody>
      </p:sp>
      <p:sp>
        <p:nvSpPr>
          <p:cNvPr id="10" name="TextBox 9"/>
          <p:cNvSpPr txBox="1"/>
          <p:nvPr/>
        </p:nvSpPr>
        <p:spPr>
          <a:xfrm>
            <a:off x="5623560" y="3639312"/>
            <a:ext cx="5897880" cy="1325880"/>
          </a:xfrm>
          <a:prstGeom prst="rect">
            <a:avLst/>
          </a:prstGeom>
          <a:noFill/>
        </p:spPr>
        <p:txBody>
          <a:bodyPr wrap="square">
            <a:spAutoFit/>
          </a:bodyPr>
          <a:lstStyle/>
          <a:p>
            <a:pPr>
              <a:spcAft>
                <a:spcPts val="1200"/>
              </a:spcAft>
            </a:pPr>
            <a:r>
              <a:rPr sz="2200" b="0">
                <a:solidFill>
                  <a:srgbClr val="183B50"/>
                </a:solidFill>
                <a:latin typeface="Times New Roman"/>
              </a:rPr>
              <a:t>Conv 2-D: C → 8 → 16 → 24 kênh.</a:t>
            </a:r>
          </a:p>
          <a:p>
            <a:pPr>
              <a:spcAft>
                <a:spcPts val="1200"/>
              </a:spcAft>
            </a:pPr>
            <a:r>
              <a:rPr sz="2200" b="0">
                <a:solidFill>
                  <a:srgbClr val="183B50"/>
                </a:solidFill>
                <a:latin typeface="Times New Roman"/>
              </a:rPr>
              <a:t>Pooling: 32 × 32 → 16 × 16 → 8 × 8 → 2 × 2.</a:t>
            </a:r>
          </a:p>
          <a:p>
            <a:pPr>
              <a:spcAft>
                <a:spcPts val="1200"/>
              </a:spcAft>
            </a:pPr>
            <a:r>
              <a:rPr sz="2200" b="0">
                <a:solidFill>
                  <a:srgbClr val="183B50"/>
                </a:solidFill>
                <a:latin typeface="Times New Roman"/>
              </a:rPr>
              <a:t>Flatten: 24 × 2 × 2 = 96 giá trị.</a:t>
            </a:r>
          </a:p>
        </p:txBody>
      </p:sp>
      <p:sp>
        <p:nvSpPr>
          <p:cNvPr id="11" name="TextBox 10"/>
          <p:cNvSpPr txBox="1"/>
          <p:nvPr/>
        </p:nvSpPr>
        <p:spPr>
          <a:xfrm>
            <a:off x="5623560" y="5175504"/>
            <a:ext cx="5897880" cy="868680"/>
          </a:xfrm>
          <a:prstGeom prst="rect">
            <a:avLst/>
          </a:prstGeom>
          <a:noFill/>
        </p:spPr>
        <p:txBody>
          <a:bodyPr wrap="square">
            <a:spAutoFit/>
          </a:bodyPr>
          <a:lstStyle/>
          <a:p>
            <a:pPr>
              <a:spcAft>
                <a:spcPts val="1200"/>
              </a:spcAft>
            </a:pPr>
            <a:r>
              <a:rPr sz="2100" b="0">
                <a:solidFill>
                  <a:srgbClr val="183B50"/>
                </a:solidFill>
                <a:latin typeface="Times New Roman"/>
              </a:rPr>
              <a:t>E3: C = 4 (PPG + ACC).</a:t>
            </a:r>
          </a:p>
          <a:p>
            <a:pPr>
              <a:spcAft>
                <a:spcPts val="1200"/>
              </a:spcAft>
            </a:pPr>
            <a:r>
              <a:rPr sz="2100" b="0">
                <a:solidFill>
                  <a:srgbClr val="183B50"/>
                </a:solidFill>
                <a:latin typeface="Times New Roman"/>
              </a:rPr>
              <a:t>E4: C = 3 (ACC); E5: C = 1 (PPG).</a:t>
            </a:r>
          </a:p>
          <a:p>
            <a:pPr>
              <a:spcAft>
                <a:spcPts val="1200"/>
              </a:spcAft>
            </a:pPr>
            <a:r>
              <a:rPr sz="2100" b="0">
                <a:solidFill>
                  <a:srgbClr val="183B50"/>
                </a:solidFill>
                <a:latin typeface="Times New Roman"/>
              </a:rPr>
              <a:t>Đầu ra: 8 logits, mỗi giá trị ứng với một nhãn.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E6: MultiKernel 1-D</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10 / 23</a:t>
            </a:r>
          </a:p>
        </p:txBody>
      </p:sp>
      <p:pic>
        <p:nvPicPr>
          <p:cNvPr id="6" name="Original E6 architecture diagram" descr="image.png"/>
          <p:cNvPicPr>
            <a:picLocks noChangeAspect="1"/>
          </p:cNvPicPr>
          <p:nvPr/>
        </p:nvPicPr>
        <p:blipFill>
          <a:blip r:embed="rId3"/>
          <a:stretch>
            <a:fillRect/>
          </a:stretch>
        </p:blipFill>
        <p:spPr>
          <a:xfrm>
            <a:off x="1726727" y="1051560"/>
            <a:ext cx="3953185" cy="4636008"/>
          </a:xfrm>
          <a:prstGeom prst="rect">
            <a:avLst/>
          </a:prstGeom>
        </p:spPr>
      </p:pic>
      <p:sp>
        <p:nvSpPr>
          <p:cNvPr id="7" name="TextBox 6"/>
          <p:cNvSpPr txBox="1"/>
          <p:nvPr/>
        </p:nvSpPr>
        <p:spPr>
          <a:xfrm>
            <a:off x="7040880" y="1417320"/>
            <a:ext cx="4526280" cy="411480"/>
          </a:xfrm>
          <a:prstGeom prst="rect">
            <a:avLst/>
          </a:prstGeom>
          <a:noFill/>
        </p:spPr>
        <p:txBody>
          <a:bodyPr wrap="square" lIns="0" rIns="0" tIns="0" bIns="0">
            <a:spAutoFit/>
          </a:bodyPr>
          <a:lstStyle/>
          <a:p>
            <a:pPr algn="l">
              <a:spcAft>
                <a:spcPts val="600"/>
              </a:spcAft>
            </a:pPr>
            <a:r>
              <a:rPr sz="2500" b="1">
                <a:solidFill>
                  <a:srgbClr val="2879D8"/>
                </a:solidFill>
                <a:latin typeface="Times New Roman"/>
              </a:rPr>
              <a:t>MultiKernel block</a:t>
            </a:r>
          </a:p>
        </p:txBody>
      </p:sp>
      <p:sp>
        <p:nvSpPr>
          <p:cNvPr id="8" name="TextBox 7"/>
          <p:cNvSpPr txBox="1"/>
          <p:nvPr/>
        </p:nvSpPr>
        <p:spPr>
          <a:xfrm>
            <a:off x="7040880" y="2029968"/>
            <a:ext cx="4480560" cy="2560320"/>
          </a:xfrm>
          <a:prstGeom prst="rect">
            <a:avLst/>
          </a:prstGeom>
          <a:noFill/>
        </p:spPr>
        <p:txBody>
          <a:bodyPr wrap="square" lIns="0" rIns="0" tIns="0" bIns="0">
            <a:spAutoFit/>
          </a:bodyPr>
          <a:lstStyle/>
          <a:p>
            <a:pPr algn="l">
              <a:spcAft>
                <a:spcPts val="600"/>
              </a:spcAft>
            </a:pPr>
            <a:r>
              <a:rPr sz="2200" b="0">
                <a:solidFill>
                  <a:srgbClr val="19364D"/>
                </a:solidFill>
                <a:latin typeface="Times New Roman"/>
              </a:rPr>
              <a:t>Ba nhánh Conv có kernel 3, 5 và 7.</a:t>
            </a:r>
          </a:p>
          <a:p>
            <a:pPr algn="l">
              <a:spcAft>
                <a:spcPts val="600"/>
              </a:spcAft>
            </a:pPr>
            <a:r>
              <a:rPr sz="2200" b="0">
                <a:solidFill>
                  <a:srgbClr val="19364D"/>
                </a:solidFill>
                <a:latin typeface="Times New Roman"/>
              </a:rPr>
              <a:t>Mỗi nhánh: Conv 1×1 (24→8), rồi Conv 8→8.</a:t>
            </a:r>
          </a:p>
          <a:p>
            <a:pPr algn="l">
              <a:spcAft>
                <a:spcPts val="600"/>
              </a:spcAft>
            </a:pPr>
            <a:r>
              <a:rPr sz="2200" b="0">
                <a:solidFill>
                  <a:srgbClr val="19364D"/>
                </a:solidFill>
                <a:latin typeface="Times New Roman"/>
              </a:rPr>
              <a:t>Concat: 8 + 8 + 8 = 24 kênh.</a:t>
            </a:r>
          </a:p>
          <a:p>
            <a:pPr algn="l">
              <a:spcAft>
                <a:spcPts val="600"/>
              </a:spcAft>
            </a:pPr>
            <a:r>
              <a:rPr sz="2200" b="0">
                <a:solidFill>
                  <a:srgbClr val="19364D"/>
                </a:solidFill>
                <a:latin typeface="Times New Roman"/>
              </a:rPr>
              <a:t>Conv 1×1 (24→24) → BN.</a:t>
            </a:r>
          </a:p>
          <a:p>
            <a:pPr algn="l">
              <a:spcAft>
                <a:spcPts val="600"/>
              </a:spcAft>
            </a:pPr>
            <a:r>
              <a:rPr sz="2200" b="0">
                <a:solidFill>
                  <a:srgbClr val="19364D"/>
                </a:solidFill>
                <a:latin typeface="Times New Roman"/>
              </a:rPr>
              <a:t>Cộng residual X + F(X) → ELU.</a:t>
            </a:r>
          </a:p>
          <a:p>
            <a:pPr algn="l">
              <a:spcAft>
                <a:spcPts val="600"/>
              </a:spcAft>
            </a:pPr>
            <a:r>
              <a:rPr sz="2200" b="0">
                <a:solidFill>
                  <a:srgbClr val="19364D"/>
                </a:solidFill>
                <a:latin typeface="Times New Roman"/>
              </a:rPr>
              <a:t>MaxPool giảm độ dài giữa các block.</a:t>
            </a:r>
          </a:p>
        </p:txBody>
      </p:sp>
      <p:sp>
        <p:nvSpPr>
          <p:cNvPr id="9" name="TextBox 8"/>
          <p:cNvSpPr txBox="1"/>
          <p:nvPr/>
        </p:nvSpPr>
        <p:spPr>
          <a:xfrm>
            <a:off x="7040880" y="4754880"/>
            <a:ext cx="4480560" cy="594360"/>
          </a:xfrm>
          <a:prstGeom prst="rect">
            <a:avLst/>
          </a:prstGeom>
          <a:noFill/>
        </p:spPr>
        <p:txBody>
          <a:bodyPr wrap="square" lIns="0" rIns="0" tIns="0" bIns="0">
            <a:spAutoFit/>
          </a:bodyPr>
          <a:lstStyle/>
          <a:p>
            <a:pPr algn="l">
              <a:spcAft>
                <a:spcPts val="600"/>
              </a:spcAft>
            </a:pPr>
            <a:r>
              <a:rPr sz="2200" b="1">
                <a:solidFill>
                  <a:srgbClr val="19364D"/>
                </a:solidFill>
                <a:latin typeface="Times New Roman"/>
              </a:rPr>
              <a:t>7.688 tham số</a:t>
            </a:r>
          </a:p>
          <a:p>
            <a:pPr algn="l">
              <a:spcAft>
                <a:spcPts val="600"/>
              </a:spcAft>
            </a:pPr>
            <a:r>
              <a:rPr sz="2200" b="1">
                <a:solidFill>
                  <a:srgbClr val="19364D"/>
                </a:solidFill>
                <a:latin typeface="Times New Roman"/>
              </a:rPr>
              <a:t>645.312 MACs/cửa sổ</a:t>
            </a:r>
          </a:p>
        </p:txBody>
      </p:sp>
      <p:sp>
        <p:nvSpPr>
          <p:cNvPr id="10" name="TextBox 9"/>
          <p:cNvSpPr txBox="1"/>
          <p:nvPr/>
        </p:nvSpPr>
        <p:spPr>
          <a:xfrm>
            <a:off x="822960" y="5788152"/>
            <a:ext cx="2103120" cy="274320"/>
          </a:xfrm>
          <a:prstGeom prst="rect">
            <a:avLst/>
          </a:prstGeom>
          <a:noFill/>
        </p:spPr>
        <p:txBody>
          <a:bodyPr wrap="square" lIns="0" rIns="0" tIns="0" bIns="0">
            <a:spAutoFit/>
          </a:bodyPr>
          <a:lstStyle/>
          <a:p>
            <a:pPr algn="l">
              <a:spcAft>
                <a:spcPts val="600"/>
              </a:spcAft>
            </a:pPr>
            <a:r>
              <a:rPr sz="1800" b="1">
                <a:solidFill>
                  <a:srgbClr val="19364D"/>
                </a:solidFill>
                <a:latin typeface="Times New Roman"/>
              </a:rPr>
              <a:t>Mixup (chỉ Train):</a:t>
            </a:r>
          </a:p>
        </p:txBody>
      </p:sp>
      <p:pic>
        <p:nvPicPr>
          <p:cNvPr id="11" name="Report equation 05" descr="equation_05.png"/>
          <p:cNvPicPr>
            <a:picLocks noChangeAspect="1"/>
          </p:cNvPicPr>
          <p:nvPr/>
        </p:nvPicPr>
        <p:blipFill>
          <a:blip r:embed="rId4"/>
          <a:stretch>
            <a:fillRect/>
          </a:stretch>
        </p:blipFill>
        <p:spPr>
          <a:xfrm>
            <a:off x="2852928" y="5850113"/>
            <a:ext cx="8759952" cy="3241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Huấn luyện và chọn checkpoint</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11 / 23</a:t>
            </a:r>
          </a:p>
        </p:txBody>
      </p:sp>
      <p:sp>
        <p:nvSpPr>
          <p:cNvPr id="6" name="Rounded Rectangle 5"/>
          <p:cNvSpPr/>
          <p:nvPr/>
        </p:nvSpPr>
        <p:spPr>
          <a:xfrm>
            <a:off x="594360" y="1508760"/>
            <a:ext cx="5349240" cy="3355848"/>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45919"/>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E2–E5</a:t>
            </a:r>
          </a:p>
        </p:txBody>
      </p:sp>
      <p:sp>
        <p:nvSpPr>
          <p:cNvPr id="8" name="TextBox 7"/>
          <p:cNvSpPr txBox="1"/>
          <p:nvPr/>
        </p:nvSpPr>
        <p:spPr>
          <a:xfrm>
            <a:off x="795528" y="2221991"/>
            <a:ext cx="4946903" cy="2596896"/>
          </a:xfrm>
          <a:prstGeom prst="rect">
            <a:avLst/>
          </a:prstGeom>
          <a:noFill/>
        </p:spPr>
        <p:txBody>
          <a:bodyPr wrap="square" lIns="18288" rIns="18288" tIns="18288" bIns="0">
            <a:spAutoFit/>
          </a:bodyPr>
          <a:lstStyle/>
          <a:p>
            <a:pPr algn="l">
              <a:spcAft>
                <a:spcPts val="600"/>
              </a:spcAft>
            </a:pPr>
            <a:r>
              <a:rPr sz="2100" b="0">
                <a:solidFill>
                  <a:srgbClr val="223544"/>
                </a:solidFill>
                <a:latin typeface="Times New Roman"/>
              </a:rPr>
              <a:t>Seed: 42, 2026, 3407.</a:t>
            </a:r>
          </a:p>
          <a:p>
            <a:pPr algn="l">
              <a:spcAft>
                <a:spcPts val="600"/>
              </a:spcAft>
            </a:pPr>
            <a:r>
              <a:rPr sz="2100" b="0">
                <a:solidFill>
                  <a:srgbClr val="223544"/>
                </a:solidFill>
                <a:latin typeface="Times New Roman"/>
              </a:rPr>
              <a:t>Adam: learning rate 0,001.</a:t>
            </a:r>
          </a:p>
          <a:p>
            <a:pPr algn="l">
              <a:spcAft>
                <a:spcPts val="600"/>
              </a:spcAft>
            </a:pPr>
            <a:r>
              <a:rPr sz="2100" b="0">
                <a:solidFill>
                  <a:srgbClr val="223544"/>
                </a:solidFill>
                <a:latin typeface="Times New Roman"/>
              </a:rPr>
              <a:t>Weight decay 0,0001; batch 128.</a:t>
            </a:r>
          </a:p>
          <a:p>
            <a:pPr algn="l">
              <a:spcAft>
                <a:spcPts val="600"/>
              </a:spcAft>
            </a:pPr>
            <a:r>
              <a:rPr sz="2100" b="0">
                <a:solidFill>
                  <a:srgbClr val="223544"/>
                </a:solidFill>
                <a:latin typeface="Times New Roman"/>
              </a:rPr>
              <a:t>Tối đa 50 epoch; patience 8.</a:t>
            </a:r>
          </a:p>
          <a:p>
            <a:pPr algn="l">
              <a:spcAft>
                <a:spcPts val="600"/>
              </a:spcAft>
            </a:pPr>
            <a:r>
              <a:rPr sz="2100" b="0">
                <a:solidFill>
                  <a:srgbClr val="223544"/>
                </a:solidFill>
                <a:latin typeface="Times New Roman"/>
              </a:rPr>
              <a:t>Dùng trọng số lớp để tính loss.</a:t>
            </a:r>
          </a:p>
        </p:txBody>
      </p:sp>
      <p:sp>
        <p:nvSpPr>
          <p:cNvPr id="9" name="Rounded Rectangle 8"/>
          <p:cNvSpPr/>
          <p:nvPr/>
        </p:nvSpPr>
        <p:spPr>
          <a:xfrm>
            <a:off x="6217920" y="1508760"/>
            <a:ext cx="5349240" cy="3355848"/>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45919"/>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E6</a:t>
            </a:r>
          </a:p>
        </p:txBody>
      </p:sp>
      <p:sp>
        <p:nvSpPr>
          <p:cNvPr id="11" name="TextBox 10"/>
          <p:cNvSpPr txBox="1"/>
          <p:nvPr/>
        </p:nvSpPr>
        <p:spPr>
          <a:xfrm>
            <a:off x="6419088" y="2221991"/>
            <a:ext cx="4946903" cy="2596896"/>
          </a:xfrm>
          <a:prstGeom prst="rect">
            <a:avLst/>
          </a:prstGeom>
          <a:noFill/>
        </p:spPr>
        <p:txBody>
          <a:bodyPr wrap="square" lIns="18288" rIns="18288" tIns="18288" bIns="0">
            <a:spAutoFit/>
          </a:bodyPr>
          <a:lstStyle/>
          <a:p>
            <a:pPr algn="l">
              <a:spcAft>
                <a:spcPts val="600"/>
              </a:spcAft>
            </a:pPr>
            <a:r>
              <a:rPr sz="2100" b="0">
                <a:solidFill>
                  <a:srgbClr val="223544"/>
                </a:solidFill>
                <a:latin typeface="Times New Roman"/>
              </a:rPr>
              <a:t>Seed 42; huấn luyện với Mixup.</a:t>
            </a:r>
          </a:p>
          <a:p>
            <a:pPr algn="l">
              <a:spcAft>
                <a:spcPts val="600"/>
              </a:spcAft>
            </a:pPr>
            <a:r>
              <a:rPr sz="2100" b="0">
                <a:solidFill>
                  <a:srgbClr val="223544"/>
                </a:solidFill>
                <a:latin typeface="Times New Roman"/>
              </a:rPr>
              <a:t>Tối đa 100 epoch; patience 20.</a:t>
            </a:r>
          </a:p>
          <a:p>
            <a:pPr algn="l">
              <a:spcAft>
                <a:spcPts val="600"/>
              </a:spcAft>
            </a:pPr>
            <a:r>
              <a:rPr sz="2100" b="0">
                <a:solidFill>
                  <a:srgbClr val="223544"/>
                </a:solidFill>
                <a:latin typeface="Times New Roman"/>
              </a:rPr>
              <a:t>ReduceLROnPlateau:</a:t>
            </a:r>
          </a:p>
          <a:p>
            <a:pPr algn="l">
              <a:spcAft>
                <a:spcPts val="600"/>
              </a:spcAft>
            </a:pPr>
            <a:r>
              <a:rPr sz="2100" b="0">
                <a:solidFill>
                  <a:srgbClr val="223544"/>
                </a:solidFill>
                <a:latin typeface="Times New Roman"/>
              </a:rPr>
              <a:t>factor 0,75; patience 6.</a:t>
            </a:r>
          </a:p>
          <a:p>
            <a:pPr algn="l">
              <a:spcAft>
                <a:spcPts val="600"/>
              </a:spcAft>
            </a:pPr>
            <a:r>
              <a:rPr sz="2100" b="0">
                <a:solidFill>
                  <a:srgbClr val="223544"/>
                </a:solidFill>
                <a:latin typeface="Times New Roman"/>
              </a:rPr>
              <a:t>Learning rate thấp nhất: 0,00001.</a:t>
            </a:r>
          </a:p>
        </p:txBody>
      </p:sp>
      <p:sp>
        <p:nvSpPr>
          <p:cNvPr id="13" name="TextBox 12"/>
          <p:cNvSpPr txBox="1"/>
          <p:nvPr/>
        </p:nvSpPr>
        <p:spPr>
          <a:xfrm>
            <a:off x="731520" y="5001768"/>
            <a:ext cx="2834640" cy="457200"/>
          </a:xfrm>
          <a:prstGeom prst="rect">
            <a:avLst/>
          </a:prstGeom>
          <a:noFill/>
        </p:spPr>
        <p:txBody>
          <a:bodyPr wrap="square" lIns="0" rIns="0" tIns="0" bIns="0">
            <a:spAutoFit/>
          </a:bodyPr>
          <a:lstStyle/>
          <a:p>
            <a:pPr algn="l">
              <a:spcAft>
                <a:spcPts val="600"/>
              </a:spcAft>
            </a:pPr>
            <a:r>
              <a:rPr sz="1900" b="1">
                <a:solidFill>
                  <a:srgbClr val="19364D"/>
                </a:solidFill>
                <a:latin typeface="Times New Roman"/>
              </a:rPr>
              <a:t>Weighted Cross-Entropy:</a:t>
            </a:r>
          </a:p>
        </p:txBody>
      </p:sp>
      <p:pic>
        <p:nvPicPr>
          <p:cNvPr id="14" name="Report equation 04" descr="equation_04.png"/>
          <p:cNvPicPr>
            <a:picLocks noChangeAspect="1"/>
          </p:cNvPicPr>
          <p:nvPr/>
        </p:nvPicPr>
        <p:blipFill>
          <a:blip r:embed="rId3"/>
          <a:stretch>
            <a:fillRect/>
          </a:stretch>
        </p:blipFill>
        <p:spPr>
          <a:xfrm>
            <a:off x="3670272" y="5010912"/>
            <a:ext cx="4688784" cy="777240"/>
          </a:xfrm>
          <a:prstGeom prst="rect">
            <a:avLst/>
          </a:prstGeom>
        </p:spPr>
      </p:pic>
      <p:sp>
        <p:nvSpPr>
          <p:cNvPr id="15" name="TextBox 14"/>
          <p:cNvSpPr txBox="1"/>
          <p:nvPr/>
        </p:nvSpPr>
        <p:spPr>
          <a:xfrm>
            <a:off x="731520" y="5989320"/>
            <a:ext cx="10881360" cy="274320"/>
          </a:xfrm>
          <a:prstGeom prst="rect">
            <a:avLst/>
          </a:prstGeom>
          <a:noFill/>
        </p:spPr>
        <p:txBody>
          <a:bodyPr wrap="square" lIns="0" rIns="0" tIns="0" bIns="0">
            <a:spAutoFit/>
          </a:bodyPr>
          <a:lstStyle/>
          <a:p>
            <a:pPr algn="l">
              <a:spcAft>
                <a:spcPts val="600"/>
              </a:spcAft>
            </a:pPr>
            <a:r>
              <a:rPr sz="2000" b="1">
                <a:solidFill>
                  <a:srgbClr val="19364D"/>
                </a:solidFill>
                <a:latin typeface="Times New Roman"/>
              </a:rPr>
              <a:t>Chọn checkpoint theo trung bình Macro F1 của S11 và S12.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E6: từ logits đến dự đoán sau EMA</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12 / 23</a:t>
            </a:r>
          </a:p>
        </p:txBody>
      </p:sp>
      <p:sp>
        <p:nvSpPr>
          <p:cNvPr id="6" name="Rounded Rectangle 5"/>
          <p:cNvSpPr/>
          <p:nvPr/>
        </p:nvSpPr>
        <p:spPr>
          <a:xfrm>
            <a:off x="640080" y="1600200"/>
            <a:ext cx="1936699" cy="128016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755648"/>
            <a:ext cx="1753819" cy="1060704"/>
          </a:xfrm>
          <a:prstGeom prst="rect">
            <a:avLst/>
          </a:prstGeom>
          <a:noFill/>
        </p:spPr>
        <p:txBody>
          <a:bodyPr wrap="square" lIns="18288" rIns="18288" tIns="18288" bIns="0">
            <a:spAutoFit/>
          </a:bodyPr>
          <a:lstStyle/>
          <a:p>
            <a:pPr algn="ctr">
              <a:spcAft>
                <a:spcPts val="800"/>
              </a:spcAft>
            </a:pPr>
            <a:r>
              <a:rPr sz="2100" b="1">
                <a:solidFill>
                  <a:srgbClr val="216C9A"/>
                </a:solidFill>
                <a:latin typeface="Times New Roman"/>
              </a:rPr>
              <a:t>Logits E6</a:t>
            </a:r>
          </a:p>
        </p:txBody>
      </p:sp>
      <p:sp>
        <p:nvSpPr>
          <p:cNvPr id="8" name="TextBox 7"/>
          <p:cNvSpPr txBox="1"/>
          <p:nvPr/>
        </p:nvSpPr>
        <p:spPr>
          <a:xfrm>
            <a:off x="2576779" y="20391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9" name="Rounded Rectangle 8"/>
          <p:cNvSpPr/>
          <p:nvPr/>
        </p:nvSpPr>
        <p:spPr>
          <a:xfrm>
            <a:off x="2887675" y="1600200"/>
            <a:ext cx="1936699" cy="128016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9115" y="1755648"/>
            <a:ext cx="1753819" cy="1060704"/>
          </a:xfrm>
          <a:prstGeom prst="rect">
            <a:avLst/>
          </a:prstGeom>
          <a:noFill/>
        </p:spPr>
        <p:txBody>
          <a:bodyPr wrap="square" lIns="18288" rIns="18288" tIns="18288" bIns="0">
            <a:spAutoFit/>
          </a:bodyPr>
          <a:lstStyle/>
          <a:p>
            <a:pPr algn="ctr">
              <a:spcAft>
                <a:spcPts val="800"/>
              </a:spcAft>
            </a:pPr>
            <a:r>
              <a:rPr sz="2100" b="1">
                <a:solidFill>
                  <a:srgbClr val="216C9A"/>
                </a:solidFill>
                <a:latin typeface="Times New Roman"/>
              </a:rPr>
              <a:t>Temperature</a:t>
            </a:r>
          </a:p>
          <a:p>
            <a:pPr algn="ctr">
              <a:spcAft>
                <a:spcPts val="800"/>
              </a:spcAft>
            </a:pPr>
            <a:r>
              <a:rPr sz="2100" b="1">
                <a:solidFill>
                  <a:srgbClr val="216C9A"/>
                </a:solidFill>
                <a:latin typeface="Times New Roman"/>
              </a:rPr>
              <a:t>T = 0,809622</a:t>
            </a:r>
          </a:p>
        </p:txBody>
      </p:sp>
      <p:sp>
        <p:nvSpPr>
          <p:cNvPr id="11" name="TextBox 10"/>
          <p:cNvSpPr txBox="1"/>
          <p:nvPr/>
        </p:nvSpPr>
        <p:spPr>
          <a:xfrm>
            <a:off x="4824374" y="20391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2" name="Rounded Rectangle 11"/>
          <p:cNvSpPr/>
          <p:nvPr/>
        </p:nvSpPr>
        <p:spPr>
          <a:xfrm>
            <a:off x="5135270" y="1600200"/>
            <a:ext cx="1936699" cy="128016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26710" y="1755648"/>
            <a:ext cx="1753819" cy="1060704"/>
          </a:xfrm>
          <a:prstGeom prst="rect">
            <a:avLst/>
          </a:prstGeom>
          <a:noFill/>
        </p:spPr>
        <p:txBody>
          <a:bodyPr wrap="square" lIns="18288" rIns="18288" tIns="18288" bIns="0">
            <a:spAutoFit/>
          </a:bodyPr>
          <a:lstStyle/>
          <a:p>
            <a:pPr algn="ctr">
              <a:spcAft>
                <a:spcPts val="800"/>
              </a:spcAft>
            </a:pPr>
            <a:r>
              <a:rPr sz="2100" b="1">
                <a:solidFill>
                  <a:srgbClr val="216C9A"/>
                </a:solidFill>
                <a:latin typeface="Times New Roman"/>
              </a:rPr>
              <a:t>Softmax</a:t>
            </a:r>
          </a:p>
          <a:p>
            <a:pPr algn="ctr">
              <a:spcAft>
                <a:spcPts val="800"/>
              </a:spcAft>
            </a:pPr>
            <a:r>
              <a:rPr sz="2100" b="1">
                <a:solidFill>
                  <a:srgbClr val="216C9A"/>
                </a:solidFill>
                <a:latin typeface="Times New Roman"/>
              </a:rPr>
              <a:t>xác suất 8 lớp</a:t>
            </a:r>
          </a:p>
        </p:txBody>
      </p:sp>
      <p:sp>
        <p:nvSpPr>
          <p:cNvPr id="14" name="TextBox 13"/>
          <p:cNvSpPr txBox="1"/>
          <p:nvPr/>
        </p:nvSpPr>
        <p:spPr>
          <a:xfrm>
            <a:off x="7071969" y="20391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5" name="Rounded Rectangle 14"/>
          <p:cNvSpPr/>
          <p:nvPr/>
        </p:nvSpPr>
        <p:spPr>
          <a:xfrm>
            <a:off x="7382865" y="1600200"/>
            <a:ext cx="1936699" cy="128016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74305" y="1755648"/>
            <a:ext cx="1753819" cy="1060704"/>
          </a:xfrm>
          <a:prstGeom prst="rect">
            <a:avLst/>
          </a:prstGeom>
          <a:noFill/>
        </p:spPr>
        <p:txBody>
          <a:bodyPr wrap="square" lIns="18288" rIns="18288" tIns="18288" bIns="0">
            <a:spAutoFit/>
          </a:bodyPr>
          <a:lstStyle/>
          <a:p>
            <a:pPr algn="ctr">
              <a:spcAft>
                <a:spcPts val="800"/>
              </a:spcAft>
            </a:pPr>
            <a:r>
              <a:rPr sz="2100" b="1">
                <a:solidFill>
                  <a:srgbClr val="216C9A"/>
                </a:solidFill>
                <a:latin typeface="Times New Roman"/>
              </a:rPr>
              <a:t>EMA</a:t>
            </a:r>
          </a:p>
          <a:p>
            <a:pPr algn="ctr">
              <a:spcAft>
                <a:spcPts val="800"/>
              </a:spcAft>
            </a:pPr>
            <a:r>
              <a:rPr sz="2100" b="1">
                <a:solidFill>
                  <a:srgbClr val="216C9A"/>
                </a:solidFill>
                <a:latin typeface="Times New Roman"/>
              </a:rPr>
              <a:t>hệ số 0,35</a:t>
            </a:r>
          </a:p>
        </p:txBody>
      </p:sp>
      <p:sp>
        <p:nvSpPr>
          <p:cNvPr id="17" name="TextBox 16"/>
          <p:cNvSpPr txBox="1"/>
          <p:nvPr/>
        </p:nvSpPr>
        <p:spPr>
          <a:xfrm>
            <a:off x="9319564" y="20391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8" name="Rounded Rectangle 17"/>
          <p:cNvSpPr/>
          <p:nvPr/>
        </p:nvSpPr>
        <p:spPr>
          <a:xfrm>
            <a:off x="9630460" y="1600200"/>
            <a:ext cx="1936699" cy="128016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21900" y="1755648"/>
            <a:ext cx="1753819" cy="1060704"/>
          </a:xfrm>
          <a:prstGeom prst="rect">
            <a:avLst/>
          </a:prstGeom>
          <a:noFill/>
        </p:spPr>
        <p:txBody>
          <a:bodyPr wrap="square" lIns="18288" rIns="18288" tIns="18288" bIns="0">
            <a:spAutoFit/>
          </a:bodyPr>
          <a:lstStyle/>
          <a:p>
            <a:pPr algn="ctr">
              <a:spcAft>
                <a:spcPts val="800"/>
              </a:spcAft>
            </a:pPr>
            <a:r>
              <a:rPr sz="2100" b="1">
                <a:solidFill>
                  <a:srgbClr val="216C9A"/>
                </a:solidFill>
                <a:latin typeface="Times New Roman"/>
              </a:rPr>
              <a:t>Argmax</a:t>
            </a:r>
          </a:p>
          <a:p>
            <a:pPr algn="ctr">
              <a:spcAft>
                <a:spcPts val="800"/>
              </a:spcAft>
            </a:pPr>
            <a:r>
              <a:rPr sz="2100" b="1">
                <a:solidFill>
                  <a:srgbClr val="216C9A"/>
                </a:solidFill>
                <a:latin typeface="Times New Roman"/>
              </a:rPr>
              <a:t>nhãn dự đoán</a:t>
            </a:r>
          </a:p>
        </p:txBody>
      </p:sp>
      <p:sp>
        <p:nvSpPr>
          <p:cNvPr id="20" name="TextBox 19"/>
          <p:cNvSpPr txBox="1"/>
          <p:nvPr/>
        </p:nvSpPr>
        <p:spPr>
          <a:xfrm>
            <a:off x="777240" y="2971800"/>
            <a:ext cx="10698480" cy="932688"/>
          </a:xfrm>
          <a:prstGeom prst="rect">
            <a:avLst/>
          </a:prstGeom>
          <a:noFill/>
        </p:spPr>
        <p:txBody>
          <a:bodyPr wrap="square" lIns="18288" rIns="18288" tIns="18288" bIns="0">
            <a:spAutoFit/>
          </a:bodyPr>
          <a:lstStyle/>
          <a:p>
            <a:pPr algn="l">
              <a:spcAft>
                <a:spcPts val="800"/>
              </a:spcAft>
            </a:pPr>
            <a:r>
              <a:rPr sz="2100" b="0">
                <a:solidFill>
                  <a:srgbClr val="223544"/>
                </a:solidFill>
                <a:latin typeface="Times New Roman"/>
              </a:rPr>
              <a:t>Temperature chọn trên S11; hệ số EMA chọn trên S12.</a:t>
            </a:r>
          </a:p>
          <a:p>
            <a:pPr algn="l">
              <a:spcAft>
                <a:spcPts val="800"/>
              </a:spcAft>
            </a:pPr>
            <a:r>
              <a:rPr sz="2100" b="0">
                <a:solidFill>
                  <a:srgbClr val="223544"/>
                </a:solidFill>
                <a:latin typeface="Times New Roman"/>
              </a:rPr>
              <a:t>EMA dùng xác suất hiện tại và trạng thái từ cửa sổ trước.</a:t>
            </a:r>
          </a:p>
          <a:p>
            <a:pPr algn="l">
              <a:spcAft>
                <a:spcPts val="800"/>
              </a:spcAft>
            </a:pPr>
            <a:r>
              <a:rPr sz="2100" b="0">
                <a:solidFill>
                  <a:srgbClr val="223544"/>
                </a:solidFill>
                <a:latin typeface="Times New Roman"/>
              </a:rPr>
              <a:t>Reset khi đổi phiên, tín hiệu gián đoạn hoặc đầu vào không hợp lệ.</a:t>
            </a:r>
          </a:p>
        </p:txBody>
      </p:sp>
      <p:graphicFrame>
        <p:nvGraphicFramePr>
          <p:cNvPr id="21" name="Table 20"/>
          <p:cNvGraphicFramePr>
            <a:graphicFrameLocks noGrp="1"/>
          </p:cNvGraphicFramePr>
          <p:nvPr/>
        </p:nvGraphicFramePr>
        <p:xfrm>
          <a:off x="777240" y="5166360"/>
          <a:ext cx="10652760" cy="1133856"/>
        </p:xfrm>
        <a:graphic>
          <a:graphicData uri="http://schemas.openxmlformats.org/drawingml/2006/table">
            <a:tbl>
              <a:tblPr firstRow="1" bandRow="1">
                <a:tableStyleId>{5C22544A-7EE6-4342-B048-85BDC9FD1C3A}</a:tableStyleId>
              </a:tblPr>
              <a:tblGrid>
                <a:gridCol w="5029200"/>
                <a:gridCol w="2743200"/>
                <a:gridCol w="2880360"/>
              </a:tblGrid>
              <a:tr h="377952">
                <a:tc>
                  <a:txBody>
                    <a:bodyPr/>
                    <a:lstStyle/>
                    <a:p>
                      <a:r>
                        <a:rPr sz="2000" b="1">
                          <a:solidFill>
                            <a:srgbClr val="FFFFFF"/>
                          </a:solidFill>
                          <a:latin typeface="Times New Roman"/>
                        </a:rPr>
                        <a:t>Cùng checkpoint E6</a:t>
                      </a:r>
                    </a:p>
                  </a:txBody>
                  <a:tcPr marL="109728" marR="91440" marT="73152" marB="54864" anchor="ctr">
                    <a:solidFill>
                      <a:srgbClr val="19364D"/>
                    </a:solidFill>
                  </a:tcPr>
                </a:tc>
                <a:tc>
                  <a:txBody>
                    <a:bodyPr/>
                    <a:lstStyle/>
                    <a:p>
                      <a:r>
                        <a:rPr sz="2000" b="1">
                          <a:solidFill>
                            <a:srgbClr val="FFFFFF"/>
                          </a:solidFill>
                          <a:latin typeface="Times New Roman"/>
                        </a:rPr>
                        <a:t>Accuracy (%)</a:t>
                      </a:r>
                    </a:p>
                  </a:txBody>
                  <a:tcPr marL="109728" marR="91440" marT="73152" marB="54864" anchor="ctr">
                    <a:solidFill>
                      <a:srgbClr val="19364D"/>
                    </a:solidFill>
                  </a:tcPr>
                </a:tc>
                <a:tc>
                  <a:txBody>
                    <a:bodyPr/>
                    <a:lstStyle/>
                    <a:p>
                      <a:r>
                        <a:rPr sz="2000" b="1">
                          <a:solidFill>
                            <a:srgbClr val="FFFFFF"/>
                          </a:solidFill>
                          <a:latin typeface="Times New Roman"/>
                        </a:rPr>
                        <a:t>Macro F1 (%)</a:t>
                      </a:r>
                    </a:p>
                  </a:txBody>
                  <a:tcPr marL="109728" marR="91440" marT="73152" marB="54864" anchor="ctr">
                    <a:solidFill>
                      <a:srgbClr val="19364D"/>
                    </a:solidFill>
                  </a:tcPr>
                </a:tc>
              </a:tr>
              <a:tr h="377952">
                <a:tc>
                  <a:txBody>
                    <a:bodyPr/>
                    <a:lstStyle/>
                    <a:p>
                      <a:r>
                        <a:rPr sz="2000" b="0">
                          <a:solidFill>
                            <a:srgbClr val="223544"/>
                          </a:solidFill>
                          <a:latin typeface="Times New Roman"/>
                        </a:rPr>
                        <a:t>Trước EMA</a:t>
                      </a:r>
                    </a:p>
                  </a:txBody>
                  <a:tcPr marL="109728" marR="91440" marT="73152" marB="54864" anchor="ctr">
                    <a:solidFill>
                      <a:srgbClr val="FFFFFF"/>
                    </a:solidFill>
                  </a:tcPr>
                </a:tc>
                <a:tc>
                  <a:txBody>
                    <a:bodyPr/>
                    <a:lstStyle/>
                    <a:p>
                      <a:r>
                        <a:rPr sz="2000" b="0">
                          <a:solidFill>
                            <a:srgbClr val="223544"/>
                          </a:solidFill>
                          <a:latin typeface="Times New Roman"/>
                        </a:rPr>
                        <a:t>79,82</a:t>
                      </a:r>
                    </a:p>
                  </a:txBody>
                  <a:tcPr marL="109728" marR="91440" marT="73152" marB="54864" anchor="ctr">
                    <a:solidFill>
                      <a:srgbClr val="FFFFFF"/>
                    </a:solidFill>
                  </a:tcPr>
                </a:tc>
                <a:tc>
                  <a:txBody>
                    <a:bodyPr/>
                    <a:lstStyle/>
                    <a:p>
                      <a:r>
                        <a:rPr sz="2000" b="0">
                          <a:solidFill>
                            <a:srgbClr val="223544"/>
                          </a:solidFill>
                          <a:latin typeface="Times New Roman"/>
                        </a:rPr>
                        <a:t>83,50</a:t>
                      </a:r>
                    </a:p>
                  </a:txBody>
                  <a:tcPr marL="109728" marR="91440" marT="73152" marB="54864" anchor="ctr">
                    <a:solidFill>
                      <a:srgbClr val="FFFFFF"/>
                    </a:solidFill>
                  </a:tcPr>
                </a:tc>
              </a:tr>
              <a:tr h="377952">
                <a:tc>
                  <a:txBody>
                    <a:bodyPr/>
                    <a:lstStyle/>
                    <a:p>
                      <a:r>
                        <a:rPr sz="2000" b="0">
                          <a:solidFill>
                            <a:srgbClr val="223544"/>
                          </a:solidFill>
                          <a:latin typeface="Times New Roman"/>
                        </a:rPr>
                        <a:t>Sau EMA</a:t>
                      </a:r>
                    </a:p>
                  </a:txBody>
                  <a:tcPr marL="109728" marR="91440" marT="73152" marB="54864" anchor="ctr">
                    <a:solidFill>
                      <a:srgbClr val="EEF4F8"/>
                    </a:solidFill>
                  </a:tcPr>
                </a:tc>
                <a:tc>
                  <a:txBody>
                    <a:bodyPr/>
                    <a:lstStyle/>
                    <a:p>
                      <a:r>
                        <a:rPr sz="2000" b="0">
                          <a:solidFill>
                            <a:srgbClr val="223544"/>
                          </a:solidFill>
                          <a:latin typeface="Times New Roman"/>
                        </a:rPr>
                        <a:t>81,46</a:t>
                      </a:r>
                    </a:p>
                  </a:txBody>
                  <a:tcPr marL="109728" marR="91440" marT="73152" marB="54864" anchor="ctr">
                    <a:solidFill>
                      <a:srgbClr val="EEF4F8"/>
                    </a:solidFill>
                  </a:tcPr>
                </a:tc>
                <a:tc>
                  <a:txBody>
                    <a:bodyPr/>
                    <a:lstStyle/>
                    <a:p>
                      <a:r>
                        <a:rPr sz="2000" b="0">
                          <a:solidFill>
                            <a:srgbClr val="223544"/>
                          </a:solidFill>
                          <a:latin typeface="Times New Roman"/>
                        </a:rPr>
                        <a:t>85,31</a:t>
                      </a:r>
                    </a:p>
                  </a:txBody>
                  <a:tcPr marL="109728" marR="91440" marT="73152" marB="54864" anchor="ctr">
                    <a:solidFill>
                      <a:srgbClr val="EEF4F8"/>
                    </a:solidFill>
                  </a:tcPr>
                </a:tc>
              </a:tr>
            </a:tbl>
          </a:graphicData>
        </a:graphic>
      </p:graphicFrame>
      <p:pic>
        <p:nvPicPr>
          <p:cNvPr id="22" name="Report equation 06" descr="equation_06.png"/>
          <p:cNvPicPr>
            <a:picLocks noChangeAspect="1"/>
          </p:cNvPicPr>
          <p:nvPr/>
        </p:nvPicPr>
        <p:blipFill>
          <a:blip r:embed="rId3"/>
          <a:stretch>
            <a:fillRect/>
          </a:stretch>
        </p:blipFill>
        <p:spPr>
          <a:xfrm>
            <a:off x="731520" y="4276060"/>
            <a:ext cx="10744200" cy="5644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Các chỉ số đánh giá phân loại</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13 / 23</a:t>
            </a:r>
          </a:p>
        </p:txBody>
      </p:sp>
      <p:sp>
        <p:nvSpPr>
          <p:cNvPr id="6" name="TextBox 5"/>
          <p:cNvSpPr txBox="1"/>
          <p:nvPr/>
        </p:nvSpPr>
        <p:spPr>
          <a:xfrm>
            <a:off x="685800" y="1371600"/>
            <a:ext cx="5212080" cy="365760"/>
          </a:xfrm>
          <a:prstGeom prst="rect">
            <a:avLst/>
          </a:prstGeom>
          <a:noFill/>
        </p:spPr>
        <p:txBody>
          <a:bodyPr wrap="square" lIns="0" rIns="0" tIns="0" bIns="0">
            <a:spAutoFit/>
          </a:bodyPr>
          <a:lstStyle/>
          <a:p>
            <a:pPr algn="l">
              <a:spcAft>
                <a:spcPts val="600"/>
              </a:spcAft>
            </a:pPr>
            <a:r>
              <a:rPr sz="2400" b="1">
                <a:solidFill>
                  <a:srgbClr val="2879D8"/>
                </a:solidFill>
                <a:latin typeface="Times New Roman"/>
              </a:rPr>
              <a:t>Theo từng lớp</a:t>
            </a:r>
          </a:p>
        </p:txBody>
      </p:sp>
      <p:sp>
        <p:nvSpPr>
          <p:cNvPr id="7" name="TextBox 6"/>
          <p:cNvSpPr txBox="1"/>
          <p:nvPr/>
        </p:nvSpPr>
        <p:spPr>
          <a:xfrm>
            <a:off x="685800" y="1865376"/>
            <a:ext cx="5212080" cy="1828800"/>
          </a:xfrm>
          <a:prstGeom prst="rect">
            <a:avLst/>
          </a:prstGeom>
          <a:noFill/>
        </p:spPr>
        <p:txBody>
          <a:bodyPr wrap="square" lIns="0" rIns="0" tIns="0" bIns="0">
            <a:spAutoFit/>
          </a:bodyPr>
          <a:lstStyle/>
          <a:p>
            <a:pPr algn="l">
              <a:spcAft>
                <a:spcPts val="600"/>
              </a:spcAft>
            </a:pPr>
            <a:r>
              <a:rPr sz="2100" b="0">
                <a:solidFill>
                  <a:srgbClr val="19364D"/>
                </a:solidFill>
                <a:latin typeface="Times New Roman"/>
              </a:rPr>
              <a:t>Accuracy: tỷ lệ dự đoán đúng.</a:t>
            </a:r>
          </a:p>
          <a:p>
            <a:pPr algn="l">
              <a:spcAft>
                <a:spcPts val="600"/>
              </a:spcAft>
            </a:pPr>
            <a:r>
              <a:rPr sz="2100" b="0">
                <a:solidFill>
                  <a:srgbClr val="19364D"/>
                </a:solidFill>
                <a:latin typeface="Times New Roman"/>
              </a:rPr>
              <a:t>Precision: tỷ lệ đúng trong các mẫu</a:t>
            </a:r>
          </a:p>
          <a:p>
            <a:pPr algn="l">
              <a:spcAft>
                <a:spcPts val="600"/>
              </a:spcAft>
            </a:pPr>
            <a:r>
              <a:rPr sz="2100" b="0">
                <a:solidFill>
                  <a:srgbClr val="19364D"/>
                </a:solidFill>
                <a:latin typeface="Times New Roman"/>
              </a:rPr>
              <a:t>được dự đoán vào lớp.</a:t>
            </a:r>
          </a:p>
          <a:p>
            <a:pPr algn="l">
              <a:spcAft>
                <a:spcPts val="600"/>
              </a:spcAft>
            </a:pPr>
            <a:r>
              <a:rPr sz="2100" b="0">
                <a:solidFill>
                  <a:srgbClr val="19364D"/>
                </a:solidFill>
                <a:latin typeface="Times New Roman"/>
              </a:rPr>
              <a:t>Recall: tỷ lệ nhận đúng các mẫu của lớp.</a:t>
            </a:r>
          </a:p>
          <a:p>
            <a:pPr algn="l">
              <a:spcAft>
                <a:spcPts val="600"/>
              </a:spcAft>
            </a:pPr>
            <a:r>
              <a:rPr sz="2100" b="0">
                <a:solidFill>
                  <a:srgbClr val="19364D"/>
                </a:solidFill>
                <a:latin typeface="Times New Roman"/>
              </a:rPr>
              <a:t>F1: cân bằng Precision và Recall.</a:t>
            </a:r>
          </a:p>
        </p:txBody>
      </p:sp>
      <p:sp>
        <p:nvSpPr>
          <p:cNvPr id="8" name="TextBox 7"/>
          <p:cNvSpPr txBox="1"/>
          <p:nvPr/>
        </p:nvSpPr>
        <p:spPr>
          <a:xfrm>
            <a:off x="6236208" y="1371600"/>
            <a:ext cx="5212080" cy="365760"/>
          </a:xfrm>
          <a:prstGeom prst="rect">
            <a:avLst/>
          </a:prstGeom>
          <a:noFill/>
        </p:spPr>
        <p:txBody>
          <a:bodyPr wrap="square" lIns="0" rIns="0" tIns="0" bIns="0">
            <a:spAutoFit/>
          </a:bodyPr>
          <a:lstStyle/>
          <a:p>
            <a:pPr algn="l">
              <a:spcAft>
                <a:spcPts val="600"/>
              </a:spcAft>
            </a:pPr>
            <a:r>
              <a:rPr sz="2400" b="1">
                <a:solidFill>
                  <a:srgbClr val="2879D8"/>
                </a:solidFill>
                <a:latin typeface="Times New Roman"/>
              </a:rPr>
              <a:t>Tổng hợp kết quả</a:t>
            </a:r>
          </a:p>
        </p:txBody>
      </p:sp>
      <p:sp>
        <p:nvSpPr>
          <p:cNvPr id="9" name="TextBox 8"/>
          <p:cNvSpPr txBox="1"/>
          <p:nvPr/>
        </p:nvSpPr>
        <p:spPr>
          <a:xfrm>
            <a:off x="6236208" y="1865376"/>
            <a:ext cx="5212080" cy="1828800"/>
          </a:xfrm>
          <a:prstGeom prst="rect">
            <a:avLst/>
          </a:prstGeom>
          <a:noFill/>
        </p:spPr>
        <p:txBody>
          <a:bodyPr wrap="square" lIns="0" rIns="0" tIns="0" bIns="0">
            <a:spAutoFit/>
          </a:bodyPr>
          <a:lstStyle/>
          <a:p>
            <a:pPr algn="l">
              <a:spcAft>
                <a:spcPts val="600"/>
              </a:spcAft>
            </a:pPr>
            <a:r>
              <a:rPr sz="2100" b="0">
                <a:solidFill>
                  <a:srgbClr val="19364D"/>
                </a:solidFill>
                <a:latin typeface="Times New Roman"/>
              </a:rPr>
              <a:t>Macro F1: trung bình F1 của 8 lớp.</a:t>
            </a:r>
          </a:p>
          <a:p>
            <a:pPr algn="l">
              <a:spcAft>
                <a:spcPts val="600"/>
              </a:spcAft>
            </a:pPr>
            <a:r>
              <a:rPr sz="2100" b="0">
                <a:solidFill>
                  <a:srgbClr val="19364D"/>
                </a:solidFill>
                <a:latin typeface="Times New Roman"/>
              </a:rPr>
              <a:t>Weighted F1: theo số mẫu từng lớp.</a:t>
            </a:r>
          </a:p>
          <a:p>
            <a:pPr algn="l">
              <a:spcAft>
                <a:spcPts val="600"/>
              </a:spcAft>
            </a:pPr>
            <a:r>
              <a:rPr sz="2100" b="0">
                <a:solidFill>
                  <a:srgbClr val="19364D"/>
                </a:solidFill>
                <a:latin typeface="Times New Roman"/>
              </a:rPr>
              <a:t>E2–E5: trung bình ± độ lệch chuẩn mẫu</a:t>
            </a:r>
          </a:p>
          <a:p>
            <a:pPr algn="l">
              <a:spcAft>
                <a:spcPts val="600"/>
              </a:spcAft>
            </a:pPr>
            <a:r>
              <a:rPr sz="2100" b="0">
                <a:solidFill>
                  <a:srgbClr val="19364D"/>
                </a:solidFill>
                <a:latin typeface="Times New Roman"/>
              </a:rPr>
              <a:t>qua 3 checkpoint. E1/E6/Q1: 1 checkpoint.</a:t>
            </a:r>
          </a:p>
          <a:p>
            <a:pPr algn="l">
              <a:spcAft>
                <a:spcPts val="600"/>
              </a:spcAft>
            </a:pPr>
            <a:r>
              <a:rPr sz="2100" b="0">
                <a:solidFill>
                  <a:srgbClr val="19364D"/>
                </a:solidFill>
                <a:latin typeface="Times New Roman"/>
              </a:rPr>
              <a:t>E6 dùng dự đoán sau EMA.</a:t>
            </a:r>
          </a:p>
        </p:txBody>
      </p:sp>
      <p:pic>
        <p:nvPicPr>
          <p:cNvPr id="10" name="Report equation 08" descr="equation_08.png"/>
          <p:cNvPicPr>
            <a:picLocks noChangeAspect="1"/>
          </p:cNvPicPr>
          <p:nvPr/>
        </p:nvPicPr>
        <p:blipFill>
          <a:blip r:embed="rId3"/>
          <a:stretch>
            <a:fillRect/>
          </a:stretch>
        </p:blipFill>
        <p:spPr>
          <a:xfrm>
            <a:off x="731520" y="4008379"/>
            <a:ext cx="10698480" cy="770625"/>
          </a:xfrm>
          <a:prstGeom prst="rect">
            <a:avLst/>
          </a:prstGeom>
        </p:spPr>
      </p:pic>
      <p:pic>
        <p:nvPicPr>
          <p:cNvPr id="11" name="Report equation 09" descr="equation_09.png"/>
          <p:cNvPicPr>
            <a:picLocks noChangeAspect="1"/>
          </p:cNvPicPr>
          <p:nvPr/>
        </p:nvPicPr>
        <p:blipFill>
          <a:blip r:embed="rId4"/>
          <a:stretch>
            <a:fillRect/>
          </a:stretch>
        </p:blipFill>
        <p:spPr>
          <a:xfrm>
            <a:off x="2725786" y="5093208"/>
            <a:ext cx="6709946" cy="92354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Kết quả trên toàn bộ 9.420 cửa sổ Test</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14 / 23</a:t>
            </a:r>
          </a:p>
        </p:txBody>
      </p:sp>
      <p:graphicFrame>
        <p:nvGraphicFramePr>
          <p:cNvPr id="6" name="Table 5"/>
          <p:cNvGraphicFramePr>
            <a:graphicFrameLocks noGrp="1"/>
          </p:cNvGraphicFramePr>
          <p:nvPr/>
        </p:nvGraphicFramePr>
        <p:xfrm>
          <a:off x="548640" y="1463040"/>
          <a:ext cx="11064240" cy="3611880"/>
        </p:xfrm>
        <a:graphic>
          <a:graphicData uri="http://schemas.openxmlformats.org/drawingml/2006/table">
            <a:tbl>
              <a:tblPr firstRow="1" bandRow="1">
                <a:tableStyleId>{5C22544A-7EE6-4342-B048-85BDC9FD1C3A}</a:tableStyleId>
              </a:tblPr>
              <a:tblGrid>
                <a:gridCol w="777240"/>
                <a:gridCol w="640080"/>
                <a:gridCol w="1920240"/>
                <a:gridCol w="1920240"/>
                <a:gridCol w="1920240"/>
                <a:gridCol w="1920240"/>
                <a:gridCol w="1965960"/>
              </a:tblGrid>
              <a:tr h="451485">
                <a:tc>
                  <a:txBody>
                    <a:bodyPr/>
                    <a:lstStyle/>
                    <a:p>
                      <a:r>
                        <a:rPr sz="1800" b="1">
                          <a:solidFill>
                            <a:srgbClr val="FFFFFF"/>
                          </a:solidFill>
                          <a:latin typeface="Times New Roman"/>
                        </a:rPr>
                        <a:t>Mã</a:t>
                      </a:r>
                    </a:p>
                  </a:txBody>
                  <a:tcPr marL="109728" marR="91440" marT="73152" marB="54864" anchor="ctr">
                    <a:solidFill>
                      <a:srgbClr val="19364D"/>
                    </a:solidFill>
                  </a:tcPr>
                </a:tc>
                <a:tc>
                  <a:txBody>
                    <a:bodyPr/>
                    <a:lstStyle/>
                    <a:p>
                      <a:r>
                        <a:rPr sz="1600" b="1">
                          <a:solidFill>
                            <a:srgbClr val="FFFFFF"/>
                          </a:solidFill>
                          <a:latin typeface="Times New Roman"/>
                        </a:rPr>
                        <a:t>Số</a:t>
                      </a:r>
                    </a:p>
                    <a:p>
                      <a:r>
                        <a:rPr sz="1600" b="1">
                          <a:solidFill>
                            <a:srgbClr val="FFFFFF"/>
                          </a:solidFill>
                          <a:latin typeface="Times New Roman"/>
                        </a:rPr>
                        <a:t>CKPT</a:t>
                      </a:r>
                    </a:p>
                  </a:txBody>
                  <a:tcPr marL="109728" marR="91440" marT="73152" marB="54864" anchor="ctr">
                    <a:solidFill>
                      <a:srgbClr val="19364D"/>
                    </a:solidFill>
                  </a:tcPr>
                </a:tc>
                <a:tc>
                  <a:txBody>
                    <a:bodyPr/>
                    <a:lstStyle/>
                    <a:p>
                      <a:r>
                        <a:rPr sz="1800" b="1">
                          <a:solidFill>
                            <a:srgbClr val="FFFFFF"/>
                          </a:solidFill>
                          <a:latin typeface="Times New Roman"/>
                        </a:rPr>
                        <a:t>Acc (%)</a:t>
                      </a:r>
                    </a:p>
                  </a:txBody>
                  <a:tcPr marL="109728" marR="91440" marT="73152" marB="54864" anchor="ctr">
                    <a:solidFill>
                      <a:srgbClr val="19364D"/>
                    </a:solidFill>
                  </a:tcPr>
                </a:tc>
                <a:tc>
                  <a:txBody>
                    <a:bodyPr/>
                    <a:lstStyle/>
                    <a:p>
                      <a:r>
                        <a:rPr sz="1800" b="1">
                          <a:solidFill>
                            <a:srgbClr val="FFFFFF"/>
                          </a:solidFill>
                          <a:latin typeface="Times New Roman"/>
                        </a:rPr>
                        <a:t>P macro (%)</a:t>
                      </a:r>
                    </a:p>
                  </a:txBody>
                  <a:tcPr marL="109728" marR="91440" marT="73152" marB="54864" anchor="ctr">
                    <a:solidFill>
                      <a:srgbClr val="19364D"/>
                    </a:solidFill>
                  </a:tcPr>
                </a:tc>
                <a:tc>
                  <a:txBody>
                    <a:bodyPr/>
                    <a:lstStyle/>
                    <a:p>
                      <a:r>
                        <a:rPr sz="1800" b="1">
                          <a:solidFill>
                            <a:srgbClr val="FFFFFF"/>
                          </a:solidFill>
                          <a:latin typeface="Times New Roman"/>
                        </a:rPr>
                        <a:t>R macro (%)</a:t>
                      </a:r>
                    </a:p>
                  </a:txBody>
                  <a:tcPr marL="109728" marR="91440" marT="73152" marB="54864" anchor="ctr">
                    <a:solidFill>
                      <a:srgbClr val="19364D"/>
                    </a:solidFill>
                  </a:tcPr>
                </a:tc>
                <a:tc>
                  <a:txBody>
                    <a:bodyPr/>
                    <a:lstStyle/>
                    <a:p>
                      <a:r>
                        <a:rPr sz="1800" b="1">
                          <a:solidFill>
                            <a:srgbClr val="FFFFFF"/>
                          </a:solidFill>
                          <a:latin typeface="Times New Roman"/>
                        </a:rPr>
                        <a:t>F1 macro (%)</a:t>
                      </a:r>
                    </a:p>
                  </a:txBody>
                  <a:tcPr marL="109728" marR="91440" marT="73152" marB="54864" anchor="ctr">
                    <a:solidFill>
                      <a:srgbClr val="19364D"/>
                    </a:solidFill>
                  </a:tcPr>
                </a:tc>
                <a:tc>
                  <a:txBody>
                    <a:bodyPr/>
                    <a:lstStyle/>
                    <a:p>
                      <a:r>
                        <a:rPr sz="1800" b="1">
                          <a:solidFill>
                            <a:srgbClr val="FFFFFF"/>
                          </a:solidFill>
                          <a:latin typeface="Times New Roman"/>
                        </a:rPr>
                        <a:t>F1 weighted (%)</a:t>
                      </a:r>
                    </a:p>
                  </a:txBody>
                  <a:tcPr marL="109728" marR="91440" marT="73152" marB="54864" anchor="ctr">
                    <a:solidFill>
                      <a:srgbClr val="19364D"/>
                    </a:solidFill>
                  </a:tcPr>
                </a:tc>
              </a:tr>
              <a:tr h="451485">
                <a:tc>
                  <a:txBody>
                    <a:bodyPr/>
                    <a:lstStyle/>
                    <a:p>
                      <a:r>
                        <a:rPr sz="1800" b="0">
                          <a:solidFill>
                            <a:srgbClr val="223544"/>
                          </a:solidFill>
                          <a:latin typeface="Times New Roman"/>
                        </a:rPr>
                        <a:t>E1</a:t>
                      </a:r>
                    </a:p>
                  </a:txBody>
                  <a:tcPr marL="109728" marR="91440" marT="73152" marB="54864" anchor="ctr">
                    <a:solidFill>
                      <a:srgbClr val="FFFFFF"/>
                    </a:solidFill>
                  </a:tcPr>
                </a:tc>
                <a:tc>
                  <a:txBody>
                    <a:bodyPr/>
                    <a:lstStyle/>
                    <a:p>
                      <a:r>
                        <a:rPr sz="1800" b="0">
                          <a:solidFill>
                            <a:srgbClr val="223544"/>
                          </a:solidFill>
                          <a:latin typeface="Times New Roman"/>
                        </a:rPr>
                        <a:t>1</a:t>
                      </a:r>
                    </a:p>
                  </a:txBody>
                  <a:tcPr marL="109728" marR="91440" marT="73152" marB="54864" anchor="ctr">
                    <a:solidFill>
                      <a:srgbClr val="FFFFFF"/>
                    </a:solidFill>
                  </a:tcPr>
                </a:tc>
                <a:tc>
                  <a:txBody>
                    <a:bodyPr/>
                    <a:lstStyle/>
                    <a:p>
                      <a:r>
                        <a:rPr sz="1800" b="0">
                          <a:solidFill>
                            <a:srgbClr val="223544"/>
                          </a:solidFill>
                          <a:latin typeface="Times New Roman"/>
                        </a:rPr>
                        <a:t>73,09</a:t>
                      </a:r>
                    </a:p>
                  </a:txBody>
                  <a:tcPr marL="109728" marR="91440" marT="73152" marB="54864" anchor="ctr">
                    <a:solidFill>
                      <a:srgbClr val="FFFFFF"/>
                    </a:solidFill>
                  </a:tcPr>
                </a:tc>
                <a:tc>
                  <a:txBody>
                    <a:bodyPr/>
                    <a:lstStyle/>
                    <a:p>
                      <a:r>
                        <a:rPr sz="1800" b="0">
                          <a:solidFill>
                            <a:srgbClr val="223544"/>
                          </a:solidFill>
                          <a:latin typeface="Times New Roman"/>
                        </a:rPr>
                        <a:t>78,82</a:t>
                      </a:r>
                    </a:p>
                  </a:txBody>
                  <a:tcPr marL="109728" marR="91440" marT="73152" marB="54864" anchor="ctr">
                    <a:solidFill>
                      <a:srgbClr val="FFFFFF"/>
                    </a:solidFill>
                  </a:tcPr>
                </a:tc>
                <a:tc>
                  <a:txBody>
                    <a:bodyPr/>
                    <a:lstStyle/>
                    <a:p>
                      <a:r>
                        <a:rPr sz="1800" b="0">
                          <a:solidFill>
                            <a:srgbClr val="223544"/>
                          </a:solidFill>
                          <a:latin typeface="Times New Roman"/>
                        </a:rPr>
                        <a:t>74,49</a:t>
                      </a:r>
                    </a:p>
                  </a:txBody>
                  <a:tcPr marL="109728" marR="91440" marT="73152" marB="54864" anchor="ctr">
                    <a:solidFill>
                      <a:srgbClr val="FFFFFF"/>
                    </a:solidFill>
                  </a:tcPr>
                </a:tc>
                <a:tc>
                  <a:txBody>
                    <a:bodyPr/>
                    <a:lstStyle/>
                    <a:p>
                      <a:r>
                        <a:rPr sz="1800" b="0">
                          <a:solidFill>
                            <a:srgbClr val="223544"/>
                          </a:solidFill>
                          <a:latin typeface="Times New Roman"/>
                        </a:rPr>
                        <a:t>75,87</a:t>
                      </a:r>
                    </a:p>
                  </a:txBody>
                  <a:tcPr marL="109728" marR="91440" marT="73152" marB="54864" anchor="ctr">
                    <a:solidFill>
                      <a:srgbClr val="FFFFFF"/>
                    </a:solidFill>
                  </a:tcPr>
                </a:tc>
                <a:tc>
                  <a:txBody>
                    <a:bodyPr/>
                    <a:lstStyle/>
                    <a:p>
                      <a:r>
                        <a:rPr sz="1800" b="0">
                          <a:solidFill>
                            <a:srgbClr val="223544"/>
                          </a:solidFill>
                          <a:latin typeface="Times New Roman"/>
                        </a:rPr>
                        <a:t>72,68</a:t>
                      </a:r>
                    </a:p>
                  </a:txBody>
                  <a:tcPr marL="109728" marR="91440" marT="73152" marB="54864" anchor="ctr">
                    <a:solidFill>
                      <a:srgbClr val="FFFFFF"/>
                    </a:solidFill>
                  </a:tcPr>
                </a:tc>
              </a:tr>
              <a:tr h="451485">
                <a:tc>
                  <a:txBody>
                    <a:bodyPr/>
                    <a:lstStyle/>
                    <a:p>
                      <a:r>
                        <a:rPr sz="1800" b="0">
                          <a:solidFill>
                            <a:srgbClr val="223544"/>
                          </a:solidFill>
                          <a:latin typeface="Times New Roman"/>
                        </a:rPr>
                        <a:t>E2</a:t>
                      </a:r>
                    </a:p>
                  </a:txBody>
                  <a:tcPr marL="109728" marR="91440" marT="73152" marB="54864" anchor="ctr">
                    <a:solidFill>
                      <a:srgbClr val="EEF4F8"/>
                    </a:solidFill>
                  </a:tcPr>
                </a:tc>
                <a:tc>
                  <a:txBody>
                    <a:bodyPr/>
                    <a:lstStyle/>
                    <a:p>
                      <a:r>
                        <a:rPr sz="1800" b="0">
                          <a:solidFill>
                            <a:srgbClr val="223544"/>
                          </a:solidFill>
                          <a:latin typeface="Times New Roman"/>
                        </a:rPr>
                        <a:t>3</a:t>
                      </a:r>
                    </a:p>
                  </a:txBody>
                  <a:tcPr marL="109728" marR="91440" marT="73152" marB="54864" anchor="ctr">
                    <a:solidFill>
                      <a:srgbClr val="EEF4F8"/>
                    </a:solidFill>
                  </a:tcPr>
                </a:tc>
                <a:tc>
                  <a:txBody>
                    <a:bodyPr/>
                    <a:lstStyle/>
                    <a:p>
                      <a:r>
                        <a:rPr sz="1800" b="0">
                          <a:solidFill>
                            <a:srgbClr val="223544"/>
                          </a:solidFill>
                          <a:latin typeface="Times New Roman"/>
                        </a:rPr>
                        <a:t>75,41 ± 2,53</a:t>
                      </a:r>
                    </a:p>
                  </a:txBody>
                  <a:tcPr marL="109728" marR="91440" marT="73152" marB="54864" anchor="ctr">
                    <a:solidFill>
                      <a:srgbClr val="EEF4F8"/>
                    </a:solidFill>
                  </a:tcPr>
                </a:tc>
                <a:tc>
                  <a:txBody>
                    <a:bodyPr/>
                    <a:lstStyle/>
                    <a:p>
                      <a:r>
                        <a:rPr sz="1800" b="0">
                          <a:solidFill>
                            <a:srgbClr val="223544"/>
                          </a:solidFill>
                          <a:latin typeface="Times New Roman"/>
                        </a:rPr>
                        <a:t>79,54 ± 1,49</a:t>
                      </a:r>
                    </a:p>
                  </a:txBody>
                  <a:tcPr marL="109728" marR="91440" marT="73152" marB="54864" anchor="ctr">
                    <a:solidFill>
                      <a:srgbClr val="EEF4F8"/>
                    </a:solidFill>
                  </a:tcPr>
                </a:tc>
                <a:tc>
                  <a:txBody>
                    <a:bodyPr/>
                    <a:lstStyle/>
                    <a:p>
                      <a:r>
                        <a:rPr sz="1800" b="0">
                          <a:solidFill>
                            <a:srgbClr val="223544"/>
                          </a:solidFill>
                          <a:latin typeface="Times New Roman"/>
                        </a:rPr>
                        <a:t>79,85 ± 1,89</a:t>
                      </a:r>
                    </a:p>
                  </a:txBody>
                  <a:tcPr marL="109728" marR="91440" marT="73152" marB="54864" anchor="ctr">
                    <a:solidFill>
                      <a:srgbClr val="EEF4F8"/>
                    </a:solidFill>
                  </a:tcPr>
                </a:tc>
                <a:tc>
                  <a:txBody>
                    <a:bodyPr/>
                    <a:lstStyle/>
                    <a:p>
                      <a:r>
                        <a:rPr sz="1800" b="0">
                          <a:solidFill>
                            <a:srgbClr val="223544"/>
                          </a:solidFill>
                          <a:latin typeface="Times New Roman"/>
                        </a:rPr>
                        <a:t>78,48 ± 1,67</a:t>
                      </a:r>
                    </a:p>
                  </a:txBody>
                  <a:tcPr marL="109728" marR="91440" marT="73152" marB="54864" anchor="ctr">
                    <a:solidFill>
                      <a:srgbClr val="EEF4F8"/>
                    </a:solidFill>
                  </a:tcPr>
                </a:tc>
                <a:tc>
                  <a:txBody>
                    <a:bodyPr/>
                    <a:lstStyle/>
                    <a:p>
                      <a:r>
                        <a:rPr sz="1800" b="0">
                          <a:solidFill>
                            <a:srgbClr val="223544"/>
                          </a:solidFill>
                          <a:latin typeface="Times New Roman"/>
                        </a:rPr>
                        <a:t>74,84 ± 2,65</a:t>
                      </a:r>
                    </a:p>
                  </a:txBody>
                  <a:tcPr marL="109728" marR="91440" marT="73152" marB="54864" anchor="ctr">
                    <a:solidFill>
                      <a:srgbClr val="EEF4F8"/>
                    </a:solidFill>
                  </a:tcPr>
                </a:tc>
              </a:tr>
              <a:tr h="451485">
                <a:tc>
                  <a:txBody>
                    <a:bodyPr/>
                    <a:lstStyle/>
                    <a:p>
                      <a:r>
                        <a:rPr sz="1800" b="0">
                          <a:solidFill>
                            <a:srgbClr val="223544"/>
                          </a:solidFill>
                          <a:latin typeface="Times New Roman"/>
                        </a:rPr>
                        <a:t>E3</a:t>
                      </a:r>
                    </a:p>
                  </a:txBody>
                  <a:tcPr marL="109728" marR="91440" marT="73152" marB="54864" anchor="ctr">
                    <a:solidFill>
                      <a:srgbClr val="FFFFFF"/>
                    </a:solidFill>
                  </a:tcPr>
                </a:tc>
                <a:tc>
                  <a:txBody>
                    <a:bodyPr/>
                    <a:lstStyle/>
                    <a:p>
                      <a:r>
                        <a:rPr sz="1800" b="0">
                          <a:solidFill>
                            <a:srgbClr val="223544"/>
                          </a:solidFill>
                          <a:latin typeface="Times New Roman"/>
                        </a:rPr>
                        <a:t>3</a:t>
                      </a:r>
                    </a:p>
                  </a:txBody>
                  <a:tcPr marL="109728" marR="91440" marT="73152" marB="54864" anchor="ctr">
                    <a:solidFill>
                      <a:srgbClr val="FFFFFF"/>
                    </a:solidFill>
                  </a:tcPr>
                </a:tc>
                <a:tc>
                  <a:txBody>
                    <a:bodyPr/>
                    <a:lstStyle/>
                    <a:p>
                      <a:r>
                        <a:rPr sz="1800" b="0">
                          <a:solidFill>
                            <a:srgbClr val="223544"/>
                          </a:solidFill>
                          <a:latin typeface="Times New Roman"/>
                        </a:rPr>
                        <a:t>73,94 ± 1,42</a:t>
                      </a:r>
                    </a:p>
                  </a:txBody>
                  <a:tcPr marL="109728" marR="91440" marT="73152" marB="54864" anchor="ctr">
                    <a:solidFill>
                      <a:srgbClr val="FFFFFF"/>
                    </a:solidFill>
                  </a:tcPr>
                </a:tc>
                <a:tc>
                  <a:txBody>
                    <a:bodyPr/>
                    <a:lstStyle/>
                    <a:p>
                      <a:r>
                        <a:rPr sz="1800" b="0">
                          <a:solidFill>
                            <a:srgbClr val="223544"/>
                          </a:solidFill>
                          <a:latin typeface="Times New Roman"/>
                        </a:rPr>
                        <a:t>76,34 ± 1,75</a:t>
                      </a:r>
                    </a:p>
                  </a:txBody>
                  <a:tcPr marL="109728" marR="91440" marT="73152" marB="54864" anchor="ctr">
                    <a:solidFill>
                      <a:srgbClr val="FFFFFF"/>
                    </a:solidFill>
                  </a:tcPr>
                </a:tc>
                <a:tc>
                  <a:txBody>
                    <a:bodyPr/>
                    <a:lstStyle/>
                    <a:p>
                      <a:r>
                        <a:rPr sz="1800" b="0">
                          <a:solidFill>
                            <a:srgbClr val="223544"/>
                          </a:solidFill>
                          <a:latin typeface="Times New Roman"/>
                        </a:rPr>
                        <a:t>76,48 ± 1,51</a:t>
                      </a:r>
                    </a:p>
                  </a:txBody>
                  <a:tcPr marL="109728" marR="91440" marT="73152" marB="54864" anchor="ctr">
                    <a:solidFill>
                      <a:srgbClr val="FFFFFF"/>
                    </a:solidFill>
                  </a:tcPr>
                </a:tc>
                <a:tc>
                  <a:txBody>
                    <a:bodyPr/>
                    <a:lstStyle/>
                    <a:p>
                      <a:r>
                        <a:rPr sz="1800" b="0">
                          <a:solidFill>
                            <a:srgbClr val="223544"/>
                          </a:solidFill>
                          <a:latin typeface="Times New Roman"/>
                        </a:rPr>
                        <a:t>75,90 ± 1,56</a:t>
                      </a:r>
                    </a:p>
                  </a:txBody>
                  <a:tcPr marL="109728" marR="91440" marT="73152" marB="54864" anchor="ctr">
                    <a:solidFill>
                      <a:srgbClr val="FFFFFF"/>
                    </a:solidFill>
                  </a:tcPr>
                </a:tc>
                <a:tc>
                  <a:txBody>
                    <a:bodyPr/>
                    <a:lstStyle/>
                    <a:p>
                      <a:r>
                        <a:rPr sz="1800" b="0">
                          <a:solidFill>
                            <a:srgbClr val="223544"/>
                          </a:solidFill>
                          <a:latin typeface="Times New Roman"/>
                        </a:rPr>
                        <a:t>73,70 ± 1,43</a:t>
                      </a:r>
                    </a:p>
                  </a:txBody>
                  <a:tcPr marL="109728" marR="91440" marT="73152" marB="54864" anchor="ctr">
                    <a:solidFill>
                      <a:srgbClr val="FFFFFF"/>
                    </a:solidFill>
                  </a:tcPr>
                </a:tc>
              </a:tr>
              <a:tr h="451485">
                <a:tc>
                  <a:txBody>
                    <a:bodyPr/>
                    <a:lstStyle/>
                    <a:p>
                      <a:r>
                        <a:rPr sz="1800" b="0">
                          <a:solidFill>
                            <a:srgbClr val="223544"/>
                          </a:solidFill>
                          <a:latin typeface="Times New Roman"/>
                        </a:rPr>
                        <a:t>E4</a:t>
                      </a:r>
                    </a:p>
                  </a:txBody>
                  <a:tcPr marL="109728" marR="91440" marT="73152" marB="54864" anchor="ctr">
                    <a:solidFill>
                      <a:srgbClr val="EEF4F8"/>
                    </a:solidFill>
                  </a:tcPr>
                </a:tc>
                <a:tc>
                  <a:txBody>
                    <a:bodyPr/>
                    <a:lstStyle/>
                    <a:p>
                      <a:r>
                        <a:rPr sz="1800" b="0">
                          <a:solidFill>
                            <a:srgbClr val="223544"/>
                          </a:solidFill>
                          <a:latin typeface="Times New Roman"/>
                        </a:rPr>
                        <a:t>3</a:t>
                      </a:r>
                    </a:p>
                  </a:txBody>
                  <a:tcPr marL="109728" marR="91440" marT="73152" marB="54864" anchor="ctr">
                    <a:solidFill>
                      <a:srgbClr val="EEF4F8"/>
                    </a:solidFill>
                  </a:tcPr>
                </a:tc>
                <a:tc>
                  <a:txBody>
                    <a:bodyPr/>
                    <a:lstStyle/>
                    <a:p>
                      <a:r>
                        <a:rPr sz="1800" b="0">
                          <a:solidFill>
                            <a:srgbClr val="223544"/>
                          </a:solidFill>
                          <a:latin typeface="Times New Roman"/>
                        </a:rPr>
                        <a:t>70,67 ± 0,62</a:t>
                      </a:r>
                    </a:p>
                  </a:txBody>
                  <a:tcPr marL="109728" marR="91440" marT="73152" marB="54864" anchor="ctr">
                    <a:solidFill>
                      <a:srgbClr val="EEF4F8"/>
                    </a:solidFill>
                  </a:tcPr>
                </a:tc>
                <a:tc>
                  <a:txBody>
                    <a:bodyPr/>
                    <a:lstStyle/>
                    <a:p>
                      <a:r>
                        <a:rPr sz="1800" b="0">
                          <a:solidFill>
                            <a:srgbClr val="223544"/>
                          </a:solidFill>
                          <a:latin typeface="Times New Roman"/>
                        </a:rPr>
                        <a:t>72,59 ± 1,41</a:t>
                      </a:r>
                    </a:p>
                  </a:txBody>
                  <a:tcPr marL="109728" marR="91440" marT="73152" marB="54864" anchor="ctr">
                    <a:solidFill>
                      <a:srgbClr val="EEF4F8"/>
                    </a:solidFill>
                  </a:tcPr>
                </a:tc>
                <a:tc>
                  <a:txBody>
                    <a:bodyPr/>
                    <a:lstStyle/>
                    <a:p>
                      <a:r>
                        <a:rPr sz="1800" b="0">
                          <a:solidFill>
                            <a:srgbClr val="223544"/>
                          </a:solidFill>
                          <a:latin typeface="Times New Roman"/>
                        </a:rPr>
                        <a:t>75,34 ± 0,19</a:t>
                      </a:r>
                    </a:p>
                  </a:txBody>
                  <a:tcPr marL="109728" marR="91440" marT="73152" marB="54864" anchor="ctr">
                    <a:solidFill>
                      <a:srgbClr val="EEF4F8"/>
                    </a:solidFill>
                  </a:tcPr>
                </a:tc>
                <a:tc>
                  <a:txBody>
                    <a:bodyPr/>
                    <a:lstStyle/>
                    <a:p>
                      <a:r>
                        <a:rPr sz="1800" b="0">
                          <a:solidFill>
                            <a:srgbClr val="223544"/>
                          </a:solidFill>
                          <a:latin typeface="Times New Roman"/>
                        </a:rPr>
                        <a:t>73,06 ± 0,63</a:t>
                      </a:r>
                    </a:p>
                  </a:txBody>
                  <a:tcPr marL="109728" marR="91440" marT="73152" marB="54864" anchor="ctr">
                    <a:solidFill>
                      <a:srgbClr val="EEF4F8"/>
                    </a:solidFill>
                  </a:tcPr>
                </a:tc>
                <a:tc>
                  <a:txBody>
                    <a:bodyPr/>
                    <a:lstStyle/>
                    <a:p>
                      <a:r>
                        <a:rPr sz="1800" b="0">
                          <a:solidFill>
                            <a:srgbClr val="223544"/>
                          </a:solidFill>
                          <a:latin typeface="Times New Roman"/>
                        </a:rPr>
                        <a:t>70,15 ± 0,66</a:t>
                      </a:r>
                    </a:p>
                  </a:txBody>
                  <a:tcPr marL="109728" marR="91440" marT="73152" marB="54864" anchor="ctr">
                    <a:solidFill>
                      <a:srgbClr val="EEF4F8"/>
                    </a:solidFill>
                  </a:tcPr>
                </a:tc>
              </a:tr>
              <a:tr h="451485">
                <a:tc>
                  <a:txBody>
                    <a:bodyPr/>
                    <a:lstStyle/>
                    <a:p>
                      <a:r>
                        <a:rPr sz="1800" b="0">
                          <a:solidFill>
                            <a:srgbClr val="223544"/>
                          </a:solidFill>
                          <a:latin typeface="Times New Roman"/>
                        </a:rPr>
                        <a:t>E5</a:t>
                      </a:r>
                    </a:p>
                  </a:txBody>
                  <a:tcPr marL="109728" marR="91440" marT="73152" marB="54864" anchor="ctr">
                    <a:solidFill>
                      <a:srgbClr val="FFFFFF"/>
                    </a:solidFill>
                  </a:tcPr>
                </a:tc>
                <a:tc>
                  <a:txBody>
                    <a:bodyPr/>
                    <a:lstStyle/>
                    <a:p>
                      <a:r>
                        <a:rPr sz="1800" b="0">
                          <a:solidFill>
                            <a:srgbClr val="223544"/>
                          </a:solidFill>
                          <a:latin typeface="Times New Roman"/>
                        </a:rPr>
                        <a:t>3</a:t>
                      </a:r>
                    </a:p>
                  </a:txBody>
                  <a:tcPr marL="109728" marR="91440" marT="73152" marB="54864" anchor="ctr">
                    <a:solidFill>
                      <a:srgbClr val="FFFFFF"/>
                    </a:solidFill>
                  </a:tcPr>
                </a:tc>
                <a:tc>
                  <a:txBody>
                    <a:bodyPr/>
                    <a:lstStyle/>
                    <a:p>
                      <a:r>
                        <a:rPr sz="1800" b="0">
                          <a:solidFill>
                            <a:srgbClr val="223544"/>
                          </a:solidFill>
                          <a:latin typeface="Times New Roman"/>
                        </a:rPr>
                        <a:t>44,48 ± 0,27</a:t>
                      </a:r>
                    </a:p>
                  </a:txBody>
                  <a:tcPr marL="109728" marR="91440" marT="73152" marB="54864" anchor="ctr">
                    <a:solidFill>
                      <a:srgbClr val="FFFFFF"/>
                    </a:solidFill>
                  </a:tcPr>
                </a:tc>
                <a:tc>
                  <a:txBody>
                    <a:bodyPr/>
                    <a:lstStyle/>
                    <a:p>
                      <a:r>
                        <a:rPr sz="1800" b="0">
                          <a:solidFill>
                            <a:srgbClr val="223544"/>
                          </a:solidFill>
                          <a:latin typeface="Times New Roman"/>
                        </a:rPr>
                        <a:t>47,77 ± 2,98</a:t>
                      </a:r>
                    </a:p>
                  </a:txBody>
                  <a:tcPr marL="109728" marR="91440" marT="73152" marB="54864" anchor="ctr">
                    <a:solidFill>
                      <a:srgbClr val="FFFFFF"/>
                    </a:solidFill>
                  </a:tcPr>
                </a:tc>
                <a:tc>
                  <a:txBody>
                    <a:bodyPr/>
                    <a:lstStyle/>
                    <a:p>
                      <a:r>
                        <a:rPr sz="1800" b="0">
                          <a:solidFill>
                            <a:srgbClr val="223544"/>
                          </a:solidFill>
                          <a:latin typeface="Times New Roman"/>
                        </a:rPr>
                        <a:t>45,30 ± 0,57</a:t>
                      </a:r>
                    </a:p>
                  </a:txBody>
                  <a:tcPr marL="109728" marR="91440" marT="73152" marB="54864" anchor="ctr">
                    <a:solidFill>
                      <a:srgbClr val="FFFFFF"/>
                    </a:solidFill>
                  </a:tcPr>
                </a:tc>
                <a:tc>
                  <a:txBody>
                    <a:bodyPr/>
                    <a:lstStyle/>
                    <a:p>
                      <a:r>
                        <a:rPr sz="1800" b="0">
                          <a:solidFill>
                            <a:srgbClr val="223544"/>
                          </a:solidFill>
                          <a:latin typeface="Times New Roman"/>
                        </a:rPr>
                        <a:t>44,88 ± 0,91</a:t>
                      </a:r>
                    </a:p>
                  </a:txBody>
                  <a:tcPr marL="109728" marR="91440" marT="73152" marB="54864" anchor="ctr">
                    <a:solidFill>
                      <a:srgbClr val="FFFFFF"/>
                    </a:solidFill>
                  </a:tcPr>
                </a:tc>
                <a:tc>
                  <a:txBody>
                    <a:bodyPr/>
                    <a:lstStyle/>
                    <a:p>
                      <a:r>
                        <a:rPr sz="1800" b="0">
                          <a:solidFill>
                            <a:srgbClr val="223544"/>
                          </a:solidFill>
                          <a:latin typeface="Times New Roman"/>
                        </a:rPr>
                        <a:t>44,14 ± 0,90</a:t>
                      </a:r>
                    </a:p>
                  </a:txBody>
                  <a:tcPr marL="109728" marR="91440" marT="73152" marB="54864" anchor="ctr">
                    <a:solidFill>
                      <a:srgbClr val="FFFFFF"/>
                    </a:solidFill>
                  </a:tcPr>
                </a:tc>
              </a:tr>
              <a:tr h="451485">
                <a:tc>
                  <a:txBody>
                    <a:bodyPr/>
                    <a:lstStyle/>
                    <a:p>
                      <a:r>
                        <a:rPr sz="1800" b="0">
                          <a:solidFill>
                            <a:srgbClr val="223544"/>
                          </a:solidFill>
                          <a:latin typeface="Times New Roman"/>
                        </a:rPr>
                        <a:t>E6</a:t>
                      </a:r>
                    </a:p>
                  </a:txBody>
                  <a:tcPr marL="109728" marR="91440" marT="73152" marB="54864" anchor="ctr">
                    <a:solidFill>
                      <a:srgbClr val="E4F1F8"/>
                    </a:solidFill>
                  </a:tcPr>
                </a:tc>
                <a:tc>
                  <a:txBody>
                    <a:bodyPr/>
                    <a:lstStyle/>
                    <a:p>
                      <a:r>
                        <a:rPr sz="1800" b="0">
                          <a:solidFill>
                            <a:srgbClr val="223544"/>
                          </a:solidFill>
                          <a:latin typeface="Times New Roman"/>
                        </a:rPr>
                        <a:t>1</a:t>
                      </a:r>
                    </a:p>
                  </a:txBody>
                  <a:tcPr marL="109728" marR="91440" marT="73152" marB="54864" anchor="ctr">
                    <a:solidFill>
                      <a:srgbClr val="E4F1F8"/>
                    </a:solidFill>
                  </a:tcPr>
                </a:tc>
                <a:tc>
                  <a:txBody>
                    <a:bodyPr/>
                    <a:lstStyle/>
                    <a:p>
                      <a:r>
                        <a:rPr sz="1800" b="0">
                          <a:solidFill>
                            <a:srgbClr val="223544"/>
                          </a:solidFill>
                          <a:latin typeface="Times New Roman"/>
                        </a:rPr>
                        <a:t>81,46</a:t>
                      </a:r>
                    </a:p>
                  </a:txBody>
                  <a:tcPr marL="109728" marR="91440" marT="73152" marB="54864" anchor="ctr">
                    <a:solidFill>
                      <a:srgbClr val="E4F1F8"/>
                    </a:solidFill>
                  </a:tcPr>
                </a:tc>
                <a:tc>
                  <a:txBody>
                    <a:bodyPr/>
                    <a:lstStyle/>
                    <a:p>
                      <a:r>
                        <a:rPr sz="1800" b="0">
                          <a:solidFill>
                            <a:srgbClr val="223544"/>
                          </a:solidFill>
                          <a:latin typeface="Times New Roman"/>
                        </a:rPr>
                        <a:t>86,11</a:t>
                      </a:r>
                    </a:p>
                  </a:txBody>
                  <a:tcPr marL="109728" marR="91440" marT="73152" marB="54864" anchor="ctr">
                    <a:solidFill>
                      <a:srgbClr val="E4F1F8"/>
                    </a:solidFill>
                  </a:tcPr>
                </a:tc>
                <a:tc>
                  <a:txBody>
                    <a:bodyPr/>
                    <a:lstStyle/>
                    <a:p>
                      <a:r>
                        <a:rPr sz="1800" b="0">
                          <a:solidFill>
                            <a:srgbClr val="223544"/>
                          </a:solidFill>
                          <a:latin typeface="Times New Roman"/>
                        </a:rPr>
                        <a:t>85,98</a:t>
                      </a:r>
                    </a:p>
                  </a:txBody>
                  <a:tcPr marL="109728" marR="91440" marT="73152" marB="54864" anchor="ctr">
                    <a:solidFill>
                      <a:srgbClr val="E4F1F8"/>
                    </a:solidFill>
                  </a:tcPr>
                </a:tc>
                <a:tc>
                  <a:txBody>
                    <a:bodyPr/>
                    <a:lstStyle/>
                    <a:p>
                      <a:r>
                        <a:rPr sz="1800" b="0">
                          <a:solidFill>
                            <a:srgbClr val="223544"/>
                          </a:solidFill>
                          <a:latin typeface="Times New Roman"/>
                        </a:rPr>
                        <a:t>85,31</a:t>
                      </a:r>
                    </a:p>
                  </a:txBody>
                  <a:tcPr marL="109728" marR="91440" marT="73152" marB="54864" anchor="ctr">
                    <a:solidFill>
                      <a:srgbClr val="E4F1F8"/>
                    </a:solidFill>
                  </a:tcPr>
                </a:tc>
                <a:tc>
                  <a:txBody>
                    <a:bodyPr/>
                    <a:lstStyle/>
                    <a:p>
                      <a:r>
                        <a:rPr sz="1800" b="0">
                          <a:solidFill>
                            <a:srgbClr val="223544"/>
                          </a:solidFill>
                          <a:latin typeface="Times New Roman"/>
                        </a:rPr>
                        <a:t>80,82</a:t>
                      </a:r>
                    </a:p>
                  </a:txBody>
                  <a:tcPr marL="109728" marR="91440" marT="73152" marB="54864" anchor="ctr">
                    <a:solidFill>
                      <a:srgbClr val="E4F1F8"/>
                    </a:solidFill>
                  </a:tcPr>
                </a:tc>
              </a:tr>
              <a:tr h="451485">
                <a:tc>
                  <a:txBody>
                    <a:bodyPr/>
                    <a:lstStyle/>
                    <a:p>
                      <a:r>
                        <a:rPr sz="1800" b="0">
                          <a:solidFill>
                            <a:srgbClr val="223544"/>
                          </a:solidFill>
                          <a:latin typeface="Times New Roman"/>
                        </a:rPr>
                        <a:t>Q1</a:t>
                      </a:r>
                    </a:p>
                  </a:txBody>
                  <a:tcPr marL="109728" marR="91440" marT="73152" marB="54864" anchor="ctr">
                    <a:solidFill>
                      <a:srgbClr val="FFFFFF"/>
                    </a:solidFill>
                  </a:tcPr>
                </a:tc>
                <a:tc>
                  <a:txBody>
                    <a:bodyPr/>
                    <a:lstStyle/>
                    <a:p>
                      <a:r>
                        <a:rPr sz="1800" b="0">
                          <a:solidFill>
                            <a:srgbClr val="223544"/>
                          </a:solidFill>
                          <a:latin typeface="Times New Roman"/>
                        </a:rPr>
                        <a:t>1</a:t>
                      </a:r>
                    </a:p>
                  </a:txBody>
                  <a:tcPr marL="109728" marR="91440" marT="73152" marB="54864" anchor="ctr">
                    <a:solidFill>
                      <a:srgbClr val="FFFFFF"/>
                    </a:solidFill>
                  </a:tcPr>
                </a:tc>
                <a:tc>
                  <a:txBody>
                    <a:bodyPr/>
                    <a:lstStyle/>
                    <a:p>
                      <a:r>
                        <a:rPr sz="1800" b="0">
                          <a:solidFill>
                            <a:srgbClr val="223544"/>
                          </a:solidFill>
                          <a:latin typeface="Times New Roman"/>
                        </a:rPr>
                        <a:t>71,03</a:t>
                      </a:r>
                    </a:p>
                  </a:txBody>
                  <a:tcPr marL="109728" marR="91440" marT="73152" marB="54864" anchor="ctr">
                    <a:solidFill>
                      <a:srgbClr val="FFFFFF"/>
                    </a:solidFill>
                  </a:tcPr>
                </a:tc>
                <a:tc>
                  <a:txBody>
                    <a:bodyPr/>
                    <a:lstStyle/>
                    <a:p>
                      <a:r>
                        <a:rPr sz="1800" b="0">
                          <a:solidFill>
                            <a:srgbClr val="223544"/>
                          </a:solidFill>
                          <a:latin typeface="Times New Roman"/>
                        </a:rPr>
                        <a:t>75,17</a:t>
                      </a:r>
                    </a:p>
                  </a:txBody>
                  <a:tcPr marL="109728" marR="91440" marT="73152" marB="54864" anchor="ctr">
                    <a:solidFill>
                      <a:srgbClr val="FFFFFF"/>
                    </a:solidFill>
                  </a:tcPr>
                </a:tc>
                <a:tc>
                  <a:txBody>
                    <a:bodyPr/>
                    <a:lstStyle/>
                    <a:p>
                      <a:r>
                        <a:rPr sz="1800" b="0">
                          <a:solidFill>
                            <a:srgbClr val="223544"/>
                          </a:solidFill>
                          <a:latin typeface="Times New Roman"/>
                        </a:rPr>
                        <a:t>75,14</a:t>
                      </a:r>
                    </a:p>
                  </a:txBody>
                  <a:tcPr marL="109728" marR="91440" marT="73152" marB="54864" anchor="ctr">
                    <a:solidFill>
                      <a:srgbClr val="FFFFFF"/>
                    </a:solidFill>
                  </a:tcPr>
                </a:tc>
                <a:tc>
                  <a:txBody>
                    <a:bodyPr/>
                    <a:lstStyle/>
                    <a:p>
                      <a:r>
                        <a:rPr sz="1800" b="0">
                          <a:solidFill>
                            <a:srgbClr val="223544"/>
                          </a:solidFill>
                          <a:latin typeface="Times New Roman"/>
                        </a:rPr>
                        <a:t>73,74</a:t>
                      </a:r>
                    </a:p>
                  </a:txBody>
                  <a:tcPr marL="109728" marR="91440" marT="73152" marB="54864" anchor="ctr">
                    <a:solidFill>
                      <a:srgbClr val="FFFFFF"/>
                    </a:solidFill>
                  </a:tcPr>
                </a:tc>
                <a:tc>
                  <a:txBody>
                    <a:bodyPr/>
                    <a:lstStyle/>
                    <a:p>
                      <a:r>
                        <a:rPr sz="1800" b="0">
                          <a:solidFill>
                            <a:srgbClr val="223544"/>
                          </a:solidFill>
                          <a:latin typeface="Times New Roman"/>
                        </a:rPr>
                        <a:t>71,08</a:t>
                      </a:r>
                    </a:p>
                  </a:txBody>
                  <a:tcPr marL="109728" marR="91440" marT="73152" marB="54864" anchor="ctr">
                    <a:solidFill>
                      <a:srgbClr val="FFFFFF"/>
                    </a:solidFill>
                  </a:tcPr>
                </a:tc>
              </a:tr>
            </a:tbl>
          </a:graphicData>
        </a:graphic>
      </p:graphicFrame>
      <p:sp>
        <p:nvSpPr>
          <p:cNvPr id="7" name="TextBox 6"/>
          <p:cNvSpPr txBox="1"/>
          <p:nvPr/>
        </p:nvSpPr>
        <p:spPr>
          <a:xfrm>
            <a:off x="685800" y="5349240"/>
            <a:ext cx="10789920" cy="640080"/>
          </a:xfrm>
          <a:prstGeom prst="rect">
            <a:avLst/>
          </a:prstGeom>
          <a:noFill/>
        </p:spPr>
        <p:txBody>
          <a:bodyPr wrap="square" lIns="18288" rIns="18288" tIns="18288" bIns="0">
            <a:spAutoFit/>
          </a:bodyPr>
          <a:lstStyle/>
          <a:p>
            <a:pPr algn="l">
              <a:spcAft>
                <a:spcPts val="800"/>
              </a:spcAft>
            </a:pPr>
            <a:r>
              <a:rPr sz="2200" b="0">
                <a:solidFill>
                  <a:srgbClr val="223544"/>
                </a:solidFill>
                <a:latin typeface="Times New Roman"/>
              </a:rPr>
              <a:t>E6: Macro F1 85,31%. E2: trung bình 78,48% qua 3 checkpoint.</a:t>
            </a:r>
          </a:p>
          <a:p>
            <a:pPr algn="l">
              <a:spcAft>
                <a:spcPts val="800"/>
              </a:spcAft>
            </a:pPr>
            <a:r>
              <a:rPr sz="2200" b="0">
                <a:solidFill>
                  <a:srgbClr val="223544"/>
                </a:solidFill>
                <a:latin typeface="Times New Roman"/>
              </a:rPr>
              <a:t>Chênh 6,83 điểm; chưa đủ để kết luận về ý nghĩa thống kê.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Kết quả của từng người trong Test</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15 / 23</a:t>
            </a:r>
          </a:p>
        </p:txBody>
      </p:sp>
      <p:graphicFrame>
        <p:nvGraphicFramePr>
          <p:cNvPr id="6" name="Table 5"/>
          <p:cNvGraphicFramePr>
            <a:graphicFrameLocks noGrp="1"/>
          </p:cNvGraphicFramePr>
          <p:nvPr/>
        </p:nvGraphicFramePr>
        <p:xfrm>
          <a:off x="548640" y="1463040"/>
          <a:ext cx="11155680" cy="3474720"/>
        </p:xfrm>
        <a:graphic>
          <a:graphicData uri="http://schemas.openxmlformats.org/drawingml/2006/table">
            <a:tbl>
              <a:tblPr firstRow="1" bandRow="1">
                <a:tableStyleId>{5C22544A-7EE6-4342-B048-85BDC9FD1C3A}</a:tableStyleId>
              </a:tblPr>
              <a:tblGrid>
                <a:gridCol w="1280160"/>
                <a:gridCol w="2286000"/>
                <a:gridCol w="2286000"/>
                <a:gridCol w="2286000"/>
                <a:gridCol w="3017520"/>
              </a:tblGrid>
              <a:tr h="434340">
                <a:tc>
                  <a:txBody>
                    <a:bodyPr/>
                    <a:lstStyle/>
                    <a:p>
                      <a:r>
                        <a:rPr sz="2200" b="1">
                          <a:solidFill>
                            <a:srgbClr val="FFFFFF"/>
                          </a:solidFill>
                          <a:latin typeface="Times New Roman"/>
                        </a:rPr>
                        <a:t>Model</a:t>
                      </a:r>
                    </a:p>
                  </a:txBody>
                  <a:tcPr marL="109728" marR="91440" marT="73152" marB="54864" anchor="ctr">
                    <a:solidFill>
                      <a:srgbClr val="19364D"/>
                    </a:solidFill>
                  </a:tcPr>
                </a:tc>
                <a:tc>
                  <a:txBody>
                    <a:bodyPr/>
                    <a:lstStyle/>
                    <a:p>
                      <a:r>
                        <a:rPr sz="2200" b="1">
                          <a:solidFill>
                            <a:srgbClr val="FFFFFF"/>
                          </a:solidFill>
                          <a:latin typeface="Times New Roman"/>
                        </a:rPr>
                        <a:t>S13 (%)</a:t>
                      </a:r>
                    </a:p>
                  </a:txBody>
                  <a:tcPr marL="109728" marR="91440" marT="73152" marB="54864" anchor="ctr">
                    <a:solidFill>
                      <a:srgbClr val="19364D"/>
                    </a:solidFill>
                  </a:tcPr>
                </a:tc>
                <a:tc>
                  <a:txBody>
                    <a:bodyPr/>
                    <a:lstStyle/>
                    <a:p>
                      <a:r>
                        <a:rPr sz="2200" b="1">
                          <a:solidFill>
                            <a:srgbClr val="FFFFFF"/>
                          </a:solidFill>
                          <a:latin typeface="Times New Roman"/>
                        </a:rPr>
                        <a:t>S14 (%)</a:t>
                      </a:r>
                    </a:p>
                  </a:txBody>
                  <a:tcPr marL="109728" marR="91440" marT="73152" marB="54864" anchor="ctr">
                    <a:solidFill>
                      <a:srgbClr val="19364D"/>
                    </a:solidFill>
                  </a:tcPr>
                </a:tc>
                <a:tc>
                  <a:txBody>
                    <a:bodyPr/>
                    <a:lstStyle/>
                    <a:p>
                      <a:r>
                        <a:rPr sz="2200" b="1">
                          <a:solidFill>
                            <a:srgbClr val="FFFFFF"/>
                          </a:solidFill>
                          <a:latin typeface="Times New Roman"/>
                        </a:rPr>
                        <a:t>S15 (%)</a:t>
                      </a:r>
                    </a:p>
                  </a:txBody>
                  <a:tcPr marL="109728" marR="91440" marT="73152" marB="54864" anchor="ctr">
                    <a:solidFill>
                      <a:srgbClr val="19364D"/>
                    </a:solidFill>
                  </a:tcPr>
                </a:tc>
                <a:tc>
                  <a:txBody>
                    <a:bodyPr/>
                    <a:lstStyle/>
                    <a:p>
                      <a:r>
                        <a:rPr sz="2200" b="1">
                          <a:solidFill>
                            <a:srgbClr val="FFFFFF"/>
                          </a:solidFill>
                          <a:latin typeface="Times New Roman"/>
                        </a:rPr>
                        <a:t>TB theo người (%)</a:t>
                      </a:r>
                    </a:p>
                  </a:txBody>
                  <a:tcPr marL="109728" marR="91440" marT="73152" marB="54864" anchor="ctr">
                    <a:solidFill>
                      <a:srgbClr val="19364D"/>
                    </a:solidFill>
                  </a:tcPr>
                </a:tc>
              </a:tr>
              <a:tr h="434340">
                <a:tc>
                  <a:txBody>
                    <a:bodyPr/>
                    <a:lstStyle/>
                    <a:p>
                      <a:r>
                        <a:rPr sz="2200" b="0">
                          <a:solidFill>
                            <a:srgbClr val="223544"/>
                          </a:solidFill>
                          <a:latin typeface="Times New Roman"/>
                        </a:rPr>
                        <a:t>E1</a:t>
                      </a:r>
                    </a:p>
                  </a:txBody>
                  <a:tcPr marL="109728" marR="91440" marT="73152" marB="54864" anchor="ctr">
                    <a:solidFill>
                      <a:srgbClr val="FFFFFF"/>
                    </a:solidFill>
                  </a:tcPr>
                </a:tc>
                <a:tc>
                  <a:txBody>
                    <a:bodyPr/>
                    <a:lstStyle/>
                    <a:p>
                      <a:r>
                        <a:rPr sz="2200" b="0">
                          <a:solidFill>
                            <a:srgbClr val="223544"/>
                          </a:solidFill>
                          <a:latin typeface="Times New Roman"/>
                        </a:rPr>
                        <a:t>78,65</a:t>
                      </a:r>
                    </a:p>
                  </a:txBody>
                  <a:tcPr marL="109728" marR="91440" marT="73152" marB="54864" anchor="ctr">
                    <a:solidFill>
                      <a:srgbClr val="FFFFFF"/>
                    </a:solidFill>
                  </a:tcPr>
                </a:tc>
                <a:tc>
                  <a:txBody>
                    <a:bodyPr/>
                    <a:lstStyle/>
                    <a:p>
                      <a:r>
                        <a:rPr sz="2200" b="0">
                          <a:solidFill>
                            <a:srgbClr val="223544"/>
                          </a:solidFill>
                          <a:latin typeface="Times New Roman"/>
                        </a:rPr>
                        <a:t>70,78</a:t>
                      </a:r>
                    </a:p>
                  </a:txBody>
                  <a:tcPr marL="109728" marR="91440" marT="73152" marB="54864" anchor="ctr">
                    <a:solidFill>
                      <a:srgbClr val="FFFFFF"/>
                    </a:solidFill>
                  </a:tcPr>
                </a:tc>
                <a:tc>
                  <a:txBody>
                    <a:bodyPr/>
                    <a:lstStyle/>
                    <a:p>
                      <a:r>
                        <a:rPr sz="2200" b="0">
                          <a:solidFill>
                            <a:srgbClr val="223544"/>
                          </a:solidFill>
                          <a:latin typeface="Times New Roman"/>
                        </a:rPr>
                        <a:t>73,30</a:t>
                      </a:r>
                    </a:p>
                  </a:txBody>
                  <a:tcPr marL="109728" marR="91440" marT="73152" marB="54864" anchor="ctr">
                    <a:solidFill>
                      <a:srgbClr val="FFFFFF"/>
                    </a:solidFill>
                  </a:tcPr>
                </a:tc>
                <a:tc>
                  <a:txBody>
                    <a:bodyPr/>
                    <a:lstStyle/>
                    <a:p>
                      <a:r>
                        <a:rPr sz="2200" b="0">
                          <a:solidFill>
                            <a:srgbClr val="223544"/>
                          </a:solidFill>
                          <a:latin typeface="Times New Roman"/>
                        </a:rPr>
                        <a:t>74,24</a:t>
                      </a:r>
                    </a:p>
                  </a:txBody>
                  <a:tcPr marL="109728" marR="91440" marT="73152" marB="54864" anchor="ctr">
                    <a:solidFill>
                      <a:srgbClr val="FFFFFF"/>
                    </a:solidFill>
                  </a:tcPr>
                </a:tc>
              </a:tr>
              <a:tr h="434340">
                <a:tc>
                  <a:txBody>
                    <a:bodyPr/>
                    <a:lstStyle/>
                    <a:p>
                      <a:r>
                        <a:rPr sz="2200" b="0">
                          <a:solidFill>
                            <a:srgbClr val="223544"/>
                          </a:solidFill>
                          <a:latin typeface="Times New Roman"/>
                        </a:rPr>
                        <a:t>E2</a:t>
                      </a:r>
                    </a:p>
                  </a:txBody>
                  <a:tcPr marL="109728" marR="91440" marT="73152" marB="54864" anchor="ctr">
                    <a:solidFill>
                      <a:srgbClr val="EEF4F8"/>
                    </a:solidFill>
                  </a:tcPr>
                </a:tc>
                <a:tc>
                  <a:txBody>
                    <a:bodyPr/>
                    <a:lstStyle/>
                    <a:p>
                      <a:r>
                        <a:rPr sz="2200" b="0">
                          <a:solidFill>
                            <a:srgbClr val="223544"/>
                          </a:solidFill>
                          <a:latin typeface="Times New Roman"/>
                        </a:rPr>
                        <a:t>83,78</a:t>
                      </a:r>
                    </a:p>
                  </a:txBody>
                  <a:tcPr marL="109728" marR="91440" marT="73152" marB="54864" anchor="ctr">
                    <a:solidFill>
                      <a:srgbClr val="EEF4F8"/>
                    </a:solidFill>
                  </a:tcPr>
                </a:tc>
                <a:tc>
                  <a:txBody>
                    <a:bodyPr/>
                    <a:lstStyle/>
                    <a:p>
                      <a:r>
                        <a:rPr sz="2200" b="0">
                          <a:solidFill>
                            <a:srgbClr val="223544"/>
                          </a:solidFill>
                          <a:latin typeface="Times New Roman"/>
                        </a:rPr>
                        <a:t>73,42</a:t>
                      </a:r>
                    </a:p>
                  </a:txBody>
                  <a:tcPr marL="109728" marR="91440" marT="73152" marB="54864" anchor="ctr">
                    <a:solidFill>
                      <a:srgbClr val="EEF4F8"/>
                    </a:solidFill>
                  </a:tcPr>
                </a:tc>
                <a:tc>
                  <a:txBody>
                    <a:bodyPr/>
                    <a:lstStyle/>
                    <a:p>
                      <a:r>
                        <a:rPr sz="2200" b="0">
                          <a:solidFill>
                            <a:srgbClr val="223544"/>
                          </a:solidFill>
                          <a:latin typeface="Times New Roman"/>
                        </a:rPr>
                        <a:t>76,82</a:t>
                      </a:r>
                    </a:p>
                  </a:txBody>
                  <a:tcPr marL="109728" marR="91440" marT="73152" marB="54864" anchor="ctr">
                    <a:solidFill>
                      <a:srgbClr val="EEF4F8"/>
                    </a:solidFill>
                  </a:tcPr>
                </a:tc>
                <a:tc>
                  <a:txBody>
                    <a:bodyPr/>
                    <a:lstStyle/>
                    <a:p>
                      <a:r>
                        <a:rPr sz="2200" b="0">
                          <a:solidFill>
                            <a:srgbClr val="223544"/>
                          </a:solidFill>
                          <a:latin typeface="Times New Roman"/>
                        </a:rPr>
                        <a:t>78,01</a:t>
                      </a:r>
                    </a:p>
                  </a:txBody>
                  <a:tcPr marL="109728" marR="91440" marT="73152" marB="54864" anchor="ctr">
                    <a:solidFill>
                      <a:srgbClr val="EEF4F8"/>
                    </a:solidFill>
                  </a:tcPr>
                </a:tc>
              </a:tr>
              <a:tr h="434340">
                <a:tc>
                  <a:txBody>
                    <a:bodyPr/>
                    <a:lstStyle/>
                    <a:p>
                      <a:r>
                        <a:rPr sz="2200" b="0">
                          <a:solidFill>
                            <a:srgbClr val="223544"/>
                          </a:solidFill>
                          <a:latin typeface="Times New Roman"/>
                        </a:rPr>
                        <a:t>E3</a:t>
                      </a:r>
                    </a:p>
                  </a:txBody>
                  <a:tcPr marL="109728" marR="91440" marT="73152" marB="54864" anchor="ctr">
                    <a:solidFill>
                      <a:srgbClr val="FFFFFF"/>
                    </a:solidFill>
                  </a:tcPr>
                </a:tc>
                <a:tc>
                  <a:txBody>
                    <a:bodyPr/>
                    <a:lstStyle/>
                    <a:p>
                      <a:r>
                        <a:rPr sz="2200" b="0">
                          <a:solidFill>
                            <a:srgbClr val="223544"/>
                          </a:solidFill>
                          <a:latin typeface="Times New Roman"/>
                        </a:rPr>
                        <a:t>83,11</a:t>
                      </a:r>
                    </a:p>
                  </a:txBody>
                  <a:tcPr marL="109728" marR="91440" marT="73152" marB="54864" anchor="ctr">
                    <a:solidFill>
                      <a:srgbClr val="FFFFFF"/>
                    </a:solidFill>
                  </a:tcPr>
                </a:tc>
                <a:tc>
                  <a:txBody>
                    <a:bodyPr/>
                    <a:lstStyle/>
                    <a:p>
                      <a:r>
                        <a:rPr sz="2200" b="0">
                          <a:solidFill>
                            <a:srgbClr val="223544"/>
                          </a:solidFill>
                          <a:latin typeface="Times New Roman"/>
                        </a:rPr>
                        <a:t>65,38</a:t>
                      </a:r>
                    </a:p>
                  </a:txBody>
                  <a:tcPr marL="109728" marR="91440" marT="73152" marB="54864" anchor="ctr">
                    <a:solidFill>
                      <a:srgbClr val="FFFFFF"/>
                    </a:solidFill>
                  </a:tcPr>
                </a:tc>
                <a:tc>
                  <a:txBody>
                    <a:bodyPr/>
                    <a:lstStyle/>
                    <a:p>
                      <a:r>
                        <a:rPr sz="2200" b="0">
                          <a:solidFill>
                            <a:srgbClr val="223544"/>
                          </a:solidFill>
                          <a:latin typeface="Times New Roman"/>
                        </a:rPr>
                        <a:t>74,08</a:t>
                      </a:r>
                    </a:p>
                  </a:txBody>
                  <a:tcPr marL="109728" marR="91440" marT="73152" marB="54864" anchor="ctr">
                    <a:solidFill>
                      <a:srgbClr val="FFFFFF"/>
                    </a:solidFill>
                  </a:tcPr>
                </a:tc>
                <a:tc>
                  <a:txBody>
                    <a:bodyPr/>
                    <a:lstStyle/>
                    <a:p>
                      <a:r>
                        <a:rPr sz="2200" b="0">
                          <a:solidFill>
                            <a:srgbClr val="223544"/>
                          </a:solidFill>
                          <a:latin typeface="Times New Roman"/>
                        </a:rPr>
                        <a:t>74,19</a:t>
                      </a:r>
                    </a:p>
                  </a:txBody>
                  <a:tcPr marL="109728" marR="91440" marT="73152" marB="54864" anchor="ctr">
                    <a:solidFill>
                      <a:srgbClr val="FFFFFF"/>
                    </a:solidFill>
                  </a:tcPr>
                </a:tc>
              </a:tr>
              <a:tr h="434340">
                <a:tc>
                  <a:txBody>
                    <a:bodyPr/>
                    <a:lstStyle/>
                    <a:p>
                      <a:r>
                        <a:rPr sz="2200" b="0">
                          <a:solidFill>
                            <a:srgbClr val="223544"/>
                          </a:solidFill>
                          <a:latin typeface="Times New Roman"/>
                        </a:rPr>
                        <a:t>E4</a:t>
                      </a:r>
                    </a:p>
                  </a:txBody>
                  <a:tcPr marL="109728" marR="91440" marT="73152" marB="54864" anchor="ctr">
                    <a:solidFill>
                      <a:srgbClr val="EEF4F8"/>
                    </a:solidFill>
                  </a:tcPr>
                </a:tc>
                <a:tc>
                  <a:txBody>
                    <a:bodyPr/>
                    <a:lstStyle/>
                    <a:p>
                      <a:r>
                        <a:rPr sz="2200" b="0">
                          <a:solidFill>
                            <a:srgbClr val="223544"/>
                          </a:solidFill>
                          <a:latin typeface="Times New Roman"/>
                        </a:rPr>
                        <a:t>80,01</a:t>
                      </a:r>
                    </a:p>
                  </a:txBody>
                  <a:tcPr marL="109728" marR="91440" marT="73152" marB="54864" anchor="ctr">
                    <a:solidFill>
                      <a:srgbClr val="EEF4F8"/>
                    </a:solidFill>
                  </a:tcPr>
                </a:tc>
                <a:tc>
                  <a:txBody>
                    <a:bodyPr/>
                    <a:lstStyle/>
                    <a:p>
                      <a:r>
                        <a:rPr sz="2200" b="0">
                          <a:solidFill>
                            <a:srgbClr val="223544"/>
                          </a:solidFill>
                          <a:latin typeface="Times New Roman"/>
                        </a:rPr>
                        <a:t>63,95</a:t>
                      </a:r>
                    </a:p>
                  </a:txBody>
                  <a:tcPr marL="109728" marR="91440" marT="73152" marB="54864" anchor="ctr">
                    <a:solidFill>
                      <a:srgbClr val="EEF4F8"/>
                    </a:solidFill>
                  </a:tcPr>
                </a:tc>
                <a:tc>
                  <a:txBody>
                    <a:bodyPr/>
                    <a:lstStyle/>
                    <a:p>
                      <a:r>
                        <a:rPr sz="2200" b="0">
                          <a:solidFill>
                            <a:srgbClr val="223544"/>
                          </a:solidFill>
                          <a:latin typeface="Times New Roman"/>
                        </a:rPr>
                        <a:t>71,38</a:t>
                      </a:r>
                    </a:p>
                  </a:txBody>
                  <a:tcPr marL="109728" marR="91440" marT="73152" marB="54864" anchor="ctr">
                    <a:solidFill>
                      <a:srgbClr val="EEF4F8"/>
                    </a:solidFill>
                  </a:tcPr>
                </a:tc>
                <a:tc>
                  <a:txBody>
                    <a:bodyPr/>
                    <a:lstStyle/>
                    <a:p>
                      <a:r>
                        <a:rPr sz="2200" b="0">
                          <a:solidFill>
                            <a:srgbClr val="223544"/>
                          </a:solidFill>
                          <a:latin typeface="Times New Roman"/>
                        </a:rPr>
                        <a:t>71,78</a:t>
                      </a:r>
                    </a:p>
                  </a:txBody>
                  <a:tcPr marL="109728" marR="91440" marT="73152" marB="54864" anchor="ctr">
                    <a:solidFill>
                      <a:srgbClr val="EEF4F8"/>
                    </a:solidFill>
                  </a:tcPr>
                </a:tc>
              </a:tr>
              <a:tr h="434340">
                <a:tc>
                  <a:txBody>
                    <a:bodyPr/>
                    <a:lstStyle/>
                    <a:p>
                      <a:r>
                        <a:rPr sz="2200" b="0">
                          <a:solidFill>
                            <a:srgbClr val="223544"/>
                          </a:solidFill>
                          <a:latin typeface="Times New Roman"/>
                        </a:rPr>
                        <a:t>E5</a:t>
                      </a:r>
                    </a:p>
                  </a:txBody>
                  <a:tcPr marL="109728" marR="91440" marT="73152" marB="54864" anchor="ctr">
                    <a:solidFill>
                      <a:srgbClr val="FFFFFF"/>
                    </a:solidFill>
                  </a:tcPr>
                </a:tc>
                <a:tc>
                  <a:txBody>
                    <a:bodyPr/>
                    <a:lstStyle/>
                    <a:p>
                      <a:r>
                        <a:rPr sz="2200" b="0">
                          <a:solidFill>
                            <a:srgbClr val="223544"/>
                          </a:solidFill>
                          <a:latin typeface="Times New Roman"/>
                        </a:rPr>
                        <a:t>45,30</a:t>
                      </a:r>
                    </a:p>
                  </a:txBody>
                  <a:tcPr marL="109728" marR="91440" marT="73152" marB="54864" anchor="ctr">
                    <a:solidFill>
                      <a:srgbClr val="FFFFFF"/>
                    </a:solidFill>
                  </a:tcPr>
                </a:tc>
                <a:tc>
                  <a:txBody>
                    <a:bodyPr/>
                    <a:lstStyle/>
                    <a:p>
                      <a:r>
                        <a:rPr sz="2200" b="0">
                          <a:solidFill>
                            <a:srgbClr val="223544"/>
                          </a:solidFill>
                          <a:latin typeface="Times New Roman"/>
                        </a:rPr>
                        <a:t>36,83</a:t>
                      </a:r>
                    </a:p>
                  </a:txBody>
                  <a:tcPr marL="109728" marR="91440" marT="73152" marB="54864" anchor="ctr">
                    <a:solidFill>
                      <a:srgbClr val="FFFFFF"/>
                    </a:solidFill>
                  </a:tcPr>
                </a:tc>
                <a:tc>
                  <a:txBody>
                    <a:bodyPr/>
                    <a:lstStyle/>
                    <a:p>
                      <a:r>
                        <a:rPr sz="2200" b="0">
                          <a:solidFill>
                            <a:srgbClr val="223544"/>
                          </a:solidFill>
                          <a:latin typeface="Times New Roman"/>
                        </a:rPr>
                        <a:t>44,60</a:t>
                      </a:r>
                    </a:p>
                  </a:txBody>
                  <a:tcPr marL="109728" marR="91440" marT="73152" marB="54864" anchor="ctr">
                    <a:solidFill>
                      <a:srgbClr val="FFFFFF"/>
                    </a:solidFill>
                  </a:tcPr>
                </a:tc>
                <a:tc>
                  <a:txBody>
                    <a:bodyPr/>
                    <a:lstStyle/>
                    <a:p>
                      <a:r>
                        <a:rPr sz="2200" b="0">
                          <a:solidFill>
                            <a:srgbClr val="223544"/>
                          </a:solidFill>
                          <a:latin typeface="Times New Roman"/>
                        </a:rPr>
                        <a:t>42,24</a:t>
                      </a:r>
                    </a:p>
                  </a:txBody>
                  <a:tcPr marL="109728" marR="91440" marT="73152" marB="54864" anchor="ctr">
                    <a:solidFill>
                      <a:srgbClr val="FFFFFF"/>
                    </a:solidFill>
                  </a:tcPr>
                </a:tc>
              </a:tr>
              <a:tr h="434340">
                <a:tc>
                  <a:txBody>
                    <a:bodyPr/>
                    <a:lstStyle/>
                    <a:p>
                      <a:r>
                        <a:rPr sz="2200" b="0">
                          <a:solidFill>
                            <a:srgbClr val="223544"/>
                          </a:solidFill>
                          <a:latin typeface="Times New Roman"/>
                        </a:rPr>
                        <a:t>E6</a:t>
                      </a:r>
                    </a:p>
                  </a:txBody>
                  <a:tcPr marL="109728" marR="91440" marT="73152" marB="54864" anchor="ctr">
                    <a:solidFill>
                      <a:srgbClr val="E4F1F8"/>
                    </a:solidFill>
                  </a:tcPr>
                </a:tc>
                <a:tc>
                  <a:txBody>
                    <a:bodyPr/>
                    <a:lstStyle/>
                    <a:p>
                      <a:r>
                        <a:rPr sz="2200" b="0">
                          <a:solidFill>
                            <a:srgbClr val="223544"/>
                          </a:solidFill>
                          <a:latin typeface="Times New Roman"/>
                        </a:rPr>
                        <a:t>89,70</a:t>
                      </a:r>
                    </a:p>
                  </a:txBody>
                  <a:tcPr marL="109728" marR="91440" marT="73152" marB="54864" anchor="ctr">
                    <a:solidFill>
                      <a:srgbClr val="E4F1F8"/>
                    </a:solidFill>
                  </a:tcPr>
                </a:tc>
                <a:tc>
                  <a:txBody>
                    <a:bodyPr/>
                    <a:lstStyle/>
                    <a:p>
                      <a:r>
                        <a:rPr sz="2200" b="0">
                          <a:solidFill>
                            <a:srgbClr val="223544"/>
                          </a:solidFill>
                          <a:latin typeface="Times New Roman"/>
                        </a:rPr>
                        <a:t>84,44</a:t>
                      </a:r>
                    </a:p>
                  </a:txBody>
                  <a:tcPr marL="109728" marR="91440" marT="73152" marB="54864" anchor="ctr">
                    <a:solidFill>
                      <a:srgbClr val="E4F1F8"/>
                    </a:solidFill>
                  </a:tcPr>
                </a:tc>
                <a:tc>
                  <a:txBody>
                    <a:bodyPr/>
                    <a:lstStyle/>
                    <a:p>
                      <a:r>
                        <a:rPr sz="2200" b="0">
                          <a:solidFill>
                            <a:srgbClr val="223544"/>
                          </a:solidFill>
                          <a:latin typeface="Times New Roman"/>
                        </a:rPr>
                        <a:t>79,48</a:t>
                      </a:r>
                    </a:p>
                  </a:txBody>
                  <a:tcPr marL="109728" marR="91440" marT="73152" marB="54864" anchor="ctr">
                    <a:solidFill>
                      <a:srgbClr val="E4F1F8"/>
                    </a:solidFill>
                  </a:tcPr>
                </a:tc>
                <a:tc>
                  <a:txBody>
                    <a:bodyPr/>
                    <a:lstStyle/>
                    <a:p>
                      <a:r>
                        <a:rPr sz="2200" b="0">
                          <a:solidFill>
                            <a:srgbClr val="223544"/>
                          </a:solidFill>
                          <a:latin typeface="Times New Roman"/>
                        </a:rPr>
                        <a:t>84,54</a:t>
                      </a:r>
                    </a:p>
                  </a:txBody>
                  <a:tcPr marL="109728" marR="91440" marT="73152" marB="54864" anchor="ctr">
                    <a:solidFill>
                      <a:srgbClr val="E4F1F8"/>
                    </a:solidFill>
                  </a:tcPr>
                </a:tc>
              </a:tr>
              <a:tr h="434340">
                <a:tc>
                  <a:txBody>
                    <a:bodyPr/>
                    <a:lstStyle/>
                    <a:p>
                      <a:r>
                        <a:rPr sz="2200" b="0">
                          <a:solidFill>
                            <a:srgbClr val="223544"/>
                          </a:solidFill>
                          <a:latin typeface="Times New Roman"/>
                        </a:rPr>
                        <a:t>Q1</a:t>
                      </a:r>
                    </a:p>
                  </a:txBody>
                  <a:tcPr marL="109728" marR="91440" marT="73152" marB="54864" anchor="ctr">
                    <a:solidFill>
                      <a:srgbClr val="FFFFFF"/>
                    </a:solidFill>
                  </a:tcPr>
                </a:tc>
                <a:tc>
                  <a:txBody>
                    <a:bodyPr/>
                    <a:lstStyle/>
                    <a:p>
                      <a:r>
                        <a:rPr sz="2200" b="0">
                          <a:solidFill>
                            <a:srgbClr val="223544"/>
                          </a:solidFill>
                          <a:latin typeface="Times New Roman"/>
                        </a:rPr>
                        <a:t>84,05</a:t>
                      </a:r>
                    </a:p>
                  </a:txBody>
                  <a:tcPr marL="109728" marR="91440" marT="73152" marB="54864" anchor="ctr">
                    <a:solidFill>
                      <a:srgbClr val="FFFFFF"/>
                    </a:solidFill>
                  </a:tcPr>
                </a:tc>
                <a:tc>
                  <a:txBody>
                    <a:bodyPr/>
                    <a:lstStyle/>
                    <a:p>
                      <a:r>
                        <a:rPr sz="2200" b="0">
                          <a:solidFill>
                            <a:srgbClr val="223544"/>
                          </a:solidFill>
                          <a:latin typeface="Times New Roman"/>
                        </a:rPr>
                        <a:t>62,00</a:t>
                      </a:r>
                    </a:p>
                  </a:txBody>
                  <a:tcPr marL="109728" marR="91440" marT="73152" marB="54864" anchor="ctr">
                    <a:solidFill>
                      <a:srgbClr val="FFFFFF"/>
                    </a:solidFill>
                  </a:tcPr>
                </a:tc>
                <a:tc>
                  <a:txBody>
                    <a:bodyPr/>
                    <a:lstStyle/>
                    <a:p>
                      <a:r>
                        <a:rPr sz="2200" b="0">
                          <a:solidFill>
                            <a:srgbClr val="223544"/>
                          </a:solidFill>
                          <a:latin typeface="Times New Roman"/>
                        </a:rPr>
                        <a:t>70,01</a:t>
                      </a:r>
                    </a:p>
                  </a:txBody>
                  <a:tcPr marL="109728" marR="91440" marT="73152" marB="54864" anchor="ctr">
                    <a:solidFill>
                      <a:srgbClr val="FFFFFF"/>
                    </a:solidFill>
                  </a:tcPr>
                </a:tc>
                <a:tc>
                  <a:txBody>
                    <a:bodyPr/>
                    <a:lstStyle/>
                    <a:p>
                      <a:r>
                        <a:rPr sz="2200" b="0">
                          <a:solidFill>
                            <a:srgbClr val="223544"/>
                          </a:solidFill>
                          <a:latin typeface="Times New Roman"/>
                        </a:rPr>
                        <a:t>72,02</a:t>
                      </a:r>
                    </a:p>
                  </a:txBody>
                  <a:tcPr marL="109728" marR="91440" marT="73152" marB="54864" anchor="ctr">
                    <a:solidFill>
                      <a:srgbClr val="FFFFFF"/>
                    </a:solidFill>
                  </a:tcPr>
                </a:tc>
              </a:tr>
            </a:tbl>
          </a:graphicData>
        </a:graphic>
      </p:graphicFrame>
      <p:sp>
        <p:nvSpPr>
          <p:cNvPr id="7" name="TextBox 6"/>
          <p:cNvSpPr txBox="1"/>
          <p:nvPr/>
        </p:nvSpPr>
        <p:spPr>
          <a:xfrm>
            <a:off x="685800" y="5193792"/>
            <a:ext cx="10835640" cy="640080"/>
          </a:xfrm>
          <a:prstGeom prst="rect">
            <a:avLst/>
          </a:prstGeom>
          <a:noFill/>
        </p:spPr>
        <p:txBody>
          <a:bodyPr wrap="square" lIns="18288" rIns="18288" tIns="18288" bIns="0">
            <a:spAutoFit/>
          </a:bodyPr>
          <a:lstStyle/>
          <a:p>
            <a:pPr algn="l">
              <a:spcAft>
                <a:spcPts val="800"/>
              </a:spcAft>
            </a:pPr>
            <a:r>
              <a:rPr sz="2300" b="0">
                <a:solidFill>
                  <a:srgbClr val="223544"/>
                </a:solidFill>
                <a:latin typeface="Times New Roman"/>
              </a:rPr>
              <a:t>E6 chênh 10,22 điểm Macro F1 giữa S13 và S15.</a:t>
            </a:r>
          </a:p>
          <a:p>
            <a:pPr algn="l">
              <a:spcAft>
                <a:spcPts val="800"/>
              </a:spcAft>
            </a:pPr>
            <a:r>
              <a:rPr sz="2300" b="0">
                <a:solidFill>
                  <a:srgbClr val="223544"/>
                </a:solidFill>
                <a:latin typeface="Times New Roman"/>
              </a:rPr>
              <a:t>Trung bình theo người khác Macro F1 tính trên toàn bộ Test.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F1 của từng hoạt động</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16 / 23</a:t>
            </a:r>
          </a:p>
        </p:txBody>
      </p:sp>
      <p:graphicFrame>
        <p:nvGraphicFramePr>
          <p:cNvPr id="6" name="Table 5"/>
          <p:cNvGraphicFramePr>
            <a:graphicFrameLocks noGrp="1"/>
          </p:cNvGraphicFramePr>
          <p:nvPr/>
        </p:nvGraphicFramePr>
        <p:xfrm>
          <a:off x="548640" y="1417320"/>
          <a:ext cx="11064240" cy="4069080"/>
        </p:xfrm>
        <a:graphic>
          <a:graphicData uri="http://schemas.openxmlformats.org/drawingml/2006/table">
            <a:tbl>
              <a:tblPr firstRow="1" bandRow="1">
                <a:tableStyleId>{5C22544A-7EE6-4342-B048-85BDC9FD1C3A}</a:tableStyleId>
              </a:tblPr>
              <a:tblGrid>
                <a:gridCol w="3383280"/>
                <a:gridCol w="1097280"/>
                <a:gridCol w="1097280"/>
                <a:gridCol w="1097280"/>
                <a:gridCol w="1097280"/>
                <a:gridCol w="1097280"/>
                <a:gridCol w="1097280"/>
                <a:gridCol w="1097280"/>
              </a:tblGrid>
              <a:tr h="452120">
                <a:tc>
                  <a:txBody>
                    <a:bodyPr/>
                    <a:lstStyle/>
                    <a:p>
                      <a:r>
                        <a:rPr sz="1900" b="1">
                          <a:solidFill>
                            <a:srgbClr val="FFFFFF"/>
                          </a:solidFill>
                          <a:latin typeface="Times New Roman"/>
                        </a:rPr>
                        <a:t>Hoạt động</a:t>
                      </a:r>
                    </a:p>
                  </a:txBody>
                  <a:tcPr marL="109728" marR="91440" marT="73152" marB="54864" anchor="ctr">
                    <a:solidFill>
                      <a:srgbClr val="19364D"/>
                    </a:solidFill>
                  </a:tcPr>
                </a:tc>
                <a:tc>
                  <a:txBody>
                    <a:bodyPr/>
                    <a:lstStyle/>
                    <a:p>
                      <a:r>
                        <a:rPr sz="1900" b="1">
                          <a:solidFill>
                            <a:srgbClr val="FFFFFF"/>
                          </a:solidFill>
                          <a:latin typeface="Times New Roman"/>
                        </a:rPr>
                        <a:t>E1</a:t>
                      </a:r>
                    </a:p>
                  </a:txBody>
                  <a:tcPr marL="109728" marR="91440" marT="73152" marB="54864" anchor="ctr">
                    <a:solidFill>
                      <a:srgbClr val="19364D"/>
                    </a:solidFill>
                  </a:tcPr>
                </a:tc>
                <a:tc>
                  <a:txBody>
                    <a:bodyPr/>
                    <a:lstStyle/>
                    <a:p>
                      <a:r>
                        <a:rPr sz="1900" b="1">
                          <a:solidFill>
                            <a:srgbClr val="FFFFFF"/>
                          </a:solidFill>
                          <a:latin typeface="Times New Roman"/>
                        </a:rPr>
                        <a:t>E2</a:t>
                      </a:r>
                    </a:p>
                  </a:txBody>
                  <a:tcPr marL="109728" marR="91440" marT="73152" marB="54864" anchor="ctr">
                    <a:solidFill>
                      <a:srgbClr val="19364D"/>
                    </a:solidFill>
                  </a:tcPr>
                </a:tc>
                <a:tc>
                  <a:txBody>
                    <a:bodyPr/>
                    <a:lstStyle/>
                    <a:p>
                      <a:r>
                        <a:rPr sz="1900" b="1">
                          <a:solidFill>
                            <a:srgbClr val="FFFFFF"/>
                          </a:solidFill>
                          <a:latin typeface="Times New Roman"/>
                        </a:rPr>
                        <a:t>E3</a:t>
                      </a:r>
                    </a:p>
                  </a:txBody>
                  <a:tcPr marL="109728" marR="91440" marT="73152" marB="54864" anchor="ctr">
                    <a:solidFill>
                      <a:srgbClr val="19364D"/>
                    </a:solidFill>
                  </a:tcPr>
                </a:tc>
                <a:tc>
                  <a:txBody>
                    <a:bodyPr/>
                    <a:lstStyle/>
                    <a:p>
                      <a:r>
                        <a:rPr sz="1900" b="1">
                          <a:solidFill>
                            <a:srgbClr val="FFFFFF"/>
                          </a:solidFill>
                          <a:latin typeface="Times New Roman"/>
                        </a:rPr>
                        <a:t>E4</a:t>
                      </a:r>
                    </a:p>
                  </a:txBody>
                  <a:tcPr marL="109728" marR="91440" marT="73152" marB="54864" anchor="ctr">
                    <a:solidFill>
                      <a:srgbClr val="19364D"/>
                    </a:solidFill>
                  </a:tcPr>
                </a:tc>
                <a:tc>
                  <a:txBody>
                    <a:bodyPr/>
                    <a:lstStyle/>
                    <a:p>
                      <a:r>
                        <a:rPr sz="1900" b="1">
                          <a:solidFill>
                            <a:srgbClr val="FFFFFF"/>
                          </a:solidFill>
                          <a:latin typeface="Times New Roman"/>
                        </a:rPr>
                        <a:t>E5</a:t>
                      </a:r>
                    </a:p>
                  </a:txBody>
                  <a:tcPr marL="109728" marR="91440" marT="73152" marB="54864" anchor="ctr">
                    <a:solidFill>
                      <a:srgbClr val="19364D"/>
                    </a:solidFill>
                  </a:tcPr>
                </a:tc>
                <a:tc>
                  <a:txBody>
                    <a:bodyPr/>
                    <a:lstStyle/>
                    <a:p>
                      <a:r>
                        <a:rPr sz="1900" b="1">
                          <a:solidFill>
                            <a:srgbClr val="FFFFFF"/>
                          </a:solidFill>
                          <a:latin typeface="Times New Roman"/>
                        </a:rPr>
                        <a:t>E6</a:t>
                      </a:r>
                    </a:p>
                  </a:txBody>
                  <a:tcPr marL="109728" marR="91440" marT="73152" marB="54864" anchor="ctr">
                    <a:solidFill>
                      <a:srgbClr val="19364D"/>
                    </a:solidFill>
                  </a:tcPr>
                </a:tc>
                <a:tc>
                  <a:txBody>
                    <a:bodyPr/>
                    <a:lstStyle/>
                    <a:p>
                      <a:r>
                        <a:rPr sz="1900" b="1">
                          <a:solidFill>
                            <a:srgbClr val="FFFFFF"/>
                          </a:solidFill>
                          <a:latin typeface="Times New Roman"/>
                        </a:rPr>
                        <a:t>Q1</a:t>
                      </a:r>
                    </a:p>
                  </a:txBody>
                  <a:tcPr marL="109728" marR="91440" marT="73152" marB="54864" anchor="ctr">
                    <a:solidFill>
                      <a:srgbClr val="19364D"/>
                    </a:solidFill>
                  </a:tcPr>
                </a:tc>
              </a:tr>
              <a:tr h="452120">
                <a:tc>
                  <a:txBody>
                    <a:bodyPr/>
                    <a:lstStyle/>
                    <a:p>
                      <a:r>
                        <a:rPr sz="1900" b="0">
                          <a:solidFill>
                            <a:srgbClr val="223544"/>
                          </a:solidFill>
                          <a:latin typeface="Times New Roman"/>
                        </a:rPr>
                        <a:t>Ngồi yên</a:t>
                      </a:r>
                    </a:p>
                  </a:txBody>
                  <a:tcPr marL="109728" marR="91440" marT="73152" marB="54864" anchor="ctr">
                    <a:solidFill>
                      <a:srgbClr val="FFFFFF"/>
                    </a:solidFill>
                  </a:tcPr>
                </a:tc>
                <a:tc>
                  <a:txBody>
                    <a:bodyPr/>
                    <a:lstStyle/>
                    <a:p>
                      <a:r>
                        <a:rPr sz="1900" b="0">
                          <a:solidFill>
                            <a:srgbClr val="223544"/>
                          </a:solidFill>
                          <a:latin typeface="Times New Roman"/>
                        </a:rPr>
                        <a:t>57,98</a:t>
                      </a:r>
                    </a:p>
                  </a:txBody>
                  <a:tcPr marL="109728" marR="91440" marT="73152" marB="54864" anchor="ctr">
                    <a:solidFill>
                      <a:srgbClr val="FFFFFF"/>
                    </a:solidFill>
                  </a:tcPr>
                </a:tc>
                <a:tc>
                  <a:txBody>
                    <a:bodyPr/>
                    <a:lstStyle/>
                    <a:p>
                      <a:r>
                        <a:rPr sz="1900" b="0">
                          <a:solidFill>
                            <a:srgbClr val="223544"/>
                          </a:solidFill>
                          <a:latin typeface="Times New Roman"/>
                        </a:rPr>
                        <a:t>75,16</a:t>
                      </a:r>
                    </a:p>
                  </a:txBody>
                  <a:tcPr marL="109728" marR="91440" marT="73152" marB="54864" anchor="ctr">
                    <a:solidFill>
                      <a:srgbClr val="FFFFFF"/>
                    </a:solidFill>
                  </a:tcPr>
                </a:tc>
                <a:tc>
                  <a:txBody>
                    <a:bodyPr/>
                    <a:lstStyle/>
                    <a:p>
                      <a:r>
                        <a:rPr sz="1900" b="0">
                          <a:solidFill>
                            <a:srgbClr val="223544"/>
                          </a:solidFill>
                          <a:latin typeface="Times New Roman"/>
                        </a:rPr>
                        <a:t>68,70</a:t>
                      </a:r>
                    </a:p>
                  </a:txBody>
                  <a:tcPr marL="109728" marR="91440" marT="73152" marB="54864" anchor="ctr">
                    <a:solidFill>
                      <a:srgbClr val="FFFFFF"/>
                    </a:solidFill>
                  </a:tcPr>
                </a:tc>
                <a:tc>
                  <a:txBody>
                    <a:bodyPr/>
                    <a:lstStyle/>
                    <a:p>
                      <a:r>
                        <a:rPr sz="1900" b="0">
                          <a:solidFill>
                            <a:srgbClr val="223544"/>
                          </a:solidFill>
                          <a:latin typeface="Times New Roman"/>
                        </a:rPr>
                        <a:t>50,97</a:t>
                      </a:r>
                    </a:p>
                  </a:txBody>
                  <a:tcPr marL="109728" marR="91440" marT="73152" marB="54864" anchor="ctr">
                    <a:solidFill>
                      <a:srgbClr val="FFFFFF"/>
                    </a:solidFill>
                  </a:tcPr>
                </a:tc>
                <a:tc>
                  <a:txBody>
                    <a:bodyPr/>
                    <a:lstStyle/>
                    <a:p>
                      <a:r>
                        <a:rPr sz="1900" b="0">
                          <a:solidFill>
                            <a:srgbClr val="223544"/>
                          </a:solidFill>
                          <a:latin typeface="Times New Roman"/>
                        </a:rPr>
                        <a:t>54,17</a:t>
                      </a:r>
                    </a:p>
                  </a:txBody>
                  <a:tcPr marL="109728" marR="91440" marT="73152" marB="54864" anchor="ctr">
                    <a:solidFill>
                      <a:srgbClr val="FFFFFF"/>
                    </a:solidFill>
                  </a:tcPr>
                </a:tc>
                <a:tc>
                  <a:txBody>
                    <a:bodyPr/>
                    <a:lstStyle/>
                    <a:p>
                      <a:r>
                        <a:rPr sz="1900" b="0">
                          <a:solidFill>
                            <a:srgbClr val="223544"/>
                          </a:solidFill>
                          <a:latin typeface="Times New Roman"/>
                        </a:rPr>
                        <a:t>85,79</a:t>
                      </a:r>
                    </a:p>
                  </a:txBody>
                  <a:tcPr marL="109728" marR="91440" marT="73152" marB="54864" anchor="ctr">
                    <a:solidFill>
                      <a:srgbClr val="FFFFFF"/>
                    </a:solidFill>
                  </a:tcPr>
                </a:tc>
                <a:tc>
                  <a:txBody>
                    <a:bodyPr/>
                    <a:lstStyle/>
                    <a:p>
                      <a:r>
                        <a:rPr sz="1900" b="0">
                          <a:solidFill>
                            <a:srgbClr val="223544"/>
                          </a:solidFill>
                          <a:latin typeface="Times New Roman"/>
                        </a:rPr>
                        <a:t>61,78</a:t>
                      </a:r>
                    </a:p>
                  </a:txBody>
                  <a:tcPr marL="109728" marR="91440" marT="73152" marB="54864" anchor="ctr">
                    <a:solidFill>
                      <a:srgbClr val="FFFFFF"/>
                    </a:solidFill>
                  </a:tcPr>
                </a:tc>
              </a:tr>
              <a:tr h="452120">
                <a:tc>
                  <a:txBody>
                    <a:bodyPr/>
                    <a:lstStyle/>
                    <a:p>
                      <a:r>
                        <a:rPr sz="1900" b="0">
                          <a:solidFill>
                            <a:srgbClr val="223544"/>
                          </a:solidFill>
                          <a:latin typeface="Times New Roman"/>
                        </a:rPr>
                        <a:t>Lên/xuống cầu thang</a:t>
                      </a:r>
                    </a:p>
                  </a:txBody>
                  <a:tcPr marL="109728" marR="91440" marT="73152" marB="54864" anchor="ctr">
                    <a:solidFill>
                      <a:srgbClr val="EEF4F8"/>
                    </a:solidFill>
                  </a:tcPr>
                </a:tc>
                <a:tc>
                  <a:txBody>
                    <a:bodyPr/>
                    <a:lstStyle/>
                    <a:p>
                      <a:r>
                        <a:rPr sz="1900" b="0">
                          <a:solidFill>
                            <a:srgbClr val="223544"/>
                          </a:solidFill>
                          <a:latin typeface="Times New Roman"/>
                        </a:rPr>
                        <a:t>73,15</a:t>
                      </a:r>
                    </a:p>
                  </a:txBody>
                  <a:tcPr marL="109728" marR="91440" marT="73152" marB="54864" anchor="ctr">
                    <a:solidFill>
                      <a:srgbClr val="EEF4F8"/>
                    </a:solidFill>
                  </a:tcPr>
                </a:tc>
                <a:tc>
                  <a:txBody>
                    <a:bodyPr/>
                    <a:lstStyle/>
                    <a:p>
                      <a:r>
                        <a:rPr sz="1900" b="0">
                          <a:solidFill>
                            <a:srgbClr val="223544"/>
                          </a:solidFill>
                          <a:latin typeface="Times New Roman"/>
                        </a:rPr>
                        <a:t>74,87</a:t>
                      </a:r>
                    </a:p>
                  </a:txBody>
                  <a:tcPr marL="109728" marR="91440" marT="73152" marB="54864" anchor="ctr">
                    <a:solidFill>
                      <a:srgbClr val="EEF4F8"/>
                    </a:solidFill>
                  </a:tcPr>
                </a:tc>
                <a:tc>
                  <a:txBody>
                    <a:bodyPr/>
                    <a:lstStyle/>
                    <a:p>
                      <a:r>
                        <a:rPr sz="1900" b="0">
                          <a:solidFill>
                            <a:srgbClr val="223544"/>
                          </a:solidFill>
                          <a:latin typeface="Times New Roman"/>
                        </a:rPr>
                        <a:t>69,26</a:t>
                      </a:r>
                    </a:p>
                  </a:txBody>
                  <a:tcPr marL="109728" marR="91440" marT="73152" marB="54864" anchor="ctr">
                    <a:solidFill>
                      <a:srgbClr val="EEF4F8"/>
                    </a:solidFill>
                  </a:tcPr>
                </a:tc>
                <a:tc>
                  <a:txBody>
                    <a:bodyPr/>
                    <a:lstStyle/>
                    <a:p>
                      <a:r>
                        <a:rPr sz="1900" b="0">
                          <a:solidFill>
                            <a:srgbClr val="223544"/>
                          </a:solidFill>
                          <a:latin typeface="Times New Roman"/>
                        </a:rPr>
                        <a:t>73,05</a:t>
                      </a:r>
                    </a:p>
                  </a:txBody>
                  <a:tcPr marL="109728" marR="91440" marT="73152" marB="54864" anchor="ctr">
                    <a:solidFill>
                      <a:srgbClr val="EEF4F8"/>
                    </a:solidFill>
                  </a:tcPr>
                </a:tc>
                <a:tc>
                  <a:txBody>
                    <a:bodyPr/>
                    <a:lstStyle/>
                    <a:p>
                      <a:r>
                        <a:rPr sz="1900" b="0">
                          <a:solidFill>
                            <a:srgbClr val="223544"/>
                          </a:solidFill>
                          <a:latin typeface="Times New Roman"/>
                        </a:rPr>
                        <a:t>29,13</a:t>
                      </a:r>
                    </a:p>
                  </a:txBody>
                  <a:tcPr marL="109728" marR="91440" marT="73152" marB="54864" anchor="ctr">
                    <a:solidFill>
                      <a:srgbClr val="EEF4F8"/>
                    </a:solidFill>
                  </a:tcPr>
                </a:tc>
                <a:tc>
                  <a:txBody>
                    <a:bodyPr/>
                    <a:lstStyle/>
                    <a:p>
                      <a:r>
                        <a:rPr sz="1900" b="0">
                          <a:solidFill>
                            <a:srgbClr val="223544"/>
                          </a:solidFill>
                          <a:latin typeface="Times New Roman"/>
                        </a:rPr>
                        <a:t>91,34</a:t>
                      </a:r>
                    </a:p>
                  </a:txBody>
                  <a:tcPr marL="109728" marR="91440" marT="73152" marB="54864" anchor="ctr">
                    <a:solidFill>
                      <a:srgbClr val="EEF4F8"/>
                    </a:solidFill>
                  </a:tcPr>
                </a:tc>
                <a:tc>
                  <a:txBody>
                    <a:bodyPr/>
                    <a:lstStyle/>
                    <a:p>
                      <a:r>
                        <a:rPr sz="1900" b="0">
                          <a:solidFill>
                            <a:srgbClr val="223544"/>
                          </a:solidFill>
                          <a:latin typeface="Times New Roman"/>
                        </a:rPr>
                        <a:t>70,06</a:t>
                      </a:r>
                    </a:p>
                  </a:txBody>
                  <a:tcPr marL="109728" marR="91440" marT="73152" marB="54864" anchor="ctr">
                    <a:solidFill>
                      <a:srgbClr val="EEF4F8"/>
                    </a:solidFill>
                  </a:tcPr>
                </a:tc>
              </a:tr>
              <a:tr h="452120">
                <a:tc>
                  <a:txBody>
                    <a:bodyPr/>
                    <a:lstStyle/>
                    <a:p>
                      <a:r>
                        <a:rPr sz="1900" b="0">
                          <a:solidFill>
                            <a:srgbClr val="223544"/>
                          </a:solidFill>
                          <a:latin typeface="Times New Roman"/>
                        </a:rPr>
                        <a:t>Chơi bi lắc</a:t>
                      </a:r>
                    </a:p>
                  </a:txBody>
                  <a:tcPr marL="109728" marR="91440" marT="73152" marB="54864" anchor="ctr">
                    <a:solidFill>
                      <a:srgbClr val="FFFFFF"/>
                    </a:solidFill>
                  </a:tcPr>
                </a:tc>
                <a:tc>
                  <a:txBody>
                    <a:bodyPr/>
                    <a:lstStyle/>
                    <a:p>
                      <a:r>
                        <a:rPr sz="1900" b="0">
                          <a:solidFill>
                            <a:srgbClr val="223544"/>
                          </a:solidFill>
                          <a:latin typeface="Times New Roman"/>
                        </a:rPr>
                        <a:t>85,36</a:t>
                      </a:r>
                    </a:p>
                  </a:txBody>
                  <a:tcPr marL="109728" marR="91440" marT="73152" marB="54864" anchor="ctr">
                    <a:solidFill>
                      <a:srgbClr val="FFFFFF"/>
                    </a:solidFill>
                  </a:tcPr>
                </a:tc>
                <a:tc>
                  <a:txBody>
                    <a:bodyPr/>
                    <a:lstStyle/>
                    <a:p>
                      <a:r>
                        <a:rPr sz="1900" b="0">
                          <a:solidFill>
                            <a:srgbClr val="223544"/>
                          </a:solidFill>
                          <a:latin typeface="Times New Roman"/>
                        </a:rPr>
                        <a:t>83,82</a:t>
                      </a:r>
                    </a:p>
                  </a:txBody>
                  <a:tcPr marL="109728" marR="91440" marT="73152" marB="54864" anchor="ctr">
                    <a:solidFill>
                      <a:srgbClr val="FFFFFF"/>
                    </a:solidFill>
                  </a:tcPr>
                </a:tc>
                <a:tc>
                  <a:txBody>
                    <a:bodyPr/>
                    <a:lstStyle/>
                    <a:p>
                      <a:r>
                        <a:rPr sz="1900" b="0">
                          <a:solidFill>
                            <a:srgbClr val="223544"/>
                          </a:solidFill>
                          <a:latin typeface="Times New Roman"/>
                        </a:rPr>
                        <a:t>76,70</a:t>
                      </a:r>
                    </a:p>
                  </a:txBody>
                  <a:tcPr marL="109728" marR="91440" marT="73152" marB="54864" anchor="ctr">
                    <a:solidFill>
                      <a:srgbClr val="FFFFFF"/>
                    </a:solidFill>
                  </a:tcPr>
                </a:tc>
                <a:tc>
                  <a:txBody>
                    <a:bodyPr/>
                    <a:lstStyle/>
                    <a:p>
                      <a:r>
                        <a:rPr sz="1900" b="0">
                          <a:solidFill>
                            <a:srgbClr val="223544"/>
                          </a:solidFill>
                          <a:latin typeface="Times New Roman"/>
                        </a:rPr>
                        <a:t>78,88</a:t>
                      </a:r>
                    </a:p>
                  </a:txBody>
                  <a:tcPr marL="109728" marR="91440" marT="73152" marB="54864" anchor="ctr">
                    <a:solidFill>
                      <a:srgbClr val="FFFFFF"/>
                    </a:solidFill>
                  </a:tcPr>
                </a:tc>
                <a:tc>
                  <a:txBody>
                    <a:bodyPr/>
                    <a:lstStyle/>
                    <a:p>
                      <a:r>
                        <a:rPr sz="1900" b="0">
                          <a:solidFill>
                            <a:srgbClr val="223544"/>
                          </a:solidFill>
                          <a:latin typeface="Times New Roman"/>
                        </a:rPr>
                        <a:t>33,37</a:t>
                      </a:r>
                    </a:p>
                  </a:txBody>
                  <a:tcPr marL="109728" marR="91440" marT="73152" marB="54864" anchor="ctr">
                    <a:solidFill>
                      <a:srgbClr val="FFFFFF"/>
                    </a:solidFill>
                  </a:tcPr>
                </a:tc>
                <a:tc>
                  <a:txBody>
                    <a:bodyPr/>
                    <a:lstStyle/>
                    <a:p>
                      <a:r>
                        <a:rPr sz="1900" b="0">
                          <a:solidFill>
                            <a:srgbClr val="223544"/>
                          </a:solidFill>
                          <a:latin typeface="Times New Roman"/>
                        </a:rPr>
                        <a:t>87,43</a:t>
                      </a:r>
                    </a:p>
                  </a:txBody>
                  <a:tcPr marL="109728" marR="91440" marT="73152" marB="54864" anchor="ctr">
                    <a:solidFill>
                      <a:srgbClr val="FFFFFF"/>
                    </a:solidFill>
                  </a:tcPr>
                </a:tc>
                <a:tc>
                  <a:txBody>
                    <a:bodyPr/>
                    <a:lstStyle/>
                    <a:p>
                      <a:r>
                        <a:rPr sz="1900" b="0">
                          <a:solidFill>
                            <a:srgbClr val="223544"/>
                          </a:solidFill>
                          <a:latin typeface="Times New Roman"/>
                        </a:rPr>
                        <a:t>72,85</a:t>
                      </a:r>
                    </a:p>
                  </a:txBody>
                  <a:tcPr marL="109728" marR="91440" marT="73152" marB="54864" anchor="ctr">
                    <a:solidFill>
                      <a:srgbClr val="FFFFFF"/>
                    </a:solidFill>
                  </a:tcPr>
                </a:tc>
              </a:tr>
              <a:tr h="452120">
                <a:tc>
                  <a:txBody>
                    <a:bodyPr/>
                    <a:lstStyle/>
                    <a:p>
                      <a:r>
                        <a:rPr sz="1900" b="0">
                          <a:solidFill>
                            <a:srgbClr val="223544"/>
                          </a:solidFill>
                          <a:latin typeface="Times New Roman"/>
                        </a:rPr>
                        <a:t>Đạp xe</a:t>
                      </a:r>
                    </a:p>
                  </a:txBody>
                  <a:tcPr marL="109728" marR="91440" marT="73152" marB="54864" anchor="ctr">
                    <a:solidFill>
                      <a:srgbClr val="EEF4F8"/>
                    </a:solidFill>
                  </a:tcPr>
                </a:tc>
                <a:tc>
                  <a:txBody>
                    <a:bodyPr/>
                    <a:lstStyle/>
                    <a:p>
                      <a:r>
                        <a:rPr sz="1900" b="0">
                          <a:solidFill>
                            <a:srgbClr val="223544"/>
                          </a:solidFill>
                          <a:latin typeface="Times New Roman"/>
                        </a:rPr>
                        <a:t>99,13</a:t>
                      </a:r>
                    </a:p>
                  </a:txBody>
                  <a:tcPr marL="109728" marR="91440" marT="73152" marB="54864" anchor="ctr">
                    <a:solidFill>
                      <a:srgbClr val="EEF4F8"/>
                    </a:solidFill>
                  </a:tcPr>
                </a:tc>
                <a:tc>
                  <a:txBody>
                    <a:bodyPr/>
                    <a:lstStyle/>
                    <a:p>
                      <a:r>
                        <a:rPr sz="1900" b="0">
                          <a:solidFill>
                            <a:srgbClr val="223544"/>
                          </a:solidFill>
                          <a:latin typeface="Times New Roman"/>
                        </a:rPr>
                        <a:t>98,31</a:t>
                      </a:r>
                    </a:p>
                  </a:txBody>
                  <a:tcPr marL="109728" marR="91440" marT="73152" marB="54864" anchor="ctr">
                    <a:solidFill>
                      <a:srgbClr val="EEF4F8"/>
                    </a:solidFill>
                  </a:tcPr>
                </a:tc>
                <a:tc>
                  <a:txBody>
                    <a:bodyPr/>
                    <a:lstStyle/>
                    <a:p>
                      <a:r>
                        <a:rPr sz="1900" b="0">
                          <a:solidFill>
                            <a:srgbClr val="223544"/>
                          </a:solidFill>
                          <a:latin typeface="Times New Roman"/>
                        </a:rPr>
                        <a:t>98,42</a:t>
                      </a:r>
                    </a:p>
                  </a:txBody>
                  <a:tcPr marL="109728" marR="91440" marT="73152" marB="54864" anchor="ctr">
                    <a:solidFill>
                      <a:srgbClr val="EEF4F8"/>
                    </a:solidFill>
                  </a:tcPr>
                </a:tc>
                <a:tc>
                  <a:txBody>
                    <a:bodyPr/>
                    <a:lstStyle/>
                    <a:p>
                      <a:r>
                        <a:rPr sz="1900" b="0">
                          <a:solidFill>
                            <a:srgbClr val="223544"/>
                          </a:solidFill>
                          <a:latin typeface="Times New Roman"/>
                        </a:rPr>
                        <a:t>99,09</a:t>
                      </a:r>
                    </a:p>
                  </a:txBody>
                  <a:tcPr marL="109728" marR="91440" marT="73152" marB="54864" anchor="ctr">
                    <a:solidFill>
                      <a:srgbClr val="EEF4F8"/>
                    </a:solidFill>
                  </a:tcPr>
                </a:tc>
                <a:tc>
                  <a:txBody>
                    <a:bodyPr/>
                    <a:lstStyle/>
                    <a:p>
                      <a:r>
                        <a:rPr sz="1900" b="0">
                          <a:solidFill>
                            <a:srgbClr val="223544"/>
                          </a:solidFill>
                          <a:latin typeface="Times New Roman"/>
                        </a:rPr>
                        <a:t>67,57</a:t>
                      </a:r>
                    </a:p>
                  </a:txBody>
                  <a:tcPr marL="109728" marR="91440" marT="73152" marB="54864" anchor="ctr">
                    <a:solidFill>
                      <a:srgbClr val="EEF4F8"/>
                    </a:solidFill>
                  </a:tcPr>
                </a:tc>
                <a:tc>
                  <a:txBody>
                    <a:bodyPr/>
                    <a:lstStyle/>
                    <a:p>
                      <a:r>
                        <a:rPr sz="1900" b="0">
                          <a:solidFill>
                            <a:srgbClr val="223544"/>
                          </a:solidFill>
                          <a:latin typeface="Times New Roman"/>
                        </a:rPr>
                        <a:t>99,64</a:t>
                      </a:r>
                    </a:p>
                  </a:txBody>
                  <a:tcPr marL="109728" marR="91440" marT="73152" marB="54864" anchor="ctr">
                    <a:solidFill>
                      <a:srgbClr val="EEF4F8"/>
                    </a:solidFill>
                  </a:tcPr>
                </a:tc>
                <a:tc>
                  <a:txBody>
                    <a:bodyPr/>
                    <a:lstStyle/>
                    <a:p>
                      <a:r>
                        <a:rPr sz="1900" b="0">
                          <a:solidFill>
                            <a:srgbClr val="223544"/>
                          </a:solidFill>
                          <a:latin typeface="Times New Roman"/>
                        </a:rPr>
                        <a:t>98,91</a:t>
                      </a:r>
                    </a:p>
                  </a:txBody>
                  <a:tcPr marL="109728" marR="91440" marT="73152" marB="54864" anchor="ctr">
                    <a:solidFill>
                      <a:srgbClr val="EEF4F8"/>
                    </a:solidFill>
                  </a:tcPr>
                </a:tc>
              </a:tr>
              <a:tr h="452120">
                <a:tc>
                  <a:txBody>
                    <a:bodyPr/>
                    <a:lstStyle/>
                    <a:p>
                      <a:r>
                        <a:rPr sz="1900" b="0">
                          <a:solidFill>
                            <a:srgbClr val="223544"/>
                          </a:solidFill>
                          <a:latin typeface="Times New Roman"/>
                        </a:rPr>
                        <a:t>Lái ô tô</a:t>
                      </a:r>
                    </a:p>
                  </a:txBody>
                  <a:tcPr marL="109728" marR="91440" marT="73152" marB="54864" anchor="ctr">
                    <a:solidFill>
                      <a:srgbClr val="FFFFFF"/>
                    </a:solidFill>
                  </a:tcPr>
                </a:tc>
                <a:tc>
                  <a:txBody>
                    <a:bodyPr/>
                    <a:lstStyle/>
                    <a:p>
                      <a:r>
                        <a:rPr sz="1900" b="0">
                          <a:solidFill>
                            <a:srgbClr val="223544"/>
                          </a:solidFill>
                          <a:latin typeface="Times New Roman"/>
                        </a:rPr>
                        <a:t>81,94</a:t>
                      </a:r>
                    </a:p>
                  </a:txBody>
                  <a:tcPr marL="109728" marR="91440" marT="73152" marB="54864" anchor="ctr">
                    <a:solidFill>
                      <a:srgbClr val="FFFFFF"/>
                    </a:solidFill>
                  </a:tcPr>
                </a:tc>
                <a:tc>
                  <a:txBody>
                    <a:bodyPr/>
                    <a:lstStyle/>
                    <a:p>
                      <a:r>
                        <a:rPr sz="1900" b="0">
                          <a:solidFill>
                            <a:srgbClr val="223544"/>
                          </a:solidFill>
                          <a:latin typeface="Times New Roman"/>
                        </a:rPr>
                        <a:t>85,99</a:t>
                      </a:r>
                    </a:p>
                  </a:txBody>
                  <a:tcPr marL="109728" marR="91440" marT="73152" marB="54864" anchor="ctr">
                    <a:solidFill>
                      <a:srgbClr val="FFFFFF"/>
                    </a:solidFill>
                  </a:tcPr>
                </a:tc>
                <a:tc>
                  <a:txBody>
                    <a:bodyPr/>
                    <a:lstStyle/>
                    <a:p>
                      <a:r>
                        <a:rPr sz="1900" b="0">
                          <a:solidFill>
                            <a:srgbClr val="223544"/>
                          </a:solidFill>
                          <a:latin typeface="Times New Roman"/>
                        </a:rPr>
                        <a:t>91,52</a:t>
                      </a:r>
                    </a:p>
                  </a:txBody>
                  <a:tcPr marL="109728" marR="91440" marT="73152" marB="54864" anchor="ctr">
                    <a:solidFill>
                      <a:srgbClr val="FFFFFF"/>
                    </a:solidFill>
                  </a:tcPr>
                </a:tc>
                <a:tc>
                  <a:txBody>
                    <a:bodyPr/>
                    <a:lstStyle/>
                    <a:p>
                      <a:r>
                        <a:rPr sz="1900" b="0">
                          <a:solidFill>
                            <a:srgbClr val="223544"/>
                          </a:solidFill>
                          <a:latin typeface="Times New Roman"/>
                        </a:rPr>
                        <a:t>90,30</a:t>
                      </a:r>
                    </a:p>
                  </a:txBody>
                  <a:tcPr marL="109728" marR="91440" marT="73152" marB="54864" anchor="ctr">
                    <a:solidFill>
                      <a:srgbClr val="FFFFFF"/>
                    </a:solidFill>
                  </a:tcPr>
                </a:tc>
                <a:tc>
                  <a:txBody>
                    <a:bodyPr/>
                    <a:lstStyle/>
                    <a:p>
                      <a:r>
                        <a:rPr sz="1900" b="0">
                          <a:solidFill>
                            <a:srgbClr val="223544"/>
                          </a:solidFill>
                          <a:latin typeface="Times New Roman"/>
                        </a:rPr>
                        <a:t>34,70</a:t>
                      </a:r>
                    </a:p>
                  </a:txBody>
                  <a:tcPr marL="109728" marR="91440" marT="73152" marB="54864" anchor="ctr">
                    <a:solidFill>
                      <a:srgbClr val="FFFFFF"/>
                    </a:solidFill>
                  </a:tcPr>
                </a:tc>
                <a:tc>
                  <a:txBody>
                    <a:bodyPr/>
                    <a:lstStyle/>
                    <a:p>
                      <a:r>
                        <a:rPr sz="1900" b="0">
                          <a:solidFill>
                            <a:srgbClr val="223544"/>
                          </a:solidFill>
                          <a:latin typeface="Times New Roman"/>
                        </a:rPr>
                        <a:t>96,14</a:t>
                      </a:r>
                    </a:p>
                  </a:txBody>
                  <a:tcPr marL="109728" marR="91440" marT="73152" marB="54864" anchor="ctr">
                    <a:solidFill>
                      <a:srgbClr val="FFFFFF"/>
                    </a:solidFill>
                  </a:tcPr>
                </a:tc>
                <a:tc>
                  <a:txBody>
                    <a:bodyPr/>
                    <a:lstStyle/>
                    <a:p>
                      <a:r>
                        <a:rPr sz="1900" b="0">
                          <a:solidFill>
                            <a:srgbClr val="223544"/>
                          </a:solidFill>
                          <a:latin typeface="Times New Roman"/>
                        </a:rPr>
                        <a:t>93,76</a:t>
                      </a:r>
                    </a:p>
                  </a:txBody>
                  <a:tcPr marL="109728" marR="91440" marT="73152" marB="54864" anchor="ctr">
                    <a:solidFill>
                      <a:srgbClr val="FFFFFF"/>
                    </a:solidFill>
                  </a:tcPr>
                </a:tc>
              </a:tr>
              <a:tr h="452120">
                <a:tc>
                  <a:txBody>
                    <a:bodyPr/>
                    <a:lstStyle/>
                    <a:p>
                      <a:r>
                        <a:rPr sz="1900" b="0">
                          <a:solidFill>
                            <a:srgbClr val="223544"/>
                          </a:solidFill>
                          <a:latin typeface="Times New Roman"/>
                        </a:rPr>
                        <a:t>Nghỉ trưa/ăn trưa</a:t>
                      </a:r>
                    </a:p>
                  </a:txBody>
                  <a:tcPr marL="109728" marR="91440" marT="73152" marB="54864" anchor="ctr">
                    <a:solidFill>
                      <a:srgbClr val="EEF4F8"/>
                    </a:solidFill>
                  </a:tcPr>
                </a:tc>
                <a:tc>
                  <a:txBody>
                    <a:bodyPr/>
                    <a:lstStyle/>
                    <a:p>
                      <a:r>
                        <a:rPr sz="1900" b="0">
                          <a:solidFill>
                            <a:srgbClr val="223544"/>
                          </a:solidFill>
                          <a:latin typeface="Times New Roman"/>
                        </a:rPr>
                        <a:t>71,31</a:t>
                      </a:r>
                    </a:p>
                  </a:txBody>
                  <a:tcPr marL="109728" marR="91440" marT="73152" marB="54864" anchor="ctr">
                    <a:solidFill>
                      <a:srgbClr val="EEF4F8"/>
                    </a:solidFill>
                  </a:tcPr>
                </a:tc>
                <a:tc>
                  <a:txBody>
                    <a:bodyPr/>
                    <a:lstStyle/>
                    <a:p>
                      <a:r>
                        <a:rPr sz="1900" b="0">
                          <a:solidFill>
                            <a:srgbClr val="223544"/>
                          </a:solidFill>
                          <a:latin typeface="Times New Roman"/>
                        </a:rPr>
                        <a:t>70,31</a:t>
                      </a:r>
                    </a:p>
                  </a:txBody>
                  <a:tcPr marL="109728" marR="91440" marT="73152" marB="54864" anchor="ctr">
                    <a:solidFill>
                      <a:srgbClr val="EEF4F8"/>
                    </a:solidFill>
                  </a:tcPr>
                </a:tc>
                <a:tc>
                  <a:txBody>
                    <a:bodyPr/>
                    <a:lstStyle/>
                    <a:p>
                      <a:r>
                        <a:rPr sz="1900" b="0">
                          <a:solidFill>
                            <a:srgbClr val="223544"/>
                          </a:solidFill>
                          <a:latin typeface="Times New Roman"/>
                        </a:rPr>
                        <a:t>71,44</a:t>
                      </a:r>
                    </a:p>
                  </a:txBody>
                  <a:tcPr marL="109728" marR="91440" marT="73152" marB="54864" anchor="ctr">
                    <a:solidFill>
                      <a:srgbClr val="EEF4F8"/>
                    </a:solidFill>
                  </a:tcPr>
                </a:tc>
                <a:tc>
                  <a:txBody>
                    <a:bodyPr/>
                    <a:lstStyle/>
                    <a:p>
                      <a:r>
                        <a:rPr sz="1900" b="0">
                          <a:solidFill>
                            <a:srgbClr val="223544"/>
                          </a:solidFill>
                          <a:latin typeface="Times New Roman"/>
                        </a:rPr>
                        <a:t>72,82</a:t>
                      </a:r>
                    </a:p>
                  </a:txBody>
                  <a:tcPr marL="109728" marR="91440" marT="73152" marB="54864" anchor="ctr">
                    <a:solidFill>
                      <a:srgbClr val="EEF4F8"/>
                    </a:solidFill>
                  </a:tcPr>
                </a:tc>
                <a:tc>
                  <a:txBody>
                    <a:bodyPr/>
                    <a:lstStyle/>
                    <a:p>
                      <a:r>
                        <a:rPr sz="1900" b="0">
                          <a:solidFill>
                            <a:srgbClr val="223544"/>
                          </a:solidFill>
                          <a:latin typeface="Times New Roman"/>
                        </a:rPr>
                        <a:t>39,63</a:t>
                      </a:r>
                    </a:p>
                  </a:txBody>
                  <a:tcPr marL="109728" marR="91440" marT="73152" marB="54864" anchor="ctr">
                    <a:solidFill>
                      <a:srgbClr val="EEF4F8"/>
                    </a:solidFill>
                  </a:tcPr>
                </a:tc>
                <a:tc>
                  <a:txBody>
                    <a:bodyPr/>
                    <a:lstStyle/>
                    <a:p>
                      <a:r>
                        <a:rPr sz="1900" b="0">
                          <a:solidFill>
                            <a:srgbClr val="223544"/>
                          </a:solidFill>
                          <a:latin typeface="Times New Roman"/>
                        </a:rPr>
                        <a:t>73,17</a:t>
                      </a:r>
                    </a:p>
                  </a:txBody>
                  <a:tcPr marL="109728" marR="91440" marT="73152" marB="54864" anchor="ctr">
                    <a:solidFill>
                      <a:srgbClr val="EEF4F8"/>
                    </a:solidFill>
                  </a:tcPr>
                </a:tc>
                <a:tc>
                  <a:txBody>
                    <a:bodyPr/>
                    <a:lstStyle/>
                    <a:p>
                      <a:r>
                        <a:rPr sz="1900" b="0">
                          <a:solidFill>
                            <a:srgbClr val="223544"/>
                          </a:solidFill>
                          <a:latin typeface="Times New Roman"/>
                        </a:rPr>
                        <a:t>65,37</a:t>
                      </a:r>
                    </a:p>
                  </a:txBody>
                  <a:tcPr marL="109728" marR="91440" marT="73152" marB="54864" anchor="ctr">
                    <a:solidFill>
                      <a:srgbClr val="EEF4F8"/>
                    </a:solidFill>
                  </a:tcPr>
                </a:tc>
              </a:tr>
              <a:tr h="452120">
                <a:tc>
                  <a:txBody>
                    <a:bodyPr/>
                    <a:lstStyle/>
                    <a:p>
                      <a:r>
                        <a:rPr sz="1900" b="0">
                          <a:solidFill>
                            <a:srgbClr val="223544"/>
                          </a:solidFill>
                          <a:latin typeface="Times New Roman"/>
                        </a:rPr>
                        <a:t>Đi bộ</a:t>
                      </a:r>
                    </a:p>
                  </a:txBody>
                  <a:tcPr marL="109728" marR="91440" marT="73152" marB="54864" anchor="ctr">
                    <a:solidFill>
                      <a:srgbClr val="FFFFFF"/>
                    </a:solidFill>
                  </a:tcPr>
                </a:tc>
                <a:tc>
                  <a:txBody>
                    <a:bodyPr/>
                    <a:lstStyle/>
                    <a:p>
                      <a:r>
                        <a:rPr sz="1900" b="0">
                          <a:solidFill>
                            <a:srgbClr val="223544"/>
                          </a:solidFill>
                          <a:latin typeface="Times New Roman"/>
                        </a:rPr>
                        <a:t>81,00</a:t>
                      </a:r>
                    </a:p>
                  </a:txBody>
                  <a:tcPr marL="109728" marR="91440" marT="73152" marB="54864" anchor="ctr">
                    <a:solidFill>
                      <a:srgbClr val="FFFFFF"/>
                    </a:solidFill>
                  </a:tcPr>
                </a:tc>
                <a:tc>
                  <a:txBody>
                    <a:bodyPr/>
                    <a:lstStyle/>
                    <a:p>
                      <a:r>
                        <a:rPr sz="1900" b="0">
                          <a:solidFill>
                            <a:srgbClr val="223544"/>
                          </a:solidFill>
                          <a:latin typeface="Times New Roman"/>
                        </a:rPr>
                        <a:t>80,88</a:t>
                      </a:r>
                    </a:p>
                  </a:txBody>
                  <a:tcPr marL="109728" marR="91440" marT="73152" marB="54864" anchor="ctr">
                    <a:solidFill>
                      <a:srgbClr val="FFFFFF"/>
                    </a:solidFill>
                  </a:tcPr>
                </a:tc>
                <a:tc>
                  <a:txBody>
                    <a:bodyPr/>
                    <a:lstStyle/>
                    <a:p>
                      <a:r>
                        <a:rPr sz="1900" b="0">
                          <a:solidFill>
                            <a:srgbClr val="223544"/>
                          </a:solidFill>
                          <a:latin typeface="Times New Roman"/>
                        </a:rPr>
                        <a:t>72,63</a:t>
                      </a:r>
                    </a:p>
                  </a:txBody>
                  <a:tcPr marL="109728" marR="91440" marT="73152" marB="54864" anchor="ctr">
                    <a:solidFill>
                      <a:srgbClr val="FFFFFF"/>
                    </a:solidFill>
                  </a:tcPr>
                </a:tc>
                <a:tc>
                  <a:txBody>
                    <a:bodyPr/>
                    <a:lstStyle/>
                    <a:p>
                      <a:r>
                        <a:rPr sz="1900" b="0">
                          <a:solidFill>
                            <a:srgbClr val="223544"/>
                          </a:solidFill>
                          <a:latin typeface="Times New Roman"/>
                        </a:rPr>
                        <a:t>75,40</a:t>
                      </a:r>
                    </a:p>
                  </a:txBody>
                  <a:tcPr marL="109728" marR="91440" marT="73152" marB="54864" anchor="ctr">
                    <a:solidFill>
                      <a:srgbClr val="FFFFFF"/>
                    </a:solidFill>
                  </a:tcPr>
                </a:tc>
                <a:tc>
                  <a:txBody>
                    <a:bodyPr/>
                    <a:lstStyle/>
                    <a:p>
                      <a:r>
                        <a:rPr sz="1900" b="0">
                          <a:solidFill>
                            <a:srgbClr val="223544"/>
                          </a:solidFill>
                          <a:latin typeface="Times New Roman"/>
                        </a:rPr>
                        <a:t>53,79</a:t>
                      </a:r>
                    </a:p>
                  </a:txBody>
                  <a:tcPr marL="109728" marR="91440" marT="73152" marB="54864" anchor="ctr">
                    <a:solidFill>
                      <a:srgbClr val="FFFFFF"/>
                    </a:solidFill>
                  </a:tcPr>
                </a:tc>
                <a:tc>
                  <a:txBody>
                    <a:bodyPr/>
                    <a:lstStyle/>
                    <a:p>
                      <a:r>
                        <a:rPr sz="1900" b="0">
                          <a:solidFill>
                            <a:srgbClr val="223544"/>
                          </a:solidFill>
                          <a:latin typeface="Times New Roman"/>
                        </a:rPr>
                        <a:t>86,98</a:t>
                      </a:r>
                    </a:p>
                  </a:txBody>
                  <a:tcPr marL="109728" marR="91440" marT="73152" marB="54864" anchor="ctr">
                    <a:solidFill>
                      <a:srgbClr val="FFFFFF"/>
                    </a:solidFill>
                  </a:tcPr>
                </a:tc>
                <a:tc>
                  <a:txBody>
                    <a:bodyPr/>
                    <a:lstStyle/>
                    <a:p>
                      <a:r>
                        <a:rPr sz="1900" b="0">
                          <a:solidFill>
                            <a:srgbClr val="223544"/>
                          </a:solidFill>
                          <a:latin typeface="Times New Roman"/>
                        </a:rPr>
                        <a:t>69,65</a:t>
                      </a:r>
                    </a:p>
                  </a:txBody>
                  <a:tcPr marL="109728" marR="91440" marT="73152" marB="54864" anchor="ctr">
                    <a:solidFill>
                      <a:srgbClr val="FFFFFF"/>
                    </a:solidFill>
                  </a:tcPr>
                </a:tc>
              </a:tr>
              <a:tr h="452120">
                <a:tc>
                  <a:txBody>
                    <a:bodyPr/>
                    <a:lstStyle/>
                    <a:p>
                      <a:r>
                        <a:rPr sz="1900" b="0">
                          <a:solidFill>
                            <a:srgbClr val="223544"/>
                          </a:solidFill>
                          <a:latin typeface="Times New Roman"/>
                        </a:rPr>
                        <a:t>Làm việc</a:t>
                      </a:r>
                    </a:p>
                  </a:txBody>
                  <a:tcPr marL="109728" marR="91440" marT="73152" marB="54864" anchor="ctr">
                    <a:solidFill>
                      <a:srgbClr val="EEF4F8"/>
                    </a:solidFill>
                  </a:tcPr>
                </a:tc>
                <a:tc>
                  <a:txBody>
                    <a:bodyPr/>
                    <a:lstStyle/>
                    <a:p>
                      <a:r>
                        <a:rPr sz="1900" b="0">
                          <a:solidFill>
                            <a:srgbClr val="223544"/>
                          </a:solidFill>
                          <a:latin typeface="Times New Roman"/>
                        </a:rPr>
                        <a:t>57,11</a:t>
                      </a:r>
                    </a:p>
                  </a:txBody>
                  <a:tcPr marL="109728" marR="91440" marT="73152" marB="54864" anchor="ctr">
                    <a:solidFill>
                      <a:srgbClr val="EEF4F8"/>
                    </a:solidFill>
                  </a:tcPr>
                </a:tc>
                <a:tc>
                  <a:txBody>
                    <a:bodyPr/>
                    <a:lstStyle/>
                    <a:p>
                      <a:r>
                        <a:rPr sz="1900" b="0">
                          <a:solidFill>
                            <a:srgbClr val="223544"/>
                          </a:solidFill>
                          <a:latin typeface="Times New Roman"/>
                        </a:rPr>
                        <a:t>58,48</a:t>
                      </a:r>
                    </a:p>
                  </a:txBody>
                  <a:tcPr marL="109728" marR="91440" marT="73152" marB="54864" anchor="ctr">
                    <a:solidFill>
                      <a:srgbClr val="EEF4F8"/>
                    </a:solidFill>
                  </a:tcPr>
                </a:tc>
                <a:tc>
                  <a:txBody>
                    <a:bodyPr/>
                    <a:lstStyle/>
                    <a:p>
                      <a:r>
                        <a:rPr sz="1900" b="0">
                          <a:solidFill>
                            <a:srgbClr val="223544"/>
                          </a:solidFill>
                          <a:latin typeface="Times New Roman"/>
                        </a:rPr>
                        <a:t>58,50</a:t>
                      </a:r>
                    </a:p>
                  </a:txBody>
                  <a:tcPr marL="109728" marR="91440" marT="73152" marB="54864" anchor="ctr">
                    <a:solidFill>
                      <a:srgbClr val="EEF4F8"/>
                    </a:solidFill>
                  </a:tcPr>
                </a:tc>
                <a:tc>
                  <a:txBody>
                    <a:bodyPr/>
                    <a:lstStyle/>
                    <a:p>
                      <a:r>
                        <a:rPr sz="1900" b="0">
                          <a:solidFill>
                            <a:srgbClr val="223544"/>
                          </a:solidFill>
                          <a:latin typeface="Times New Roman"/>
                        </a:rPr>
                        <a:t>44,00</a:t>
                      </a:r>
                    </a:p>
                  </a:txBody>
                  <a:tcPr marL="109728" marR="91440" marT="73152" marB="54864" anchor="ctr">
                    <a:solidFill>
                      <a:srgbClr val="EEF4F8"/>
                    </a:solidFill>
                  </a:tcPr>
                </a:tc>
                <a:tc>
                  <a:txBody>
                    <a:bodyPr/>
                    <a:lstStyle/>
                    <a:p>
                      <a:r>
                        <a:rPr sz="1900" b="0">
                          <a:solidFill>
                            <a:srgbClr val="223544"/>
                          </a:solidFill>
                          <a:latin typeface="Times New Roman"/>
                        </a:rPr>
                        <a:t>46,66</a:t>
                      </a:r>
                    </a:p>
                  </a:txBody>
                  <a:tcPr marL="109728" marR="91440" marT="73152" marB="54864" anchor="ctr">
                    <a:solidFill>
                      <a:srgbClr val="EEF4F8"/>
                    </a:solidFill>
                  </a:tcPr>
                </a:tc>
                <a:tc>
                  <a:txBody>
                    <a:bodyPr/>
                    <a:lstStyle/>
                    <a:p>
                      <a:r>
                        <a:rPr sz="1900" b="0">
                          <a:solidFill>
                            <a:srgbClr val="223544"/>
                          </a:solidFill>
                          <a:latin typeface="Times New Roman"/>
                        </a:rPr>
                        <a:t>61,98</a:t>
                      </a:r>
                    </a:p>
                  </a:txBody>
                  <a:tcPr marL="109728" marR="91440" marT="73152" marB="54864" anchor="ctr">
                    <a:solidFill>
                      <a:srgbClr val="EEF4F8"/>
                    </a:solidFill>
                  </a:tcPr>
                </a:tc>
                <a:tc>
                  <a:txBody>
                    <a:bodyPr/>
                    <a:lstStyle/>
                    <a:p>
                      <a:r>
                        <a:rPr sz="1900" b="0">
                          <a:solidFill>
                            <a:srgbClr val="223544"/>
                          </a:solidFill>
                          <a:latin typeface="Times New Roman"/>
                        </a:rPr>
                        <a:t>57,53</a:t>
                      </a:r>
                    </a:p>
                  </a:txBody>
                  <a:tcPr marL="109728" marR="91440" marT="73152" marB="54864" anchor="ctr">
                    <a:solidFill>
                      <a:srgbClr val="EEF4F8"/>
                    </a:solidFill>
                  </a:tcPr>
                </a:tc>
              </a:tr>
            </a:tbl>
          </a:graphicData>
        </a:graphic>
      </p:graphicFrame>
      <p:sp>
        <p:nvSpPr>
          <p:cNvPr id="7" name="Rounded Rectangle 6"/>
          <p:cNvSpPr/>
          <p:nvPr/>
        </p:nvSpPr>
        <p:spPr>
          <a:xfrm>
            <a:off x="530352" y="5815584"/>
            <a:ext cx="11109960" cy="438912"/>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852160"/>
            <a:ext cx="10753344" cy="347472"/>
          </a:xfrm>
          <a:prstGeom prst="rect">
            <a:avLst/>
          </a:prstGeom>
          <a:noFill/>
        </p:spPr>
        <p:txBody>
          <a:bodyPr wrap="square" lIns="18288" rIns="18288" tIns="18288" bIns="0">
            <a:spAutoFit/>
          </a:bodyPr>
          <a:lstStyle/>
          <a:p>
            <a:pPr algn="l">
              <a:spcAft>
                <a:spcPts val="800"/>
              </a:spcAft>
            </a:pPr>
            <a:r>
              <a:rPr sz="1800" b="0">
                <a:solidFill>
                  <a:srgbClr val="FFFFFF"/>
                </a:solidFill>
                <a:latin typeface="Times New Roman"/>
              </a:rPr>
              <a:t>E6: F1 Đạp xe 99,64% · Lái ô tô 96,14% · Làm việc 61,98%.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Confusion matrix: lỗi chính của E6</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17 / 23</a:t>
            </a:r>
          </a:p>
        </p:txBody>
      </p:sp>
      <p:pic>
        <p:nvPicPr>
          <p:cNvPr id="6" name="Picture 5" descr="extension_confusion.png"/>
          <p:cNvPicPr>
            <a:picLocks noChangeAspect="1"/>
          </p:cNvPicPr>
          <p:nvPr/>
        </p:nvPicPr>
        <p:blipFill>
          <a:blip r:embed="rId3"/>
          <a:stretch>
            <a:fillRect/>
          </a:stretch>
        </p:blipFill>
        <p:spPr>
          <a:xfrm>
            <a:off x="591378" y="1325880"/>
            <a:ext cx="5218043" cy="4800600"/>
          </a:xfrm>
          <a:prstGeom prst="rect">
            <a:avLst/>
          </a:prstGeom>
        </p:spPr>
      </p:pic>
      <p:sp>
        <p:nvSpPr>
          <p:cNvPr id="7" name="TextBox 6"/>
          <p:cNvSpPr txBox="1"/>
          <p:nvPr/>
        </p:nvSpPr>
        <p:spPr>
          <a:xfrm>
            <a:off x="6172200" y="1508760"/>
            <a:ext cx="5394960" cy="1417320"/>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Làm việc → Nghỉ trưa/ăn trưa</a:t>
            </a:r>
          </a:p>
          <a:p>
            <a:pPr algn="l">
              <a:spcAft>
                <a:spcPts val="800"/>
              </a:spcAft>
            </a:pPr>
            <a:r>
              <a:rPr sz="2400" b="1">
                <a:solidFill>
                  <a:srgbClr val="216C9A"/>
                </a:solidFill>
                <a:latin typeface="Times New Roman"/>
              </a:rPr>
              <a:t>778/1.805 cửa sổ = 43,10%</a:t>
            </a:r>
          </a:p>
          <a:p>
            <a:pPr algn="l">
              <a:spcAft>
                <a:spcPts val="800"/>
              </a:spcAft>
            </a:pPr>
            <a:r>
              <a:rPr sz="2400" b="1">
                <a:solidFill>
                  <a:srgbClr val="216C9A"/>
                </a:solidFill>
                <a:latin typeface="Times New Roman"/>
              </a:rPr>
              <a:t>Recall Làm việc: 50,03%</a:t>
            </a:r>
          </a:p>
        </p:txBody>
      </p:sp>
      <p:graphicFrame>
        <p:nvGraphicFramePr>
          <p:cNvPr id="8" name="Table 7"/>
          <p:cNvGraphicFramePr>
            <a:graphicFrameLocks noGrp="1"/>
          </p:cNvGraphicFramePr>
          <p:nvPr/>
        </p:nvGraphicFramePr>
        <p:xfrm>
          <a:off x="6172200" y="3200400"/>
          <a:ext cx="5394960" cy="2679192"/>
        </p:xfrm>
        <a:graphic>
          <a:graphicData uri="http://schemas.openxmlformats.org/drawingml/2006/table">
            <a:tbl>
              <a:tblPr firstRow="1" bandRow="1">
                <a:tableStyleId>{5C22544A-7EE6-4342-B048-85BDC9FD1C3A}</a:tableStyleId>
              </a:tblPr>
              <a:tblGrid>
                <a:gridCol w="1143000"/>
                <a:gridCol w="2148840"/>
                <a:gridCol w="2103120"/>
              </a:tblGrid>
              <a:tr h="502920">
                <a:tc>
                  <a:txBody>
                    <a:bodyPr/>
                    <a:lstStyle/>
                    <a:p>
                      <a:r>
                        <a:rPr sz="1500" b="1">
                          <a:solidFill>
                            <a:srgbClr val="FFFFFF"/>
                          </a:solidFill>
                          <a:latin typeface="Times New Roman"/>
                        </a:rPr>
                        <a:t>Seed 42</a:t>
                      </a:r>
                    </a:p>
                  </a:txBody>
                  <a:tcPr marL="109728" marR="91440" marT="18288" marB="18288" anchor="ctr">
                    <a:solidFill>
                      <a:srgbClr val="19364D"/>
                    </a:solidFill>
                  </a:tcPr>
                </a:tc>
                <a:tc>
                  <a:txBody>
                    <a:bodyPr/>
                    <a:lstStyle/>
                    <a:p>
                      <a:r>
                        <a:rPr sz="1500" b="1">
                          <a:solidFill>
                            <a:srgbClr val="FFFFFF"/>
                          </a:solidFill>
                          <a:latin typeface="Times New Roman"/>
                        </a:rPr>
                        <a:t>Làm việc ↔</a:t>
                      </a:r>
                    </a:p>
                    <a:p>
                      <a:r>
                        <a:rPr sz="1500" b="1">
                          <a:solidFill>
                            <a:srgbClr val="FFFFFF"/>
                          </a:solidFill>
                          <a:latin typeface="Times New Roman"/>
                        </a:rPr>
                        <a:t>Nghỉ trưa</a:t>
                      </a:r>
                    </a:p>
                  </a:txBody>
                  <a:tcPr marL="109728" marR="91440" marT="18288" marB="18288" anchor="ctr">
                    <a:solidFill>
                      <a:srgbClr val="19364D"/>
                    </a:solidFill>
                  </a:tcPr>
                </a:tc>
                <a:tc>
                  <a:txBody>
                    <a:bodyPr/>
                    <a:lstStyle/>
                    <a:p>
                      <a:r>
                        <a:rPr sz="1500" b="1">
                          <a:solidFill>
                            <a:srgbClr val="FFFFFF"/>
                          </a:solidFill>
                          <a:latin typeface="Times New Roman"/>
                        </a:rPr>
                        <a:t>Đi bộ ↔</a:t>
                      </a:r>
                    </a:p>
                    <a:p>
                      <a:r>
                        <a:rPr sz="1500" b="1">
                          <a:solidFill>
                            <a:srgbClr val="FFFFFF"/>
                          </a:solidFill>
                          <a:latin typeface="Times New Roman"/>
                        </a:rPr>
                        <a:t>Cầu thang</a:t>
                      </a:r>
                    </a:p>
                  </a:txBody>
                  <a:tcPr marL="109728" marR="91440" marT="18288" marB="18288" anchor="ctr">
                    <a:solidFill>
                      <a:srgbClr val="19364D"/>
                    </a:solidFill>
                  </a:tcPr>
                </a:tc>
              </a:tr>
              <a:tr h="310896">
                <a:tc>
                  <a:txBody>
                    <a:bodyPr/>
                    <a:lstStyle/>
                    <a:p>
                      <a:r>
                        <a:rPr sz="1500" b="0">
                          <a:solidFill>
                            <a:srgbClr val="223544"/>
                          </a:solidFill>
                          <a:latin typeface="Times New Roman"/>
                        </a:rPr>
                        <a:t>E1</a:t>
                      </a:r>
                    </a:p>
                  </a:txBody>
                  <a:tcPr marL="109728" marR="91440" marT="18288" marB="18288" anchor="ctr">
                    <a:solidFill>
                      <a:srgbClr val="FFFFFF"/>
                    </a:solidFill>
                  </a:tcPr>
                </a:tc>
                <a:tc>
                  <a:txBody>
                    <a:bodyPr/>
                    <a:lstStyle/>
                    <a:p>
                      <a:r>
                        <a:rPr sz="1500" b="0">
                          <a:solidFill>
                            <a:srgbClr val="223544"/>
                          </a:solidFill>
                          <a:latin typeface="Times New Roman"/>
                        </a:rPr>
                        <a:t>861</a:t>
                      </a:r>
                    </a:p>
                  </a:txBody>
                  <a:tcPr marL="109728" marR="91440" marT="18288" marB="18288" anchor="ctr">
                    <a:solidFill>
                      <a:srgbClr val="FFFFFF"/>
                    </a:solidFill>
                  </a:tcPr>
                </a:tc>
                <a:tc>
                  <a:txBody>
                    <a:bodyPr/>
                    <a:lstStyle/>
                    <a:p>
                      <a:r>
                        <a:rPr sz="1500" b="0">
                          <a:solidFill>
                            <a:srgbClr val="223544"/>
                          </a:solidFill>
                          <a:latin typeface="Times New Roman"/>
                        </a:rPr>
                        <a:t>289</a:t>
                      </a:r>
                    </a:p>
                  </a:txBody>
                  <a:tcPr marL="109728" marR="91440" marT="18288" marB="18288" anchor="ctr">
                    <a:solidFill>
                      <a:srgbClr val="FFFFFF"/>
                    </a:solidFill>
                  </a:tcPr>
                </a:tc>
              </a:tr>
              <a:tr h="310896">
                <a:tc>
                  <a:txBody>
                    <a:bodyPr/>
                    <a:lstStyle/>
                    <a:p>
                      <a:r>
                        <a:rPr sz="1500" b="0">
                          <a:solidFill>
                            <a:srgbClr val="223544"/>
                          </a:solidFill>
                          <a:latin typeface="Times New Roman"/>
                        </a:rPr>
                        <a:t>E2</a:t>
                      </a:r>
                    </a:p>
                  </a:txBody>
                  <a:tcPr marL="109728" marR="91440" marT="18288" marB="18288" anchor="ctr">
                    <a:solidFill>
                      <a:srgbClr val="EEF4F8"/>
                    </a:solidFill>
                  </a:tcPr>
                </a:tc>
                <a:tc>
                  <a:txBody>
                    <a:bodyPr/>
                    <a:lstStyle/>
                    <a:p>
                      <a:r>
                        <a:rPr sz="1500" b="0">
                          <a:solidFill>
                            <a:srgbClr val="223544"/>
                          </a:solidFill>
                          <a:latin typeface="Times New Roman"/>
                        </a:rPr>
                        <a:t>879</a:t>
                      </a:r>
                    </a:p>
                  </a:txBody>
                  <a:tcPr marL="109728" marR="91440" marT="18288" marB="18288" anchor="ctr">
                    <a:solidFill>
                      <a:srgbClr val="EEF4F8"/>
                    </a:solidFill>
                  </a:tcPr>
                </a:tc>
                <a:tc>
                  <a:txBody>
                    <a:bodyPr/>
                    <a:lstStyle/>
                    <a:p>
                      <a:r>
                        <a:rPr sz="1500" b="0">
                          <a:solidFill>
                            <a:srgbClr val="223544"/>
                          </a:solidFill>
                          <a:latin typeface="Times New Roman"/>
                        </a:rPr>
                        <a:t>270</a:t>
                      </a:r>
                    </a:p>
                  </a:txBody>
                  <a:tcPr marL="109728" marR="91440" marT="18288" marB="18288" anchor="ctr">
                    <a:solidFill>
                      <a:srgbClr val="EEF4F8"/>
                    </a:solidFill>
                  </a:tcPr>
                </a:tc>
              </a:tr>
              <a:tr h="310896">
                <a:tc>
                  <a:txBody>
                    <a:bodyPr/>
                    <a:lstStyle/>
                    <a:p>
                      <a:r>
                        <a:rPr sz="1500" b="0">
                          <a:solidFill>
                            <a:srgbClr val="223544"/>
                          </a:solidFill>
                          <a:latin typeface="Times New Roman"/>
                        </a:rPr>
                        <a:t>E3</a:t>
                      </a:r>
                    </a:p>
                  </a:txBody>
                  <a:tcPr marL="109728" marR="91440" marT="18288" marB="18288" anchor="ctr">
                    <a:solidFill>
                      <a:srgbClr val="FFFFFF"/>
                    </a:solidFill>
                  </a:tcPr>
                </a:tc>
                <a:tc>
                  <a:txBody>
                    <a:bodyPr/>
                    <a:lstStyle/>
                    <a:p>
                      <a:r>
                        <a:rPr sz="1500" b="0">
                          <a:solidFill>
                            <a:srgbClr val="223544"/>
                          </a:solidFill>
                          <a:latin typeface="Times New Roman"/>
                        </a:rPr>
                        <a:t>774</a:t>
                      </a:r>
                    </a:p>
                  </a:txBody>
                  <a:tcPr marL="109728" marR="91440" marT="18288" marB="18288" anchor="ctr">
                    <a:solidFill>
                      <a:srgbClr val="FFFFFF"/>
                    </a:solidFill>
                  </a:tcPr>
                </a:tc>
                <a:tc>
                  <a:txBody>
                    <a:bodyPr/>
                    <a:lstStyle/>
                    <a:p>
                      <a:r>
                        <a:rPr sz="1500" b="0">
                          <a:solidFill>
                            <a:srgbClr val="223544"/>
                          </a:solidFill>
                          <a:latin typeface="Times New Roman"/>
                        </a:rPr>
                        <a:t>410</a:t>
                      </a:r>
                    </a:p>
                  </a:txBody>
                  <a:tcPr marL="109728" marR="91440" marT="18288" marB="18288" anchor="ctr">
                    <a:solidFill>
                      <a:srgbClr val="FFFFFF"/>
                    </a:solidFill>
                  </a:tcPr>
                </a:tc>
              </a:tr>
              <a:tr h="310896">
                <a:tc>
                  <a:txBody>
                    <a:bodyPr/>
                    <a:lstStyle/>
                    <a:p>
                      <a:r>
                        <a:rPr sz="1500" b="0">
                          <a:solidFill>
                            <a:srgbClr val="223544"/>
                          </a:solidFill>
                          <a:latin typeface="Times New Roman"/>
                        </a:rPr>
                        <a:t>E4</a:t>
                      </a:r>
                    </a:p>
                  </a:txBody>
                  <a:tcPr marL="109728" marR="91440" marT="18288" marB="18288" anchor="ctr">
                    <a:solidFill>
                      <a:srgbClr val="EEF4F8"/>
                    </a:solidFill>
                  </a:tcPr>
                </a:tc>
                <a:tc>
                  <a:txBody>
                    <a:bodyPr/>
                    <a:lstStyle/>
                    <a:p>
                      <a:r>
                        <a:rPr sz="1500" b="0">
                          <a:solidFill>
                            <a:srgbClr val="223544"/>
                          </a:solidFill>
                          <a:latin typeface="Times New Roman"/>
                        </a:rPr>
                        <a:t>584</a:t>
                      </a:r>
                    </a:p>
                  </a:txBody>
                  <a:tcPr marL="109728" marR="91440" marT="18288" marB="18288" anchor="ctr">
                    <a:solidFill>
                      <a:srgbClr val="EEF4F8"/>
                    </a:solidFill>
                  </a:tcPr>
                </a:tc>
                <a:tc>
                  <a:txBody>
                    <a:bodyPr/>
                    <a:lstStyle/>
                    <a:p>
                      <a:r>
                        <a:rPr sz="1500" b="0">
                          <a:solidFill>
                            <a:srgbClr val="223544"/>
                          </a:solidFill>
                          <a:latin typeface="Times New Roman"/>
                        </a:rPr>
                        <a:t>289</a:t>
                      </a:r>
                    </a:p>
                  </a:txBody>
                  <a:tcPr marL="109728" marR="91440" marT="18288" marB="18288" anchor="ctr">
                    <a:solidFill>
                      <a:srgbClr val="EEF4F8"/>
                    </a:solidFill>
                  </a:tcPr>
                </a:tc>
              </a:tr>
              <a:tr h="310896">
                <a:tc>
                  <a:txBody>
                    <a:bodyPr/>
                    <a:lstStyle/>
                    <a:p>
                      <a:r>
                        <a:rPr sz="1500" b="0">
                          <a:solidFill>
                            <a:srgbClr val="223544"/>
                          </a:solidFill>
                          <a:latin typeface="Times New Roman"/>
                        </a:rPr>
                        <a:t>E5</a:t>
                      </a:r>
                    </a:p>
                  </a:txBody>
                  <a:tcPr marL="109728" marR="91440" marT="18288" marB="18288" anchor="ctr">
                    <a:solidFill>
                      <a:srgbClr val="FFFFFF"/>
                    </a:solidFill>
                  </a:tcPr>
                </a:tc>
                <a:tc>
                  <a:txBody>
                    <a:bodyPr/>
                    <a:lstStyle/>
                    <a:p>
                      <a:r>
                        <a:rPr sz="1500" b="0">
                          <a:solidFill>
                            <a:srgbClr val="223544"/>
                          </a:solidFill>
                          <a:latin typeface="Times New Roman"/>
                        </a:rPr>
                        <a:t>763</a:t>
                      </a:r>
                    </a:p>
                  </a:txBody>
                  <a:tcPr marL="109728" marR="91440" marT="18288" marB="18288" anchor="ctr">
                    <a:solidFill>
                      <a:srgbClr val="FFFFFF"/>
                    </a:solidFill>
                  </a:tcPr>
                </a:tc>
                <a:tc>
                  <a:txBody>
                    <a:bodyPr/>
                    <a:lstStyle/>
                    <a:p>
                      <a:r>
                        <a:rPr sz="1500" b="0">
                          <a:solidFill>
                            <a:srgbClr val="223544"/>
                          </a:solidFill>
                          <a:latin typeface="Times New Roman"/>
                        </a:rPr>
                        <a:t>257</a:t>
                      </a:r>
                    </a:p>
                  </a:txBody>
                  <a:tcPr marL="109728" marR="91440" marT="18288" marB="18288" anchor="ctr">
                    <a:solidFill>
                      <a:srgbClr val="FFFFFF"/>
                    </a:solidFill>
                  </a:tcPr>
                </a:tc>
              </a:tr>
              <a:tr h="310896">
                <a:tc>
                  <a:txBody>
                    <a:bodyPr/>
                    <a:lstStyle/>
                    <a:p>
                      <a:r>
                        <a:rPr sz="1500" b="0">
                          <a:solidFill>
                            <a:srgbClr val="223544"/>
                          </a:solidFill>
                          <a:latin typeface="Times New Roman"/>
                        </a:rPr>
                        <a:t>E6</a:t>
                      </a:r>
                    </a:p>
                  </a:txBody>
                  <a:tcPr marL="109728" marR="91440" marT="18288" marB="18288" anchor="ctr">
                    <a:solidFill>
                      <a:srgbClr val="E4F1F8"/>
                    </a:solidFill>
                  </a:tcPr>
                </a:tc>
                <a:tc>
                  <a:txBody>
                    <a:bodyPr/>
                    <a:lstStyle/>
                    <a:p>
                      <a:r>
                        <a:rPr sz="1500" b="0">
                          <a:solidFill>
                            <a:srgbClr val="223544"/>
                          </a:solidFill>
                          <a:latin typeface="Times New Roman"/>
                        </a:rPr>
                        <a:t>965</a:t>
                      </a:r>
                    </a:p>
                  </a:txBody>
                  <a:tcPr marL="109728" marR="91440" marT="18288" marB="18288" anchor="ctr">
                    <a:solidFill>
                      <a:srgbClr val="E4F1F8"/>
                    </a:solidFill>
                  </a:tcPr>
                </a:tc>
                <a:tc>
                  <a:txBody>
                    <a:bodyPr/>
                    <a:lstStyle/>
                    <a:p>
                      <a:r>
                        <a:rPr sz="1500" b="0">
                          <a:solidFill>
                            <a:srgbClr val="223544"/>
                          </a:solidFill>
                          <a:latin typeface="Times New Roman"/>
                        </a:rPr>
                        <a:t>66</a:t>
                      </a:r>
                    </a:p>
                  </a:txBody>
                  <a:tcPr marL="109728" marR="91440" marT="18288" marB="18288" anchor="ctr">
                    <a:solidFill>
                      <a:srgbClr val="E4F1F8"/>
                    </a:solidFill>
                  </a:tcPr>
                </a:tc>
              </a:tr>
              <a:tr h="310896">
                <a:tc>
                  <a:txBody>
                    <a:bodyPr/>
                    <a:lstStyle/>
                    <a:p>
                      <a:r>
                        <a:rPr sz="1500" b="0">
                          <a:solidFill>
                            <a:srgbClr val="223544"/>
                          </a:solidFill>
                          <a:latin typeface="Times New Roman"/>
                        </a:rPr>
                        <a:t>Q1</a:t>
                      </a:r>
                    </a:p>
                  </a:txBody>
                  <a:tcPr marL="109728" marR="91440" marT="18288" marB="18288" anchor="ctr">
                    <a:solidFill>
                      <a:srgbClr val="FFFFFF"/>
                    </a:solidFill>
                  </a:tcPr>
                </a:tc>
                <a:tc>
                  <a:txBody>
                    <a:bodyPr/>
                    <a:lstStyle/>
                    <a:p>
                      <a:r>
                        <a:rPr sz="1500" b="0">
                          <a:solidFill>
                            <a:srgbClr val="223544"/>
                          </a:solidFill>
                          <a:latin typeface="Times New Roman"/>
                        </a:rPr>
                        <a:t>801</a:t>
                      </a:r>
                    </a:p>
                  </a:txBody>
                  <a:tcPr marL="109728" marR="91440" marT="18288" marB="18288" anchor="ctr">
                    <a:solidFill>
                      <a:srgbClr val="FFFFFF"/>
                    </a:solidFill>
                  </a:tcPr>
                </a:tc>
                <a:tc>
                  <a:txBody>
                    <a:bodyPr/>
                    <a:lstStyle/>
                    <a:p>
                      <a:r>
                        <a:rPr sz="1500" b="0">
                          <a:solidFill>
                            <a:srgbClr val="223544"/>
                          </a:solidFill>
                          <a:latin typeface="Times New Roman"/>
                        </a:rPr>
                        <a:t>400</a:t>
                      </a:r>
                    </a:p>
                  </a:txBody>
                  <a:tcPr marL="109728" marR="91440" marT="18288" marB="18288" anchor="ctr">
                    <a:solidFill>
                      <a:srgbClr val="FFFFFF"/>
                    </a:solidFill>
                  </a:tcPr>
                </a:tc>
              </a:tr>
            </a:tbl>
          </a:graphicData>
        </a:graphic>
      </p:graphicFrame>
      <p:sp>
        <p:nvSpPr>
          <p:cNvPr id="9" name="TextBox 8"/>
          <p:cNvSpPr txBox="1"/>
          <p:nvPr/>
        </p:nvSpPr>
        <p:spPr>
          <a:xfrm>
            <a:off x="731520" y="6080760"/>
            <a:ext cx="10881360" cy="320040"/>
          </a:xfrm>
          <a:prstGeom prst="rect">
            <a:avLst/>
          </a:prstGeom>
          <a:noFill/>
        </p:spPr>
        <p:txBody>
          <a:bodyPr wrap="square" lIns="18288" rIns="18288" tIns="18288" bIns="0">
            <a:spAutoFit/>
          </a:bodyPr>
          <a:lstStyle/>
          <a:p>
            <a:pPr algn="l">
              <a:spcAft>
                <a:spcPts val="800"/>
              </a:spcAft>
            </a:pPr>
            <a:r>
              <a:rPr sz="1700" b="0">
                <a:solidFill>
                  <a:srgbClr val="526575"/>
                </a:solidFill>
                <a:latin typeface="Times New Roman"/>
              </a:rPr>
              <a:t>Hàng: nhãn thật · Cột: nhãn dự đoán · Đường chéo là Recall (%) · Mã nhãn: slide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Đo độ trễ: cùng dữ liệu, cùng ESP32</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18 / 23</a:t>
            </a:r>
          </a:p>
        </p:txBody>
      </p:sp>
      <p:sp>
        <p:nvSpPr>
          <p:cNvPr id="6" name="Rounded Rectangle 5"/>
          <p:cNvSpPr/>
          <p:nvPr/>
        </p:nvSpPr>
        <p:spPr>
          <a:xfrm>
            <a:off x="640080" y="1463040"/>
            <a:ext cx="2498598" cy="13716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618488"/>
            <a:ext cx="2315718" cy="11521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Máy tính</a:t>
            </a:r>
          </a:p>
          <a:p>
            <a:pPr algn="ctr">
              <a:spcAft>
                <a:spcPts val="800"/>
              </a:spcAft>
            </a:pPr>
            <a:r>
              <a:rPr sz="2000" b="1">
                <a:solidFill>
                  <a:srgbClr val="216C9A"/>
                </a:solidFill>
                <a:latin typeface="Times New Roman"/>
              </a:rPr>
              <a:t>gửi qua USB</a:t>
            </a:r>
          </a:p>
        </p:txBody>
      </p:sp>
      <p:sp>
        <p:nvSpPr>
          <p:cNvPr id="8" name="TextBox 7"/>
          <p:cNvSpPr txBox="1"/>
          <p:nvPr/>
        </p:nvSpPr>
        <p:spPr>
          <a:xfrm>
            <a:off x="3138678" y="194767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9" name="Rounded Rectangle 8"/>
          <p:cNvSpPr/>
          <p:nvPr/>
        </p:nvSpPr>
        <p:spPr>
          <a:xfrm>
            <a:off x="3449574" y="1463040"/>
            <a:ext cx="2498598" cy="13716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1014" y="1618488"/>
            <a:ext cx="2315718" cy="11521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Cửa sổ tín hiệu</a:t>
            </a:r>
          </a:p>
          <a:p>
            <a:pPr algn="ctr">
              <a:spcAft>
                <a:spcPts val="800"/>
              </a:spcAft>
            </a:pPr>
            <a:r>
              <a:rPr sz="2000" b="1">
                <a:solidFill>
                  <a:srgbClr val="216C9A"/>
                </a:solidFill>
                <a:latin typeface="Times New Roman"/>
              </a:rPr>
              <a:t>đã nằm trong RAM</a:t>
            </a:r>
          </a:p>
        </p:txBody>
      </p:sp>
      <p:sp>
        <p:nvSpPr>
          <p:cNvPr id="11" name="TextBox 10"/>
          <p:cNvSpPr txBox="1"/>
          <p:nvPr/>
        </p:nvSpPr>
        <p:spPr>
          <a:xfrm>
            <a:off x="5948172" y="194767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2" name="Rounded Rectangle 11"/>
          <p:cNvSpPr/>
          <p:nvPr/>
        </p:nvSpPr>
        <p:spPr>
          <a:xfrm>
            <a:off x="6259068" y="1463040"/>
            <a:ext cx="2498598" cy="13716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7" y="1618488"/>
            <a:ext cx="2315718" cy="11521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Tiền xử lý</a:t>
            </a:r>
          </a:p>
          <a:p>
            <a:pPr algn="ctr">
              <a:spcAft>
                <a:spcPts val="800"/>
              </a:spcAft>
            </a:pPr>
            <a:r>
              <a:rPr sz="2000" b="1">
                <a:solidFill>
                  <a:srgbClr val="216C9A"/>
                </a:solidFill>
                <a:latin typeface="Times New Roman"/>
              </a:rPr>
              <a:t>→ inference → hậu xử lý</a:t>
            </a:r>
          </a:p>
        </p:txBody>
      </p:sp>
      <p:sp>
        <p:nvSpPr>
          <p:cNvPr id="14" name="TextBox 13"/>
          <p:cNvSpPr txBox="1"/>
          <p:nvPr/>
        </p:nvSpPr>
        <p:spPr>
          <a:xfrm>
            <a:off x="8757666" y="194767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5" name="Rounded Rectangle 14"/>
          <p:cNvSpPr/>
          <p:nvPr/>
        </p:nvSpPr>
        <p:spPr>
          <a:xfrm>
            <a:off x="9068561" y="1463040"/>
            <a:ext cx="2498598" cy="13716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60001" y="1618488"/>
            <a:ext cx="2315718" cy="11521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Trả nhãn</a:t>
            </a:r>
          </a:p>
          <a:p>
            <a:pPr algn="ctr">
              <a:spcAft>
                <a:spcPts val="800"/>
              </a:spcAft>
            </a:pPr>
            <a:r>
              <a:rPr sz="2000" b="1">
                <a:solidFill>
                  <a:srgbClr val="216C9A"/>
                </a:solidFill>
                <a:latin typeface="Times New Roman"/>
              </a:rPr>
              <a:t>và thời gian</a:t>
            </a:r>
          </a:p>
        </p:txBody>
      </p:sp>
      <p:sp>
        <p:nvSpPr>
          <p:cNvPr id="17" name="Rounded Rectangle 16"/>
          <p:cNvSpPr/>
          <p:nvPr/>
        </p:nvSpPr>
        <p:spPr>
          <a:xfrm>
            <a:off x="594360" y="3200400"/>
            <a:ext cx="5349240" cy="1810512"/>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337560"/>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Điều kiện chung</a:t>
            </a:r>
          </a:p>
        </p:txBody>
      </p:sp>
      <p:sp>
        <p:nvSpPr>
          <p:cNvPr id="19" name="TextBox 18"/>
          <p:cNvSpPr txBox="1"/>
          <p:nvPr/>
        </p:nvSpPr>
        <p:spPr>
          <a:xfrm>
            <a:off x="795528" y="3913632"/>
            <a:ext cx="4946903" cy="1005840"/>
          </a:xfrm>
          <a:prstGeom prst="rect">
            <a:avLst/>
          </a:prstGeom>
          <a:noFill/>
        </p:spPr>
        <p:txBody>
          <a:bodyPr wrap="square" lIns="18288" rIns="18288" tIns="18288" bIns="0">
            <a:spAutoFit/>
          </a:bodyPr>
          <a:lstStyle/>
          <a:p>
            <a:pPr algn="l">
              <a:spcAft>
                <a:spcPts val="400"/>
              </a:spcAft>
            </a:pPr>
            <a:r>
              <a:rPr sz="1800" b="0">
                <a:solidFill>
                  <a:srgbClr val="223544"/>
                </a:solidFill>
                <a:latin typeface="Times New Roman"/>
              </a:rPr>
              <a:t>ESP32-D0WDQ6: 240 MHz, flash 4 MiB.</a:t>
            </a:r>
          </a:p>
          <a:p>
            <a:pPr algn="l">
              <a:spcAft>
                <a:spcPts val="400"/>
              </a:spcAft>
            </a:pPr>
            <a:r>
              <a:rPr sz="1800" b="0">
                <a:solidFill>
                  <a:srgbClr val="223544"/>
                </a:solidFill>
                <a:latin typeface="Times New Roman"/>
              </a:rPr>
              <a:t>Cùng 1.000 cửa sổ; 50 lượt warm-up.</a:t>
            </a:r>
          </a:p>
          <a:p>
            <a:pPr algn="l">
              <a:spcAft>
                <a:spcPts val="400"/>
              </a:spcAft>
            </a:pPr>
            <a:r>
              <a:rPr sz="1800" b="0">
                <a:solidFill>
                  <a:srgbClr val="223544"/>
                </a:solidFill>
                <a:latin typeface="Times New Roman"/>
              </a:rPr>
              <a:t>Mean, median, P95 từ các lượt thành công.</a:t>
            </a:r>
          </a:p>
        </p:txBody>
      </p:sp>
      <p:sp>
        <p:nvSpPr>
          <p:cNvPr id="20" name="Rounded Rectangle 19"/>
          <p:cNvSpPr/>
          <p:nvPr/>
        </p:nvSpPr>
        <p:spPr>
          <a:xfrm>
            <a:off x="6217920" y="3200400"/>
            <a:ext cx="5349240" cy="1810512"/>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337560"/>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Phạm vi đo</a:t>
            </a:r>
          </a:p>
        </p:txBody>
      </p:sp>
      <p:sp>
        <p:nvSpPr>
          <p:cNvPr id="22" name="TextBox 21"/>
          <p:cNvSpPr txBox="1"/>
          <p:nvPr/>
        </p:nvSpPr>
        <p:spPr>
          <a:xfrm>
            <a:off x="6419088" y="3913632"/>
            <a:ext cx="4946903" cy="1005840"/>
          </a:xfrm>
          <a:prstGeom prst="rect">
            <a:avLst/>
          </a:prstGeom>
          <a:noFill/>
        </p:spPr>
        <p:txBody>
          <a:bodyPr wrap="square" lIns="18288" rIns="18288" tIns="18288" bIns="0">
            <a:spAutoFit/>
          </a:bodyPr>
          <a:lstStyle/>
          <a:p>
            <a:pPr algn="l">
              <a:spcAft>
                <a:spcPts val="400"/>
              </a:spcAft>
            </a:pPr>
            <a:r>
              <a:rPr sz="1800" b="0">
                <a:solidFill>
                  <a:srgbClr val="223544"/>
                </a:solidFill>
                <a:latin typeface="Times New Roman"/>
              </a:rPr>
              <a:t>Tính tiền xử lý + inference + hậu xử lý.</a:t>
            </a:r>
          </a:p>
          <a:p>
            <a:pPr algn="l">
              <a:spcAft>
                <a:spcPts val="400"/>
              </a:spcAft>
            </a:pPr>
            <a:r>
              <a:rPr sz="1800" b="0">
                <a:solidFill>
                  <a:srgbClr val="223544"/>
                </a:solidFill>
                <a:latin typeface="Times New Roman"/>
              </a:rPr>
              <a:t>Không tính USB, đọc tệp, thu tín hiệu.</a:t>
            </a:r>
          </a:p>
          <a:p>
            <a:pPr algn="l">
              <a:spcAft>
                <a:spcPts val="400"/>
              </a:spcAft>
            </a:pPr>
            <a:r>
              <a:rPr sz="1800" b="0">
                <a:solidFill>
                  <a:srgbClr val="223544"/>
                </a:solidFill>
                <a:latin typeface="Times New Roman"/>
              </a:rPr>
              <a:t>E6 chạy firmware riêng; E1–E5/Q1 chạy chung.</a:t>
            </a:r>
          </a:p>
        </p:txBody>
      </p:sp>
      <p:pic>
        <p:nvPicPr>
          <p:cNvPr id="24" name="Report equation 10" descr="equation_10.png"/>
          <p:cNvPicPr>
            <a:picLocks noChangeAspect="1"/>
          </p:cNvPicPr>
          <p:nvPr/>
        </p:nvPicPr>
        <p:blipFill>
          <a:blip r:embed="rId3"/>
          <a:stretch>
            <a:fillRect/>
          </a:stretch>
        </p:blipFill>
        <p:spPr>
          <a:xfrm>
            <a:off x="2057400" y="5166711"/>
            <a:ext cx="8046720" cy="93198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Độ trễ toàn pipeline trên ESP32</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19 / 23</a:t>
            </a:r>
          </a:p>
        </p:txBody>
      </p:sp>
      <p:graphicFrame>
        <p:nvGraphicFramePr>
          <p:cNvPr id="6" name="Table 5"/>
          <p:cNvGraphicFramePr>
            <a:graphicFrameLocks noGrp="1"/>
          </p:cNvGraphicFramePr>
          <p:nvPr/>
        </p:nvGraphicFramePr>
        <p:xfrm>
          <a:off x="548640" y="1508760"/>
          <a:ext cx="11064240" cy="3566160"/>
        </p:xfrm>
        <a:graphic>
          <a:graphicData uri="http://schemas.openxmlformats.org/drawingml/2006/table">
            <a:tbl>
              <a:tblPr firstRow="1" bandRow="1">
                <a:tableStyleId>{5C22544A-7EE6-4342-B048-85BDC9FD1C3A}</a:tableStyleId>
              </a:tblPr>
              <a:tblGrid>
                <a:gridCol w="1234440"/>
                <a:gridCol w="1508760"/>
                <a:gridCol w="1920240"/>
                <a:gridCol w="2148840"/>
                <a:gridCol w="2148840"/>
                <a:gridCol w="2103120"/>
              </a:tblGrid>
              <a:tr h="445770">
                <a:tc>
                  <a:txBody>
                    <a:bodyPr/>
                    <a:lstStyle/>
                    <a:p>
                      <a:r>
                        <a:rPr sz="2100" b="1">
                          <a:solidFill>
                            <a:srgbClr val="FFFFFF"/>
                          </a:solidFill>
                          <a:latin typeface="Times New Roman"/>
                        </a:rPr>
                        <a:t>Seed 42</a:t>
                      </a:r>
                    </a:p>
                  </a:txBody>
                  <a:tcPr marL="109728" marR="91440" marT="73152" marB="54864" anchor="ctr">
                    <a:solidFill>
                      <a:srgbClr val="19364D"/>
                    </a:solidFill>
                  </a:tcPr>
                </a:tc>
                <a:tc>
                  <a:txBody>
                    <a:bodyPr/>
                    <a:lstStyle/>
                    <a:p>
                      <a:r>
                        <a:rPr sz="2100" b="1">
                          <a:solidFill>
                            <a:srgbClr val="FFFFFF"/>
                          </a:solidFill>
                          <a:latin typeface="Times New Roman"/>
                        </a:rPr>
                        <a:t>Acc (%)</a:t>
                      </a:r>
                    </a:p>
                  </a:txBody>
                  <a:tcPr marL="109728" marR="91440" marT="73152" marB="54864" anchor="ctr">
                    <a:solidFill>
                      <a:srgbClr val="19364D"/>
                    </a:solidFill>
                  </a:tcPr>
                </a:tc>
                <a:tc>
                  <a:txBody>
                    <a:bodyPr/>
                    <a:lstStyle/>
                    <a:p>
                      <a:r>
                        <a:rPr sz="2100" b="1">
                          <a:solidFill>
                            <a:srgbClr val="FFFFFF"/>
                          </a:solidFill>
                          <a:latin typeface="Times New Roman"/>
                        </a:rPr>
                        <a:t>F1 macro (%)</a:t>
                      </a:r>
                    </a:p>
                  </a:txBody>
                  <a:tcPr marL="109728" marR="91440" marT="73152" marB="54864" anchor="ctr">
                    <a:solidFill>
                      <a:srgbClr val="19364D"/>
                    </a:solidFill>
                  </a:tcPr>
                </a:tc>
                <a:tc>
                  <a:txBody>
                    <a:bodyPr/>
                    <a:lstStyle/>
                    <a:p>
                      <a:r>
                        <a:rPr sz="2100" b="1">
                          <a:solidFill>
                            <a:srgbClr val="FFFFFF"/>
                          </a:solidFill>
                          <a:latin typeface="Times New Roman"/>
                        </a:rPr>
                        <a:t>Mean (ms)</a:t>
                      </a:r>
                    </a:p>
                  </a:txBody>
                  <a:tcPr marL="109728" marR="91440" marT="73152" marB="54864" anchor="ctr">
                    <a:solidFill>
                      <a:srgbClr val="19364D"/>
                    </a:solidFill>
                  </a:tcPr>
                </a:tc>
                <a:tc>
                  <a:txBody>
                    <a:bodyPr/>
                    <a:lstStyle/>
                    <a:p>
                      <a:r>
                        <a:rPr sz="2100" b="1">
                          <a:solidFill>
                            <a:srgbClr val="FFFFFF"/>
                          </a:solidFill>
                          <a:latin typeface="Times New Roman"/>
                        </a:rPr>
                        <a:t>Median (ms)</a:t>
                      </a:r>
                    </a:p>
                  </a:txBody>
                  <a:tcPr marL="109728" marR="91440" marT="73152" marB="54864" anchor="ctr">
                    <a:solidFill>
                      <a:srgbClr val="19364D"/>
                    </a:solidFill>
                  </a:tcPr>
                </a:tc>
                <a:tc>
                  <a:txBody>
                    <a:bodyPr/>
                    <a:lstStyle/>
                    <a:p>
                      <a:r>
                        <a:rPr sz="2100" b="1">
                          <a:solidFill>
                            <a:srgbClr val="FFFFFF"/>
                          </a:solidFill>
                          <a:latin typeface="Times New Roman"/>
                        </a:rPr>
                        <a:t>P95 (ms)</a:t>
                      </a:r>
                    </a:p>
                  </a:txBody>
                  <a:tcPr marL="109728" marR="91440" marT="73152" marB="54864" anchor="ctr">
                    <a:solidFill>
                      <a:srgbClr val="19364D"/>
                    </a:solidFill>
                  </a:tcPr>
                </a:tc>
              </a:tr>
              <a:tr h="445770">
                <a:tc>
                  <a:txBody>
                    <a:bodyPr/>
                    <a:lstStyle/>
                    <a:p>
                      <a:r>
                        <a:rPr sz="2100" b="0">
                          <a:solidFill>
                            <a:srgbClr val="223544"/>
                          </a:solidFill>
                          <a:latin typeface="Times New Roman"/>
                        </a:rPr>
                        <a:t>E1</a:t>
                      </a:r>
                    </a:p>
                  </a:txBody>
                  <a:tcPr marL="109728" marR="91440" marT="73152" marB="54864" anchor="ctr">
                    <a:solidFill>
                      <a:srgbClr val="FFFFFF"/>
                    </a:solidFill>
                  </a:tcPr>
                </a:tc>
                <a:tc>
                  <a:txBody>
                    <a:bodyPr/>
                    <a:lstStyle/>
                    <a:p>
                      <a:r>
                        <a:rPr sz="2100" b="0">
                          <a:solidFill>
                            <a:srgbClr val="223544"/>
                          </a:solidFill>
                          <a:latin typeface="Times New Roman"/>
                        </a:rPr>
                        <a:t>73,09</a:t>
                      </a:r>
                    </a:p>
                  </a:txBody>
                  <a:tcPr marL="109728" marR="91440" marT="73152" marB="54864" anchor="ctr">
                    <a:solidFill>
                      <a:srgbClr val="FFFFFF"/>
                    </a:solidFill>
                  </a:tcPr>
                </a:tc>
                <a:tc>
                  <a:txBody>
                    <a:bodyPr/>
                    <a:lstStyle/>
                    <a:p>
                      <a:r>
                        <a:rPr sz="2100" b="0">
                          <a:solidFill>
                            <a:srgbClr val="223544"/>
                          </a:solidFill>
                          <a:latin typeface="Times New Roman"/>
                        </a:rPr>
                        <a:t>75,87</a:t>
                      </a:r>
                    </a:p>
                  </a:txBody>
                  <a:tcPr marL="109728" marR="91440" marT="73152" marB="54864" anchor="ctr">
                    <a:solidFill>
                      <a:srgbClr val="FFFFFF"/>
                    </a:solidFill>
                  </a:tcPr>
                </a:tc>
                <a:tc>
                  <a:txBody>
                    <a:bodyPr/>
                    <a:lstStyle/>
                    <a:p>
                      <a:r>
                        <a:rPr sz="2100" b="0">
                          <a:solidFill>
                            <a:srgbClr val="223544"/>
                          </a:solidFill>
                          <a:latin typeface="Times New Roman"/>
                        </a:rPr>
                        <a:t>1211,269</a:t>
                      </a:r>
                    </a:p>
                  </a:txBody>
                  <a:tcPr marL="109728" marR="91440" marT="73152" marB="54864" anchor="ctr">
                    <a:solidFill>
                      <a:srgbClr val="FFFFFF"/>
                    </a:solidFill>
                  </a:tcPr>
                </a:tc>
                <a:tc>
                  <a:txBody>
                    <a:bodyPr/>
                    <a:lstStyle/>
                    <a:p>
                      <a:r>
                        <a:rPr sz="2100" b="0">
                          <a:solidFill>
                            <a:srgbClr val="223544"/>
                          </a:solidFill>
                          <a:latin typeface="Times New Roman"/>
                        </a:rPr>
                        <a:t>1211,302</a:t>
                      </a:r>
                    </a:p>
                  </a:txBody>
                  <a:tcPr marL="109728" marR="91440" marT="73152" marB="54864" anchor="ctr">
                    <a:solidFill>
                      <a:srgbClr val="FFFFFF"/>
                    </a:solidFill>
                  </a:tcPr>
                </a:tc>
                <a:tc>
                  <a:txBody>
                    <a:bodyPr/>
                    <a:lstStyle/>
                    <a:p>
                      <a:r>
                        <a:rPr sz="2100" b="0">
                          <a:solidFill>
                            <a:srgbClr val="223544"/>
                          </a:solidFill>
                          <a:latin typeface="Times New Roman"/>
                        </a:rPr>
                        <a:t>1211,380</a:t>
                      </a:r>
                    </a:p>
                  </a:txBody>
                  <a:tcPr marL="109728" marR="91440" marT="73152" marB="54864" anchor="ctr">
                    <a:solidFill>
                      <a:srgbClr val="FFFFFF"/>
                    </a:solidFill>
                  </a:tcPr>
                </a:tc>
              </a:tr>
              <a:tr h="445770">
                <a:tc>
                  <a:txBody>
                    <a:bodyPr/>
                    <a:lstStyle/>
                    <a:p>
                      <a:r>
                        <a:rPr sz="2100" b="0">
                          <a:solidFill>
                            <a:srgbClr val="223544"/>
                          </a:solidFill>
                          <a:latin typeface="Times New Roman"/>
                        </a:rPr>
                        <a:t>E2</a:t>
                      </a:r>
                    </a:p>
                  </a:txBody>
                  <a:tcPr marL="109728" marR="91440" marT="73152" marB="54864" anchor="ctr">
                    <a:solidFill>
                      <a:srgbClr val="EEF4F8"/>
                    </a:solidFill>
                  </a:tcPr>
                </a:tc>
                <a:tc>
                  <a:txBody>
                    <a:bodyPr/>
                    <a:lstStyle/>
                    <a:p>
                      <a:r>
                        <a:rPr sz="2100" b="0">
                          <a:solidFill>
                            <a:srgbClr val="223544"/>
                          </a:solidFill>
                          <a:latin typeface="Times New Roman"/>
                        </a:rPr>
                        <a:t>75,10</a:t>
                      </a:r>
                    </a:p>
                  </a:txBody>
                  <a:tcPr marL="109728" marR="91440" marT="73152" marB="54864" anchor="ctr">
                    <a:solidFill>
                      <a:srgbClr val="EEF4F8"/>
                    </a:solidFill>
                  </a:tcPr>
                </a:tc>
                <a:tc>
                  <a:txBody>
                    <a:bodyPr/>
                    <a:lstStyle/>
                    <a:p>
                      <a:r>
                        <a:rPr sz="2100" b="0">
                          <a:solidFill>
                            <a:srgbClr val="223544"/>
                          </a:solidFill>
                          <a:latin typeface="Times New Roman"/>
                        </a:rPr>
                        <a:t>77,99</a:t>
                      </a:r>
                    </a:p>
                  </a:txBody>
                  <a:tcPr marL="109728" marR="91440" marT="73152" marB="54864" anchor="ctr">
                    <a:solidFill>
                      <a:srgbClr val="EEF4F8"/>
                    </a:solidFill>
                  </a:tcPr>
                </a:tc>
                <a:tc>
                  <a:txBody>
                    <a:bodyPr/>
                    <a:lstStyle/>
                    <a:p>
                      <a:r>
                        <a:rPr sz="2100" b="0">
                          <a:solidFill>
                            <a:srgbClr val="223544"/>
                          </a:solidFill>
                          <a:latin typeface="Times New Roman"/>
                        </a:rPr>
                        <a:t>89,084</a:t>
                      </a:r>
                    </a:p>
                  </a:txBody>
                  <a:tcPr marL="109728" marR="91440" marT="73152" marB="54864" anchor="ctr">
                    <a:solidFill>
                      <a:srgbClr val="EEF4F8"/>
                    </a:solidFill>
                  </a:tcPr>
                </a:tc>
                <a:tc>
                  <a:txBody>
                    <a:bodyPr/>
                    <a:lstStyle/>
                    <a:p>
                      <a:r>
                        <a:rPr sz="2100" b="0">
                          <a:solidFill>
                            <a:srgbClr val="223544"/>
                          </a:solidFill>
                          <a:latin typeface="Times New Roman"/>
                        </a:rPr>
                        <a:t>89,084</a:t>
                      </a:r>
                    </a:p>
                  </a:txBody>
                  <a:tcPr marL="109728" marR="91440" marT="73152" marB="54864" anchor="ctr">
                    <a:solidFill>
                      <a:srgbClr val="EEF4F8"/>
                    </a:solidFill>
                  </a:tcPr>
                </a:tc>
                <a:tc>
                  <a:txBody>
                    <a:bodyPr/>
                    <a:lstStyle/>
                    <a:p>
                      <a:r>
                        <a:rPr sz="2100" b="0">
                          <a:solidFill>
                            <a:srgbClr val="223544"/>
                          </a:solidFill>
                          <a:latin typeface="Times New Roman"/>
                        </a:rPr>
                        <a:t>89,116</a:t>
                      </a:r>
                    </a:p>
                  </a:txBody>
                  <a:tcPr marL="109728" marR="91440" marT="73152" marB="54864" anchor="ctr">
                    <a:solidFill>
                      <a:srgbClr val="EEF4F8"/>
                    </a:solidFill>
                  </a:tcPr>
                </a:tc>
              </a:tr>
              <a:tr h="445770">
                <a:tc>
                  <a:txBody>
                    <a:bodyPr/>
                    <a:lstStyle/>
                    <a:p>
                      <a:r>
                        <a:rPr sz="2100" b="0">
                          <a:solidFill>
                            <a:srgbClr val="223544"/>
                          </a:solidFill>
                          <a:latin typeface="Times New Roman"/>
                        </a:rPr>
                        <a:t>E3</a:t>
                      </a:r>
                    </a:p>
                  </a:txBody>
                  <a:tcPr marL="109728" marR="91440" marT="73152" marB="54864" anchor="ctr">
                    <a:solidFill>
                      <a:srgbClr val="FFFFFF"/>
                    </a:solidFill>
                  </a:tcPr>
                </a:tc>
                <a:tc>
                  <a:txBody>
                    <a:bodyPr/>
                    <a:lstStyle/>
                    <a:p>
                      <a:r>
                        <a:rPr sz="2100" b="0">
                          <a:solidFill>
                            <a:srgbClr val="223544"/>
                          </a:solidFill>
                          <a:latin typeface="Times New Roman"/>
                        </a:rPr>
                        <a:t>73,75</a:t>
                      </a:r>
                    </a:p>
                  </a:txBody>
                  <a:tcPr marL="109728" marR="91440" marT="73152" marB="54864" anchor="ctr">
                    <a:solidFill>
                      <a:srgbClr val="FFFFFF"/>
                    </a:solidFill>
                  </a:tcPr>
                </a:tc>
                <a:tc>
                  <a:txBody>
                    <a:bodyPr/>
                    <a:lstStyle/>
                    <a:p>
                      <a:r>
                        <a:rPr sz="2100" b="0">
                          <a:solidFill>
                            <a:srgbClr val="223544"/>
                          </a:solidFill>
                          <a:latin typeface="Times New Roman"/>
                        </a:rPr>
                        <a:t>75,47</a:t>
                      </a:r>
                    </a:p>
                  </a:txBody>
                  <a:tcPr marL="109728" marR="91440" marT="73152" marB="54864" anchor="ctr">
                    <a:solidFill>
                      <a:srgbClr val="FFFFFF"/>
                    </a:solidFill>
                  </a:tcPr>
                </a:tc>
                <a:tc>
                  <a:txBody>
                    <a:bodyPr/>
                    <a:lstStyle/>
                    <a:p>
                      <a:r>
                        <a:rPr sz="2100" b="0">
                          <a:solidFill>
                            <a:srgbClr val="223544"/>
                          </a:solidFill>
                          <a:latin typeface="Times New Roman"/>
                        </a:rPr>
                        <a:t>109,665</a:t>
                      </a:r>
                    </a:p>
                  </a:txBody>
                  <a:tcPr marL="109728" marR="91440" marT="73152" marB="54864" anchor="ctr">
                    <a:solidFill>
                      <a:srgbClr val="FFFFFF"/>
                    </a:solidFill>
                  </a:tcPr>
                </a:tc>
                <a:tc>
                  <a:txBody>
                    <a:bodyPr/>
                    <a:lstStyle/>
                    <a:p>
                      <a:r>
                        <a:rPr sz="2100" b="0">
                          <a:solidFill>
                            <a:srgbClr val="223544"/>
                          </a:solidFill>
                          <a:latin typeface="Times New Roman"/>
                        </a:rPr>
                        <a:t>109,725</a:t>
                      </a:r>
                    </a:p>
                  </a:txBody>
                  <a:tcPr marL="109728" marR="91440" marT="73152" marB="54864" anchor="ctr">
                    <a:solidFill>
                      <a:srgbClr val="FFFFFF"/>
                    </a:solidFill>
                  </a:tcPr>
                </a:tc>
                <a:tc>
                  <a:txBody>
                    <a:bodyPr/>
                    <a:lstStyle/>
                    <a:p>
                      <a:r>
                        <a:rPr sz="2100" b="0">
                          <a:solidFill>
                            <a:srgbClr val="223544"/>
                          </a:solidFill>
                          <a:latin typeface="Times New Roman"/>
                        </a:rPr>
                        <a:t>109,789</a:t>
                      </a:r>
                    </a:p>
                  </a:txBody>
                  <a:tcPr marL="109728" marR="91440" marT="73152" marB="54864" anchor="ctr">
                    <a:solidFill>
                      <a:srgbClr val="FFFFFF"/>
                    </a:solidFill>
                  </a:tcPr>
                </a:tc>
              </a:tr>
              <a:tr h="445770">
                <a:tc>
                  <a:txBody>
                    <a:bodyPr/>
                    <a:lstStyle/>
                    <a:p>
                      <a:r>
                        <a:rPr sz="2100" b="0">
                          <a:solidFill>
                            <a:srgbClr val="223544"/>
                          </a:solidFill>
                          <a:latin typeface="Times New Roman"/>
                        </a:rPr>
                        <a:t>E4</a:t>
                      </a:r>
                    </a:p>
                  </a:txBody>
                  <a:tcPr marL="109728" marR="91440" marT="73152" marB="54864" anchor="ctr">
                    <a:solidFill>
                      <a:srgbClr val="EEF4F8"/>
                    </a:solidFill>
                  </a:tcPr>
                </a:tc>
                <a:tc>
                  <a:txBody>
                    <a:bodyPr/>
                    <a:lstStyle/>
                    <a:p>
                      <a:r>
                        <a:rPr sz="2100" b="0">
                          <a:solidFill>
                            <a:srgbClr val="223544"/>
                          </a:solidFill>
                          <a:latin typeface="Times New Roman"/>
                        </a:rPr>
                        <a:t>71,35</a:t>
                      </a:r>
                    </a:p>
                  </a:txBody>
                  <a:tcPr marL="109728" marR="91440" marT="73152" marB="54864" anchor="ctr">
                    <a:solidFill>
                      <a:srgbClr val="EEF4F8"/>
                    </a:solidFill>
                  </a:tcPr>
                </a:tc>
                <a:tc>
                  <a:txBody>
                    <a:bodyPr/>
                    <a:lstStyle/>
                    <a:p>
                      <a:r>
                        <a:rPr sz="2100" b="0">
                          <a:solidFill>
                            <a:srgbClr val="223544"/>
                          </a:solidFill>
                          <a:latin typeface="Times New Roman"/>
                        </a:rPr>
                        <a:t>73,63</a:t>
                      </a:r>
                    </a:p>
                  </a:txBody>
                  <a:tcPr marL="109728" marR="91440" marT="73152" marB="54864" anchor="ctr">
                    <a:solidFill>
                      <a:srgbClr val="EEF4F8"/>
                    </a:solidFill>
                  </a:tcPr>
                </a:tc>
                <a:tc>
                  <a:txBody>
                    <a:bodyPr/>
                    <a:lstStyle/>
                    <a:p>
                      <a:r>
                        <a:rPr sz="2100" b="0">
                          <a:solidFill>
                            <a:srgbClr val="223544"/>
                          </a:solidFill>
                          <a:latin typeface="Times New Roman"/>
                        </a:rPr>
                        <a:t>79,616</a:t>
                      </a:r>
                    </a:p>
                  </a:txBody>
                  <a:tcPr marL="109728" marR="91440" marT="73152" marB="54864" anchor="ctr">
                    <a:solidFill>
                      <a:srgbClr val="EEF4F8"/>
                    </a:solidFill>
                  </a:tcPr>
                </a:tc>
                <a:tc>
                  <a:txBody>
                    <a:bodyPr/>
                    <a:lstStyle/>
                    <a:p>
                      <a:r>
                        <a:rPr sz="2100" b="0">
                          <a:solidFill>
                            <a:srgbClr val="223544"/>
                          </a:solidFill>
                          <a:latin typeface="Times New Roman"/>
                        </a:rPr>
                        <a:t>79,674</a:t>
                      </a:r>
                    </a:p>
                  </a:txBody>
                  <a:tcPr marL="109728" marR="91440" marT="73152" marB="54864" anchor="ctr">
                    <a:solidFill>
                      <a:srgbClr val="EEF4F8"/>
                    </a:solidFill>
                  </a:tcPr>
                </a:tc>
                <a:tc>
                  <a:txBody>
                    <a:bodyPr/>
                    <a:lstStyle/>
                    <a:p>
                      <a:r>
                        <a:rPr sz="2100" b="0">
                          <a:solidFill>
                            <a:srgbClr val="223544"/>
                          </a:solidFill>
                          <a:latin typeface="Times New Roman"/>
                        </a:rPr>
                        <a:t>79,715</a:t>
                      </a:r>
                    </a:p>
                  </a:txBody>
                  <a:tcPr marL="109728" marR="91440" marT="73152" marB="54864" anchor="ctr">
                    <a:solidFill>
                      <a:srgbClr val="EEF4F8"/>
                    </a:solidFill>
                  </a:tcPr>
                </a:tc>
              </a:tr>
              <a:tr h="445770">
                <a:tc>
                  <a:txBody>
                    <a:bodyPr/>
                    <a:lstStyle/>
                    <a:p>
                      <a:r>
                        <a:rPr sz="2100" b="0">
                          <a:solidFill>
                            <a:srgbClr val="223544"/>
                          </a:solidFill>
                          <a:latin typeface="Times New Roman"/>
                        </a:rPr>
                        <a:t>E5</a:t>
                      </a:r>
                    </a:p>
                  </a:txBody>
                  <a:tcPr marL="109728" marR="91440" marT="73152" marB="54864" anchor="ctr">
                    <a:solidFill>
                      <a:srgbClr val="FFFFFF"/>
                    </a:solidFill>
                  </a:tcPr>
                </a:tc>
                <a:tc>
                  <a:txBody>
                    <a:bodyPr/>
                    <a:lstStyle/>
                    <a:p>
                      <a:r>
                        <a:rPr sz="2100" b="0">
                          <a:solidFill>
                            <a:srgbClr val="223544"/>
                          </a:solidFill>
                          <a:latin typeface="Times New Roman"/>
                        </a:rPr>
                        <a:t>44,79</a:t>
                      </a:r>
                    </a:p>
                  </a:txBody>
                  <a:tcPr marL="109728" marR="91440" marT="73152" marB="54864" anchor="ctr">
                    <a:solidFill>
                      <a:srgbClr val="FFFFFF"/>
                    </a:solidFill>
                  </a:tcPr>
                </a:tc>
                <a:tc>
                  <a:txBody>
                    <a:bodyPr/>
                    <a:lstStyle/>
                    <a:p>
                      <a:r>
                        <a:rPr sz="2100" b="0">
                          <a:solidFill>
                            <a:srgbClr val="223544"/>
                          </a:solidFill>
                          <a:latin typeface="Times New Roman"/>
                        </a:rPr>
                        <a:t>45,82</a:t>
                      </a:r>
                    </a:p>
                  </a:txBody>
                  <a:tcPr marL="109728" marR="91440" marT="73152" marB="54864" anchor="ctr">
                    <a:solidFill>
                      <a:srgbClr val="FFFFFF"/>
                    </a:solidFill>
                  </a:tcPr>
                </a:tc>
                <a:tc>
                  <a:txBody>
                    <a:bodyPr/>
                    <a:lstStyle/>
                    <a:p>
                      <a:r>
                        <a:rPr sz="2100" b="0">
                          <a:solidFill>
                            <a:srgbClr val="223544"/>
                          </a:solidFill>
                          <a:latin typeface="Times New Roman"/>
                        </a:rPr>
                        <a:t>61,541</a:t>
                      </a:r>
                    </a:p>
                  </a:txBody>
                  <a:tcPr marL="109728" marR="91440" marT="73152" marB="54864" anchor="ctr">
                    <a:solidFill>
                      <a:srgbClr val="FFFFFF"/>
                    </a:solidFill>
                  </a:tcPr>
                </a:tc>
                <a:tc>
                  <a:txBody>
                    <a:bodyPr/>
                    <a:lstStyle/>
                    <a:p>
                      <a:r>
                        <a:rPr sz="2100" b="0">
                          <a:solidFill>
                            <a:srgbClr val="223544"/>
                          </a:solidFill>
                          <a:latin typeface="Times New Roman"/>
                        </a:rPr>
                        <a:t>61,547</a:t>
                      </a:r>
                    </a:p>
                  </a:txBody>
                  <a:tcPr marL="109728" marR="91440" marT="73152" marB="54864" anchor="ctr">
                    <a:solidFill>
                      <a:srgbClr val="FFFFFF"/>
                    </a:solidFill>
                  </a:tcPr>
                </a:tc>
                <a:tc>
                  <a:txBody>
                    <a:bodyPr/>
                    <a:lstStyle/>
                    <a:p>
                      <a:r>
                        <a:rPr sz="2100" b="0">
                          <a:solidFill>
                            <a:srgbClr val="223544"/>
                          </a:solidFill>
                          <a:latin typeface="Times New Roman"/>
                        </a:rPr>
                        <a:t>61,608</a:t>
                      </a:r>
                    </a:p>
                  </a:txBody>
                  <a:tcPr marL="109728" marR="91440" marT="73152" marB="54864" anchor="ctr">
                    <a:solidFill>
                      <a:srgbClr val="FFFFFF"/>
                    </a:solidFill>
                  </a:tcPr>
                </a:tc>
              </a:tr>
              <a:tr h="445770">
                <a:tc>
                  <a:txBody>
                    <a:bodyPr/>
                    <a:lstStyle/>
                    <a:p>
                      <a:r>
                        <a:rPr sz="2100" b="0">
                          <a:solidFill>
                            <a:srgbClr val="223544"/>
                          </a:solidFill>
                          <a:latin typeface="Times New Roman"/>
                        </a:rPr>
                        <a:t>E6</a:t>
                      </a:r>
                    </a:p>
                  </a:txBody>
                  <a:tcPr marL="109728" marR="91440" marT="73152" marB="54864" anchor="ctr">
                    <a:solidFill>
                      <a:srgbClr val="E4F1F8"/>
                    </a:solidFill>
                  </a:tcPr>
                </a:tc>
                <a:tc>
                  <a:txBody>
                    <a:bodyPr/>
                    <a:lstStyle/>
                    <a:p>
                      <a:r>
                        <a:rPr sz="2100" b="0">
                          <a:solidFill>
                            <a:srgbClr val="223544"/>
                          </a:solidFill>
                          <a:latin typeface="Times New Roman"/>
                        </a:rPr>
                        <a:t>81,46</a:t>
                      </a:r>
                    </a:p>
                  </a:txBody>
                  <a:tcPr marL="109728" marR="91440" marT="73152" marB="54864" anchor="ctr">
                    <a:solidFill>
                      <a:srgbClr val="E4F1F8"/>
                    </a:solidFill>
                  </a:tcPr>
                </a:tc>
                <a:tc>
                  <a:txBody>
                    <a:bodyPr/>
                    <a:lstStyle/>
                    <a:p>
                      <a:r>
                        <a:rPr sz="2100" b="0">
                          <a:solidFill>
                            <a:srgbClr val="223544"/>
                          </a:solidFill>
                          <a:latin typeface="Times New Roman"/>
                        </a:rPr>
                        <a:t>85,31</a:t>
                      </a:r>
                    </a:p>
                  </a:txBody>
                  <a:tcPr marL="109728" marR="91440" marT="73152" marB="54864" anchor="ctr">
                    <a:solidFill>
                      <a:srgbClr val="E4F1F8"/>
                    </a:solidFill>
                  </a:tcPr>
                </a:tc>
                <a:tc>
                  <a:txBody>
                    <a:bodyPr/>
                    <a:lstStyle/>
                    <a:p>
                      <a:r>
                        <a:rPr sz="2100" b="0">
                          <a:solidFill>
                            <a:srgbClr val="223544"/>
                          </a:solidFill>
                          <a:latin typeface="Times New Roman"/>
                        </a:rPr>
                        <a:t>88,349</a:t>
                      </a:r>
                    </a:p>
                  </a:txBody>
                  <a:tcPr marL="109728" marR="91440" marT="73152" marB="54864" anchor="ctr">
                    <a:solidFill>
                      <a:srgbClr val="E4F1F8"/>
                    </a:solidFill>
                  </a:tcPr>
                </a:tc>
                <a:tc>
                  <a:txBody>
                    <a:bodyPr/>
                    <a:lstStyle/>
                    <a:p>
                      <a:r>
                        <a:rPr sz="2100" b="0">
                          <a:solidFill>
                            <a:srgbClr val="223544"/>
                          </a:solidFill>
                          <a:latin typeface="Times New Roman"/>
                        </a:rPr>
                        <a:t>88,218</a:t>
                      </a:r>
                    </a:p>
                  </a:txBody>
                  <a:tcPr marL="109728" marR="91440" marT="73152" marB="54864" anchor="ctr">
                    <a:solidFill>
                      <a:srgbClr val="E4F1F8"/>
                    </a:solidFill>
                  </a:tcPr>
                </a:tc>
                <a:tc>
                  <a:txBody>
                    <a:bodyPr/>
                    <a:lstStyle/>
                    <a:p>
                      <a:r>
                        <a:rPr sz="2100" b="0">
                          <a:solidFill>
                            <a:srgbClr val="223544"/>
                          </a:solidFill>
                          <a:latin typeface="Times New Roman"/>
                        </a:rPr>
                        <a:t>90,585</a:t>
                      </a:r>
                    </a:p>
                  </a:txBody>
                  <a:tcPr marL="109728" marR="91440" marT="73152" marB="54864" anchor="ctr">
                    <a:solidFill>
                      <a:srgbClr val="E4F1F8"/>
                    </a:solidFill>
                  </a:tcPr>
                </a:tc>
              </a:tr>
              <a:tr h="445770">
                <a:tc>
                  <a:txBody>
                    <a:bodyPr/>
                    <a:lstStyle/>
                    <a:p>
                      <a:r>
                        <a:rPr sz="2100" b="0">
                          <a:solidFill>
                            <a:srgbClr val="223544"/>
                          </a:solidFill>
                          <a:latin typeface="Times New Roman"/>
                        </a:rPr>
                        <a:t>Q1</a:t>
                      </a:r>
                    </a:p>
                  </a:txBody>
                  <a:tcPr marL="109728" marR="91440" marT="73152" marB="54864" anchor="ctr">
                    <a:solidFill>
                      <a:srgbClr val="FFFFFF"/>
                    </a:solidFill>
                  </a:tcPr>
                </a:tc>
                <a:tc>
                  <a:txBody>
                    <a:bodyPr/>
                    <a:lstStyle/>
                    <a:p>
                      <a:r>
                        <a:rPr sz="2100" b="0">
                          <a:solidFill>
                            <a:srgbClr val="223544"/>
                          </a:solidFill>
                          <a:latin typeface="Times New Roman"/>
                        </a:rPr>
                        <a:t>71,03</a:t>
                      </a:r>
                    </a:p>
                  </a:txBody>
                  <a:tcPr marL="109728" marR="91440" marT="73152" marB="54864" anchor="ctr">
                    <a:solidFill>
                      <a:srgbClr val="FFFFFF"/>
                    </a:solidFill>
                  </a:tcPr>
                </a:tc>
                <a:tc>
                  <a:txBody>
                    <a:bodyPr/>
                    <a:lstStyle/>
                    <a:p>
                      <a:r>
                        <a:rPr sz="2100" b="0">
                          <a:solidFill>
                            <a:srgbClr val="223544"/>
                          </a:solidFill>
                          <a:latin typeface="Times New Roman"/>
                        </a:rPr>
                        <a:t>73,74</a:t>
                      </a:r>
                    </a:p>
                  </a:txBody>
                  <a:tcPr marL="109728" marR="91440" marT="73152" marB="54864" anchor="ctr">
                    <a:solidFill>
                      <a:srgbClr val="FFFFFF"/>
                    </a:solidFill>
                  </a:tcPr>
                </a:tc>
                <a:tc>
                  <a:txBody>
                    <a:bodyPr/>
                    <a:lstStyle/>
                    <a:p>
                      <a:r>
                        <a:rPr sz="2100" b="0">
                          <a:solidFill>
                            <a:srgbClr val="223544"/>
                          </a:solidFill>
                          <a:latin typeface="Times New Roman"/>
                        </a:rPr>
                        <a:t>105,200</a:t>
                      </a:r>
                    </a:p>
                  </a:txBody>
                  <a:tcPr marL="109728" marR="91440" marT="73152" marB="54864" anchor="ctr">
                    <a:solidFill>
                      <a:srgbClr val="FFFFFF"/>
                    </a:solidFill>
                  </a:tcPr>
                </a:tc>
                <a:tc>
                  <a:txBody>
                    <a:bodyPr/>
                    <a:lstStyle/>
                    <a:p>
                      <a:r>
                        <a:rPr sz="2100" b="0">
                          <a:solidFill>
                            <a:srgbClr val="223544"/>
                          </a:solidFill>
                          <a:latin typeface="Times New Roman"/>
                        </a:rPr>
                        <a:t>105,255</a:t>
                      </a:r>
                    </a:p>
                  </a:txBody>
                  <a:tcPr marL="109728" marR="91440" marT="73152" marB="54864" anchor="ctr">
                    <a:solidFill>
                      <a:srgbClr val="FFFFFF"/>
                    </a:solidFill>
                  </a:tcPr>
                </a:tc>
                <a:tc>
                  <a:txBody>
                    <a:bodyPr/>
                    <a:lstStyle/>
                    <a:p>
                      <a:r>
                        <a:rPr sz="2100" b="0">
                          <a:solidFill>
                            <a:srgbClr val="223544"/>
                          </a:solidFill>
                          <a:latin typeface="Times New Roman"/>
                        </a:rPr>
                        <a:t>105,332</a:t>
                      </a:r>
                    </a:p>
                  </a:txBody>
                  <a:tcPr marL="109728" marR="91440" marT="73152" marB="54864" anchor="ctr">
                    <a:solidFill>
                      <a:srgbClr val="FFFFFF"/>
                    </a:solidFill>
                  </a:tcPr>
                </a:tc>
              </a:tr>
            </a:tbl>
          </a:graphicData>
        </a:graphic>
      </p:graphicFrame>
      <p:sp>
        <p:nvSpPr>
          <p:cNvPr id="7" name="TextBox 6"/>
          <p:cNvSpPr txBox="1"/>
          <p:nvPr/>
        </p:nvSpPr>
        <p:spPr>
          <a:xfrm>
            <a:off x="685800" y="5303520"/>
            <a:ext cx="10835640" cy="758952"/>
          </a:xfrm>
          <a:prstGeom prst="rect">
            <a:avLst/>
          </a:prstGeom>
          <a:noFill/>
        </p:spPr>
        <p:txBody>
          <a:bodyPr wrap="square" lIns="18288" rIns="18288" tIns="18288" bIns="0">
            <a:spAutoFit/>
          </a:bodyPr>
          <a:lstStyle/>
          <a:p>
            <a:pPr algn="l">
              <a:spcAft>
                <a:spcPts val="800"/>
              </a:spcAft>
            </a:pPr>
            <a:r>
              <a:rPr sz="2300" b="0">
                <a:solidFill>
                  <a:srgbClr val="223544"/>
                </a:solidFill>
                <a:latin typeface="Times New Roman"/>
              </a:rPr>
              <a:t>P95 của mọi model dưới 2 giây. E6 và E2 có độ trễ gần nhau.</a:t>
            </a:r>
          </a:p>
          <a:p>
            <a:pPr algn="l">
              <a:spcAft>
                <a:spcPts val="800"/>
              </a:spcAft>
            </a:pPr>
            <a:r>
              <a:rPr sz="2300" b="0">
                <a:solidFill>
                  <a:srgbClr val="223544"/>
                </a:solidFill>
                <a:latin typeface="Times New Roman"/>
              </a:rPr>
              <a:t>E6: Mean thấp hơn 0,735 ms, nhưng P95 cao hơn E2 1,469 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Q1 INT8: dung lượng, độ trễ và kết quả phân loại</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20 / 23</a:t>
            </a:r>
          </a:p>
        </p:txBody>
      </p:sp>
      <p:sp>
        <p:nvSpPr>
          <p:cNvPr id="6" name="Rounded Rectangle 5"/>
          <p:cNvSpPr/>
          <p:nvPr/>
        </p:nvSpPr>
        <p:spPr>
          <a:xfrm>
            <a:off x="640080" y="132588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19" y="1481328"/>
            <a:ext cx="2315718" cy="6949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E3/42 FP32</a:t>
            </a:r>
          </a:p>
        </p:txBody>
      </p:sp>
      <p:sp>
        <p:nvSpPr>
          <p:cNvPr id="8" name="TextBox 7"/>
          <p:cNvSpPr txBox="1"/>
          <p:nvPr/>
        </p:nvSpPr>
        <p:spPr>
          <a:xfrm>
            <a:off x="3138678" y="15819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9" name="Rounded Rectangle 8"/>
          <p:cNvSpPr/>
          <p:nvPr/>
        </p:nvSpPr>
        <p:spPr>
          <a:xfrm>
            <a:off x="3449574" y="132588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1014" y="1481328"/>
            <a:ext cx="2315718" cy="6949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Calibration</a:t>
            </a:r>
          </a:p>
          <a:p>
            <a:pPr algn="ctr">
              <a:spcAft>
                <a:spcPts val="800"/>
              </a:spcAft>
            </a:pPr>
            <a:r>
              <a:rPr sz="2000" b="1">
                <a:solidFill>
                  <a:srgbClr val="216C9A"/>
                </a:solidFill>
                <a:latin typeface="Times New Roman"/>
              </a:rPr>
              <a:t>512 cửa sổ Train</a:t>
            </a:r>
          </a:p>
        </p:txBody>
      </p:sp>
      <p:sp>
        <p:nvSpPr>
          <p:cNvPr id="11" name="TextBox 10"/>
          <p:cNvSpPr txBox="1"/>
          <p:nvPr/>
        </p:nvSpPr>
        <p:spPr>
          <a:xfrm>
            <a:off x="5948172" y="15819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2" name="Rounded Rectangle 11"/>
          <p:cNvSpPr/>
          <p:nvPr/>
        </p:nvSpPr>
        <p:spPr>
          <a:xfrm>
            <a:off x="6259068" y="132588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7" y="1481328"/>
            <a:ext cx="2315718" cy="6949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Quantize INT8</a:t>
            </a:r>
          </a:p>
        </p:txBody>
      </p:sp>
      <p:sp>
        <p:nvSpPr>
          <p:cNvPr id="14" name="TextBox 13"/>
          <p:cNvSpPr txBox="1"/>
          <p:nvPr/>
        </p:nvSpPr>
        <p:spPr>
          <a:xfrm>
            <a:off x="8757666" y="1581912"/>
            <a:ext cx="310896" cy="411480"/>
          </a:xfrm>
          <a:prstGeom prst="rect">
            <a:avLst/>
          </a:prstGeom>
          <a:noFill/>
        </p:spPr>
        <p:txBody>
          <a:bodyPr wrap="square" lIns="18288" rIns="18288" tIns="18288" bIns="0">
            <a:spAutoFit/>
          </a:bodyPr>
          <a:lstStyle/>
          <a:p>
            <a:pPr algn="ctr">
              <a:spcAft>
                <a:spcPts val="800"/>
              </a:spcAft>
            </a:pPr>
            <a:r>
              <a:rPr sz="2400" b="1">
                <a:solidFill>
                  <a:srgbClr val="19364D"/>
                </a:solidFill>
                <a:latin typeface="Times New Roman"/>
              </a:rPr>
              <a:t>→</a:t>
            </a:r>
          </a:p>
        </p:txBody>
      </p:sp>
      <p:sp>
        <p:nvSpPr>
          <p:cNvPr id="15" name="Rounded Rectangle 14"/>
          <p:cNvSpPr/>
          <p:nvPr/>
        </p:nvSpPr>
        <p:spPr>
          <a:xfrm>
            <a:off x="9068561" y="1325880"/>
            <a:ext cx="2498598" cy="91440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60001" y="1481328"/>
            <a:ext cx="2315718" cy="694944"/>
          </a:xfrm>
          <a:prstGeom prst="rect">
            <a:avLst/>
          </a:prstGeom>
          <a:noFill/>
        </p:spPr>
        <p:txBody>
          <a:bodyPr wrap="square" lIns="18288" rIns="18288" tIns="18288" bIns="0">
            <a:spAutoFit/>
          </a:bodyPr>
          <a:lstStyle/>
          <a:p>
            <a:pPr algn="ctr">
              <a:spcAft>
                <a:spcPts val="800"/>
              </a:spcAft>
            </a:pPr>
            <a:r>
              <a:rPr sz="2000" b="1">
                <a:solidFill>
                  <a:srgbClr val="216C9A"/>
                </a:solidFill>
                <a:latin typeface="Times New Roman"/>
              </a:rPr>
              <a:t>Q1 trên ESP32</a:t>
            </a:r>
          </a:p>
        </p:txBody>
      </p:sp>
      <p:graphicFrame>
        <p:nvGraphicFramePr>
          <p:cNvPr id="17" name="Table 16"/>
          <p:cNvGraphicFramePr>
            <a:graphicFrameLocks noGrp="1"/>
          </p:cNvGraphicFramePr>
          <p:nvPr/>
        </p:nvGraphicFramePr>
        <p:xfrm>
          <a:off x="548640" y="2880360"/>
          <a:ext cx="11064239" cy="1298448"/>
        </p:xfrm>
        <a:graphic>
          <a:graphicData uri="http://schemas.openxmlformats.org/drawingml/2006/table">
            <a:tbl>
              <a:tblPr firstRow="1" bandRow="1">
                <a:tableStyleId>{5C22544A-7EE6-4342-B048-85BDC9FD1C3A}</a:tableStyleId>
              </a:tblPr>
              <a:tblGrid>
                <a:gridCol w="1828800"/>
                <a:gridCol w="1417320"/>
                <a:gridCol w="1783080"/>
                <a:gridCol w="1874519"/>
                <a:gridCol w="2103120"/>
                <a:gridCol w="2057400"/>
              </a:tblGrid>
              <a:tr h="518160">
                <a:tc>
                  <a:txBody>
                    <a:bodyPr/>
                    <a:lstStyle/>
                    <a:p>
                      <a:r>
                        <a:rPr sz="1900" b="1">
                          <a:solidFill>
                            <a:srgbClr val="FFFFFF"/>
                          </a:solidFill>
                          <a:latin typeface="Times New Roman"/>
                        </a:rPr>
                        <a:t>Model</a:t>
                      </a:r>
                    </a:p>
                  </a:txBody>
                  <a:tcPr marL="109728" marR="91440" marT="73152" marB="54864" anchor="ctr">
                    <a:solidFill>
                      <a:srgbClr val="19364D"/>
                    </a:solidFill>
                  </a:tcPr>
                </a:tc>
                <a:tc>
                  <a:txBody>
                    <a:bodyPr/>
                    <a:lstStyle/>
                    <a:p>
                      <a:r>
                        <a:rPr sz="1900" b="1">
                          <a:solidFill>
                            <a:srgbClr val="FFFFFF"/>
                          </a:solidFill>
                          <a:latin typeface="Times New Roman"/>
                        </a:rPr>
                        <a:t>Acc (%)</a:t>
                      </a:r>
                    </a:p>
                  </a:txBody>
                  <a:tcPr marL="109728" marR="91440" marT="73152" marB="54864" anchor="ctr">
                    <a:solidFill>
                      <a:srgbClr val="19364D"/>
                    </a:solidFill>
                  </a:tcPr>
                </a:tc>
                <a:tc>
                  <a:txBody>
                    <a:bodyPr/>
                    <a:lstStyle/>
                    <a:p>
                      <a:r>
                        <a:rPr sz="1900" b="1">
                          <a:solidFill>
                            <a:srgbClr val="FFFFFF"/>
                          </a:solidFill>
                          <a:latin typeface="Times New Roman"/>
                        </a:rPr>
                        <a:t>F1 macro (%)</a:t>
                      </a:r>
                    </a:p>
                  </a:txBody>
                  <a:tcPr marL="109728" marR="91440" marT="73152" marB="54864" anchor="ctr">
                    <a:solidFill>
                      <a:srgbClr val="19364D"/>
                    </a:solidFill>
                  </a:tcPr>
                </a:tc>
                <a:tc>
                  <a:txBody>
                    <a:bodyPr/>
                    <a:lstStyle/>
                    <a:p>
                      <a:r>
                        <a:rPr sz="1900" b="1">
                          <a:solidFill>
                            <a:srgbClr val="FFFFFF"/>
                          </a:solidFill>
                          <a:latin typeface="Times New Roman"/>
                        </a:rPr>
                        <a:t>Trọng số (byte)</a:t>
                      </a:r>
                    </a:p>
                  </a:txBody>
                  <a:tcPr marL="109728" marR="91440" marT="73152" marB="54864" anchor="ctr">
                    <a:solidFill>
                      <a:srgbClr val="19364D"/>
                    </a:solidFill>
                  </a:tcPr>
                </a:tc>
                <a:tc>
                  <a:txBody>
                    <a:bodyPr/>
                    <a:lstStyle/>
                    <a:p>
                      <a:r>
                        <a:rPr sz="1900" b="1">
                          <a:solidFill>
                            <a:srgbClr val="FFFFFF"/>
                          </a:solidFill>
                          <a:latin typeface="Times New Roman"/>
                        </a:rPr>
                        <a:t>Inference mean (ms)</a:t>
                      </a:r>
                    </a:p>
                  </a:txBody>
                  <a:tcPr marL="109728" marR="91440" marT="73152" marB="54864" anchor="ctr">
                    <a:solidFill>
                      <a:srgbClr val="19364D"/>
                    </a:solidFill>
                  </a:tcPr>
                </a:tc>
                <a:tc>
                  <a:txBody>
                    <a:bodyPr/>
                    <a:lstStyle/>
                    <a:p>
                      <a:r>
                        <a:rPr sz="1900" b="1">
                          <a:solidFill>
                            <a:srgbClr val="FFFFFF"/>
                          </a:solidFill>
                          <a:latin typeface="Times New Roman"/>
                        </a:rPr>
                        <a:t>Pipeline mean (ms)</a:t>
                      </a:r>
                    </a:p>
                  </a:txBody>
                  <a:tcPr marL="109728" marR="91440" marT="73152" marB="54864" anchor="ctr">
                    <a:solidFill>
                      <a:srgbClr val="19364D"/>
                    </a:solidFill>
                  </a:tcPr>
                </a:tc>
              </a:tr>
              <a:tr h="518160">
                <a:tc>
                  <a:txBody>
                    <a:bodyPr/>
                    <a:lstStyle/>
                    <a:p>
                      <a:r>
                        <a:rPr sz="1900" b="0">
                          <a:solidFill>
                            <a:srgbClr val="223544"/>
                          </a:solidFill>
                          <a:latin typeface="Times New Roman"/>
                        </a:rPr>
                        <a:t>E3 FP32</a:t>
                      </a:r>
                    </a:p>
                  </a:txBody>
                  <a:tcPr marL="109728" marR="91440" marT="73152" marB="54864" anchor="ctr">
                    <a:solidFill>
                      <a:srgbClr val="FFFFFF"/>
                    </a:solidFill>
                  </a:tcPr>
                </a:tc>
                <a:tc>
                  <a:txBody>
                    <a:bodyPr/>
                    <a:lstStyle/>
                    <a:p>
                      <a:r>
                        <a:rPr sz="1900" b="0">
                          <a:solidFill>
                            <a:srgbClr val="223544"/>
                          </a:solidFill>
                          <a:latin typeface="Times New Roman"/>
                        </a:rPr>
                        <a:t>73,75</a:t>
                      </a:r>
                    </a:p>
                  </a:txBody>
                  <a:tcPr marL="109728" marR="91440" marT="73152" marB="54864" anchor="ctr">
                    <a:solidFill>
                      <a:srgbClr val="FFFFFF"/>
                    </a:solidFill>
                  </a:tcPr>
                </a:tc>
                <a:tc>
                  <a:txBody>
                    <a:bodyPr/>
                    <a:lstStyle/>
                    <a:p>
                      <a:r>
                        <a:rPr sz="1900" b="0">
                          <a:solidFill>
                            <a:srgbClr val="223544"/>
                          </a:solidFill>
                          <a:latin typeface="Times New Roman"/>
                        </a:rPr>
                        <a:t>75,47</a:t>
                      </a:r>
                    </a:p>
                  </a:txBody>
                  <a:tcPr marL="109728" marR="91440" marT="73152" marB="54864" anchor="ctr">
                    <a:solidFill>
                      <a:srgbClr val="FFFFFF"/>
                    </a:solidFill>
                  </a:tcPr>
                </a:tc>
                <a:tc>
                  <a:txBody>
                    <a:bodyPr/>
                    <a:lstStyle/>
                    <a:p>
                      <a:r>
                        <a:rPr sz="1900" b="0">
                          <a:solidFill>
                            <a:srgbClr val="223544"/>
                          </a:solidFill>
                          <a:latin typeface="Times New Roman"/>
                        </a:rPr>
                        <a:t>22880</a:t>
                      </a:r>
                    </a:p>
                  </a:txBody>
                  <a:tcPr marL="109728" marR="91440" marT="73152" marB="54864" anchor="ctr">
                    <a:solidFill>
                      <a:srgbClr val="FFFFFF"/>
                    </a:solidFill>
                  </a:tcPr>
                </a:tc>
                <a:tc>
                  <a:txBody>
                    <a:bodyPr/>
                    <a:lstStyle/>
                    <a:p>
                      <a:r>
                        <a:rPr sz="1900" b="0">
                          <a:solidFill>
                            <a:srgbClr val="223544"/>
                          </a:solidFill>
                          <a:latin typeface="Times New Roman"/>
                        </a:rPr>
                        <a:t>41,828</a:t>
                      </a:r>
                    </a:p>
                  </a:txBody>
                  <a:tcPr marL="109728" marR="91440" marT="73152" marB="54864" anchor="ctr">
                    <a:solidFill>
                      <a:srgbClr val="FFFFFF"/>
                    </a:solidFill>
                  </a:tcPr>
                </a:tc>
                <a:tc>
                  <a:txBody>
                    <a:bodyPr/>
                    <a:lstStyle/>
                    <a:p>
                      <a:r>
                        <a:rPr sz="1900" b="0">
                          <a:solidFill>
                            <a:srgbClr val="223544"/>
                          </a:solidFill>
                          <a:latin typeface="Times New Roman"/>
                        </a:rPr>
                        <a:t>109,665</a:t>
                      </a:r>
                    </a:p>
                  </a:txBody>
                  <a:tcPr marL="109728" marR="91440" marT="73152" marB="54864" anchor="ctr">
                    <a:solidFill>
                      <a:srgbClr val="FFFFFF"/>
                    </a:solidFill>
                  </a:tcPr>
                </a:tc>
              </a:tr>
              <a:tr h="518160">
                <a:tc>
                  <a:txBody>
                    <a:bodyPr/>
                    <a:lstStyle/>
                    <a:p>
                      <a:r>
                        <a:rPr sz="1900" b="0">
                          <a:solidFill>
                            <a:srgbClr val="223544"/>
                          </a:solidFill>
                          <a:latin typeface="Times New Roman"/>
                        </a:rPr>
                        <a:t>Q1 INT8</a:t>
                      </a:r>
                    </a:p>
                  </a:txBody>
                  <a:tcPr marL="109728" marR="91440" marT="73152" marB="54864" anchor="ctr">
                    <a:solidFill>
                      <a:srgbClr val="EEF4F8"/>
                    </a:solidFill>
                  </a:tcPr>
                </a:tc>
                <a:tc>
                  <a:txBody>
                    <a:bodyPr/>
                    <a:lstStyle/>
                    <a:p>
                      <a:r>
                        <a:rPr sz="1900" b="0">
                          <a:solidFill>
                            <a:srgbClr val="223544"/>
                          </a:solidFill>
                          <a:latin typeface="Times New Roman"/>
                        </a:rPr>
                        <a:t>71,03</a:t>
                      </a:r>
                    </a:p>
                  </a:txBody>
                  <a:tcPr marL="109728" marR="91440" marT="73152" marB="54864" anchor="ctr">
                    <a:solidFill>
                      <a:srgbClr val="EEF4F8"/>
                    </a:solidFill>
                  </a:tcPr>
                </a:tc>
                <a:tc>
                  <a:txBody>
                    <a:bodyPr/>
                    <a:lstStyle/>
                    <a:p>
                      <a:r>
                        <a:rPr sz="1900" b="0">
                          <a:solidFill>
                            <a:srgbClr val="223544"/>
                          </a:solidFill>
                          <a:latin typeface="Times New Roman"/>
                        </a:rPr>
                        <a:t>73,74</a:t>
                      </a:r>
                    </a:p>
                  </a:txBody>
                  <a:tcPr marL="109728" marR="91440" marT="73152" marB="54864" anchor="ctr">
                    <a:solidFill>
                      <a:srgbClr val="EEF4F8"/>
                    </a:solidFill>
                  </a:tcPr>
                </a:tc>
                <a:tc>
                  <a:txBody>
                    <a:bodyPr/>
                    <a:lstStyle/>
                    <a:p>
                      <a:r>
                        <a:rPr sz="1900" b="0">
                          <a:solidFill>
                            <a:srgbClr val="223544"/>
                          </a:solidFill>
                          <a:latin typeface="Times New Roman"/>
                        </a:rPr>
                        <a:t>6336</a:t>
                      </a:r>
                    </a:p>
                  </a:txBody>
                  <a:tcPr marL="109728" marR="91440" marT="73152" marB="54864" anchor="ctr">
                    <a:solidFill>
                      <a:srgbClr val="EEF4F8"/>
                    </a:solidFill>
                  </a:tcPr>
                </a:tc>
                <a:tc>
                  <a:txBody>
                    <a:bodyPr/>
                    <a:lstStyle/>
                    <a:p>
                      <a:r>
                        <a:rPr sz="1900" b="0">
                          <a:solidFill>
                            <a:srgbClr val="223544"/>
                          </a:solidFill>
                          <a:latin typeface="Times New Roman"/>
                        </a:rPr>
                        <a:t>35,006</a:t>
                      </a:r>
                    </a:p>
                  </a:txBody>
                  <a:tcPr marL="109728" marR="91440" marT="73152" marB="54864" anchor="ctr">
                    <a:solidFill>
                      <a:srgbClr val="EEF4F8"/>
                    </a:solidFill>
                  </a:tcPr>
                </a:tc>
                <a:tc>
                  <a:txBody>
                    <a:bodyPr/>
                    <a:lstStyle/>
                    <a:p>
                      <a:r>
                        <a:rPr sz="1900" b="0">
                          <a:solidFill>
                            <a:srgbClr val="223544"/>
                          </a:solidFill>
                          <a:latin typeface="Times New Roman"/>
                        </a:rPr>
                        <a:t>105,200</a:t>
                      </a:r>
                    </a:p>
                  </a:txBody>
                  <a:tcPr marL="109728" marR="91440" marT="73152" marB="54864" anchor="ctr">
                    <a:solidFill>
                      <a:srgbClr val="EEF4F8"/>
                    </a:solidFill>
                  </a:tcPr>
                </a:tc>
              </a:tr>
            </a:tbl>
          </a:graphicData>
        </a:graphic>
      </p:graphicFrame>
      <p:sp>
        <p:nvSpPr>
          <p:cNvPr id="18" name="TextBox 17"/>
          <p:cNvSpPr txBox="1"/>
          <p:nvPr/>
        </p:nvSpPr>
        <p:spPr>
          <a:xfrm>
            <a:off x="731520" y="4572000"/>
            <a:ext cx="10835640" cy="1600200"/>
          </a:xfrm>
          <a:prstGeom prst="rect">
            <a:avLst/>
          </a:prstGeom>
          <a:noFill/>
        </p:spPr>
        <p:txBody>
          <a:bodyPr wrap="square" lIns="18288" rIns="18288" tIns="18288" bIns="0">
            <a:spAutoFit/>
          </a:bodyPr>
          <a:lstStyle/>
          <a:p>
            <a:pPr algn="l">
              <a:spcAft>
                <a:spcPts val="500"/>
              </a:spcAft>
            </a:pPr>
            <a:r>
              <a:rPr sz="2100" b="0">
                <a:solidFill>
                  <a:srgbClr val="223544"/>
                </a:solidFill>
                <a:latin typeface="Times New Roman"/>
              </a:rPr>
              <a:t>Dung lượng trọng số giảm 72,31%; thời gian inference giảm 16,31%.</a:t>
            </a:r>
          </a:p>
          <a:p>
            <a:pPr algn="l">
              <a:spcAft>
                <a:spcPts val="500"/>
              </a:spcAft>
            </a:pPr>
            <a:r>
              <a:rPr sz="2100" b="0">
                <a:solidFill>
                  <a:srgbClr val="223544"/>
                </a:solidFill>
                <a:latin typeface="Times New Roman"/>
              </a:rPr>
              <a:t>Thời gian toàn pipeline giảm 4,07%; STFT vẫn dùng số thực.</a:t>
            </a:r>
          </a:p>
          <a:p>
            <a:pPr algn="l">
              <a:spcAft>
                <a:spcPts val="500"/>
              </a:spcAft>
            </a:pPr>
            <a:r>
              <a:rPr sz="2100" b="0">
                <a:solidFill>
                  <a:srgbClr val="223544"/>
                </a:solidFill>
                <a:latin typeface="Times New Roman"/>
              </a:rPr>
              <a:t>Accuracy giảm 2,72 điểm; Macro F1 giảm 1,73 điểm.</a:t>
            </a:r>
          </a:p>
          <a:p>
            <a:pPr algn="l">
              <a:spcAft>
                <a:spcPts val="500"/>
              </a:spcAft>
            </a:pPr>
            <a:r>
              <a:rPr sz="2100" b="0">
                <a:solidFill>
                  <a:srgbClr val="223544"/>
                </a:solidFill>
                <a:latin typeface="Times New Roman"/>
              </a:rPr>
              <a:t>Q1 dùng reference kernel C++; chưa dùng ESP-NN.</a:t>
            </a:r>
          </a:p>
        </p:txBody>
      </p:sp>
      <p:pic>
        <p:nvPicPr>
          <p:cNvPr id="19" name="Report equation 07" descr="equation_07.png"/>
          <p:cNvPicPr>
            <a:picLocks noChangeAspect="1"/>
          </p:cNvPicPr>
          <p:nvPr/>
        </p:nvPicPr>
        <p:blipFill>
          <a:blip r:embed="rId3"/>
          <a:stretch>
            <a:fillRect/>
          </a:stretch>
        </p:blipFill>
        <p:spPr>
          <a:xfrm>
            <a:off x="2487168" y="2366055"/>
            <a:ext cx="7223760" cy="3885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Bộ nhớ của từng model trên ESP32</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21 / 23</a:t>
            </a:r>
          </a:p>
        </p:txBody>
      </p:sp>
      <p:graphicFrame>
        <p:nvGraphicFramePr>
          <p:cNvPr id="6" name="Table 5"/>
          <p:cNvGraphicFramePr>
            <a:graphicFrameLocks noGrp="1"/>
          </p:cNvGraphicFramePr>
          <p:nvPr/>
        </p:nvGraphicFramePr>
        <p:xfrm>
          <a:off x="548640" y="1417320"/>
          <a:ext cx="11109959" cy="3611880"/>
        </p:xfrm>
        <a:graphic>
          <a:graphicData uri="http://schemas.openxmlformats.org/drawingml/2006/table">
            <a:tbl>
              <a:tblPr firstRow="1" bandRow="1">
                <a:tableStyleId>{5C22544A-7EE6-4342-B048-85BDC9FD1C3A}</a:tableStyleId>
              </a:tblPr>
              <a:tblGrid>
                <a:gridCol w="777240"/>
                <a:gridCol w="1691640"/>
                <a:gridCol w="1828800"/>
                <a:gridCol w="1463040"/>
                <a:gridCol w="2103120"/>
                <a:gridCol w="1874519"/>
                <a:gridCol w="1371600"/>
              </a:tblGrid>
              <a:tr h="451485">
                <a:tc>
                  <a:txBody>
                    <a:bodyPr/>
                    <a:lstStyle/>
                    <a:p>
                      <a:r>
                        <a:rPr sz="1800" b="1">
                          <a:solidFill>
                            <a:srgbClr val="FFFFFF"/>
                          </a:solidFill>
                          <a:latin typeface="Times New Roman"/>
                        </a:rPr>
                        <a:t>Mã</a:t>
                      </a:r>
                    </a:p>
                  </a:txBody>
                  <a:tcPr marL="109728" marR="91440" marT="73152" marB="54864" anchor="ctr">
                    <a:solidFill>
                      <a:srgbClr val="19364D"/>
                    </a:solidFill>
                  </a:tcPr>
                </a:tc>
                <a:tc>
                  <a:txBody>
                    <a:bodyPr/>
                    <a:lstStyle/>
                    <a:p>
                      <a:r>
                        <a:rPr sz="1800" b="1">
                          <a:solidFill>
                            <a:srgbClr val="FFFFFF"/>
                          </a:solidFill>
                          <a:latin typeface="Times New Roman"/>
                        </a:rPr>
                        <a:t>Trọng số</a:t>
                      </a:r>
                    </a:p>
                    <a:p>
                      <a:r>
                        <a:rPr sz="1800" b="1">
                          <a:solidFill>
                            <a:srgbClr val="FFFFFF"/>
                          </a:solidFill>
                          <a:latin typeface="Times New Roman"/>
                        </a:rPr>
                        <a:t>(byte)</a:t>
                      </a:r>
                    </a:p>
                  </a:txBody>
                  <a:tcPr marL="109728" marR="91440" marT="73152" marB="54864" anchor="ctr">
                    <a:solidFill>
                      <a:srgbClr val="19364D"/>
                    </a:solidFill>
                  </a:tcPr>
                </a:tc>
                <a:tc>
                  <a:txBody>
                    <a:bodyPr/>
                    <a:lstStyle/>
                    <a:p>
                      <a:r>
                        <a:rPr sz="1800" b="1">
                          <a:solidFill>
                            <a:srgbClr val="FFFFFF"/>
                          </a:solidFill>
                          <a:latin typeface="Times New Roman"/>
                        </a:rPr>
                        <a:t>Firmware</a:t>
                      </a:r>
                    </a:p>
                    <a:p>
                      <a:r>
                        <a:rPr sz="1800" b="1">
                          <a:solidFill>
                            <a:srgbClr val="FFFFFF"/>
                          </a:solidFill>
                          <a:latin typeface="Times New Roman"/>
                        </a:rPr>
                        <a:t>flash (byte)</a:t>
                      </a:r>
                    </a:p>
                  </a:txBody>
                  <a:tcPr marL="109728" marR="91440" marT="73152" marB="54864" anchor="ctr">
                    <a:solidFill>
                      <a:srgbClr val="19364D"/>
                    </a:solidFill>
                  </a:tcPr>
                </a:tc>
                <a:tc>
                  <a:txBody>
                    <a:bodyPr/>
                    <a:lstStyle/>
                    <a:p>
                      <a:r>
                        <a:rPr sz="1800" b="1">
                          <a:solidFill>
                            <a:srgbClr val="FFFFFF"/>
                          </a:solidFill>
                          <a:latin typeface="Times New Roman"/>
                        </a:rPr>
                        <a:t>RAM tĩnh</a:t>
                      </a:r>
                    </a:p>
                    <a:p>
                      <a:r>
                        <a:rPr sz="1800" b="1">
                          <a:solidFill>
                            <a:srgbClr val="FFFFFF"/>
                          </a:solidFill>
                          <a:latin typeface="Times New Roman"/>
                        </a:rPr>
                        <a:t>(byte)</a:t>
                      </a:r>
                    </a:p>
                  </a:txBody>
                  <a:tcPr marL="109728" marR="91440" marT="73152" marB="54864" anchor="ctr">
                    <a:solidFill>
                      <a:srgbClr val="19364D"/>
                    </a:solidFill>
                  </a:tcPr>
                </a:tc>
                <a:tc>
                  <a:txBody>
                    <a:bodyPr/>
                    <a:lstStyle/>
                    <a:p>
                      <a:r>
                        <a:rPr sz="1800" b="1">
                          <a:solidFill>
                            <a:srgbClr val="FFFFFF"/>
                          </a:solidFill>
                          <a:latin typeface="Times New Roman"/>
                        </a:rPr>
                        <a:t>Heap trước</a:t>
                      </a:r>
                    </a:p>
                    <a:p>
                      <a:r>
                        <a:rPr sz="1800" b="1">
                          <a:solidFill>
                            <a:srgbClr val="FFFFFF"/>
                          </a:solidFill>
                          <a:latin typeface="Times New Roman"/>
                        </a:rPr>
                        <a:t>inference (byte)</a:t>
                      </a:r>
                    </a:p>
                  </a:txBody>
                  <a:tcPr marL="109728" marR="91440" marT="73152" marB="54864" anchor="ctr">
                    <a:solidFill>
                      <a:srgbClr val="19364D"/>
                    </a:solidFill>
                  </a:tcPr>
                </a:tc>
                <a:tc>
                  <a:txBody>
                    <a:bodyPr/>
                    <a:lstStyle/>
                    <a:p>
                      <a:r>
                        <a:rPr sz="1800" b="1">
                          <a:solidFill>
                            <a:srgbClr val="FFFFFF"/>
                          </a:solidFill>
                          <a:latin typeface="Times New Roman"/>
                        </a:rPr>
                        <a:t>Min free heap</a:t>
                      </a:r>
                    </a:p>
                    <a:p>
                      <a:r>
                        <a:rPr sz="1800" b="1">
                          <a:solidFill>
                            <a:srgbClr val="FFFFFF"/>
                          </a:solidFill>
                          <a:latin typeface="Times New Roman"/>
                        </a:rPr>
                        <a:t>(byte)</a:t>
                      </a:r>
                    </a:p>
                  </a:txBody>
                  <a:tcPr marL="109728" marR="91440" marT="73152" marB="54864" anchor="ctr">
                    <a:solidFill>
                      <a:srgbClr val="19364D"/>
                    </a:solidFill>
                  </a:tcPr>
                </a:tc>
                <a:tc>
                  <a:txBody>
                    <a:bodyPr/>
                    <a:lstStyle/>
                    <a:p>
                      <a:r>
                        <a:rPr sz="1800" b="1">
                          <a:solidFill>
                            <a:srgbClr val="FFFFFF"/>
                          </a:solidFill>
                          <a:latin typeface="Times New Roman"/>
                        </a:rPr>
                        <a:t>Stack dư</a:t>
                      </a:r>
                    </a:p>
                    <a:p>
                      <a:r>
                        <a:rPr sz="1800" b="1">
                          <a:solidFill>
                            <a:srgbClr val="FFFFFF"/>
                          </a:solidFill>
                          <a:latin typeface="Times New Roman"/>
                        </a:rPr>
                        <a:t>(byte)</a:t>
                      </a:r>
                    </a:p>
                  </a:txBody>
                  <a:tcPr marL="109728" marR="91440" marT="73152" marB="54864" anchor="ctr">
                    <a:solidFill>
                      <a:srgbClr val="19364D"/>
                    </a:solidFill>
                  </a:tcPr>
                </a:tc>
              </a:tr>
              <a:tr h="451485">
                <a:tc>
                  <a:txBody>
                    <a:bodyPr/>
                    <a:lstStyle/>
                    <a:p>
                      <a:r>
                        <a:rPr sz="1800" b="0">
                          <a:solidFill>
                            <a:srgbClr val="223544"/>
                          </a:solidFill>
                          <a:latin typeface="Times New Roman"/>
                        </a:rPr>
                        <a:t>E1</a:t>
                      </a:r>
                    </a:p>
                  </a:txBody>
                  <a:tcPr marL="109728" marR="91440" marT="73152" marB="54864" anchor="ctr">
                    <a:solidFill>
                      <a:srgbClr val="FFFFFF"/>
                    </a:solidFill>
                  </a:tcPr>
                </a:tc>
                <a:tc>
                  <a:txBody>
                    <a:bodyPr/>
                    <a:lstStyle/>
                    <a:p>
                      <a:r>
                        <a:rPr sz="1800" b="0">
                          <a:solidFill>
                            <a:srgbClr val="223544"/>
                          </a:solidFill>
                          <a:latin typeface="Times New Roman"/>
                        </a:rPr>
                        <a:t>2.986.746</a:t>
                      </a:r>
                    </a:p>
                  </a:txBody>
                  <a:tcPr marL="109728" marR="91440" marT="73152" marB="54864" anchor="ctr">
                    <a:solidFill>
                      <a:srgbClr val="FFFFFF"/>
                    </a:solidFill>
                  </a:tcPr>
                </a:tc>
                <a:tc>
                  <a:txBody>
                    <a:bodyPr/>
                    <a:lstStyle/>
                    <a:p>
                      <a:r>
                        <a:rPr sz="1800" b="0">
                          <a:solidFill>
                            <a:srgbClr val="223544"/>
                          </a:solidFill>
                          <a:latin typeface="Times New Roman"/>
                        </a:rPr>
                        <a:t>3.270.681</a:t>
                      </a:r>
                    </a:p>
                  </a:txBody>
                  <a:tcPr marL="109728" marR="91440" marT="73152" marB="54864" anchor="ctr">
                    <a:solidFill>
                      <a:srgbClr val="FFFFFF"/>
                    </a:solidFill>
                  </a:tcPr>
                </a:tc>
                <a:tc>
                  <a:txBody>
                    <a:bodyPr/>
                    <a:lstStyle/>
                    <a:p>
                      <a:r>
                        <a:rPr sz="1800" b="0">
                          <a:solidFill>
                            <a:srgbClr val="223544"/>
                          </a:solidFill>
                          <a:latin typeface="Times New Roman"/>
                        </a:rPr>
                        <a:t>89.964</a:t>
                      </a:r>
                    </a:p>
                  </a:txBody>
                  <a:tcPr marL="109728" marR="91440" marT="73152" marB="54864" anchor="ctr">
                    <a:solidFill>
                      <a:srgbClr val="FFFFFF"/>
                    </a:solidFill>
                  </a:tcPr>
                </a:tc>
                <a:tc>
                  <a:txBody>
                    <a:bodyPr/>
                    <a:lstStyle/>
                    <a:p>
                      <a:r>
                        <a:rPr sz="1800" b="0">
                          <a:solidFill>
                            <a:srgbClr val="223544"/>
                          </a:solidFill>
                          <a:latin typeface="Times New Roman"/>
                        </a:rPr>
                        <a:t>237.672</a:t>
                      </a:r>
                    </a:p>
                  </a:txBody>
                  <a:tcPr marL="109728" marR="91440" marT="73152" marB="54864" anchor="ctr">
                    <a:solidFill>
                      <a:srgbClr val="FFFFFF"/>
                    </a:solidFill>
                  </a:tcPr>
                </a:tc>
                <a:tc>
                  <a:txBody>
                    <a:bodyPr/>
                    <a:lstStyle/>
                    <a:p>
                      <a:r>
                        <a:rPr sz="1800" b="0">
                          <a:solidFill>
                            <a:srgbClr val="223544"/>
                          </a:solidFill>
                          <a:latin typeface="Times New Roman"/>
                        </a:rPr>
                        <a:t>231.844</a:t>
                      </a:r>
                    </a:p>
                  </a:txBody>
                  <a:tcPr marL="109728" marR="91440" marT="73152" marB="54864" anchor="ctr">
                    <a:solidFill>
                      <a:srgbClr val="FFFFFF"/>
                    </a:solidFill>
                  </a:tcPr>
                </a:tc>
                <a:tc>
                  <a:txBody>
                    <a:bodyPr/>
                    <a:lstStyle/>
                    <a:p>
                      <a:r>
                        <a:rPr sz="1800" b="0">
                          <a:solidFill>
                            <a:srgbClr val="223544"/>
                          </a:solidFill>
                          <a:latin typeface="Times New Roman"/>
                        </a:rPr>
                        <a:t>6.636</a:t>
                      </a:r>
                    </a:p>
                  </a:txBody>
                  <a:tcPr marL="109728" marR="91440" marT="73152" marB="54864" anchor="ctr">
                    <a:solidFill>
                      <a:srgbClr val="FFFFFF"/>
                    </a:solidFill>
                  </a:tcPr>
                </a:tc>
              </a:tr>
              <a:tr h="451485">
                <a:tc>
                  <a:txBody>
                    <a:bodyPr/>
                    <a:lstStyle/>
                    <a:p>
                      <a:r>
                        <a:rPr sz="1800" b="0">
                          <a:solidFill>
                            <a:srgbClr val="223544"/>
                          </a:solidFill>
                          <a:latin typeface="Times New Roman"/>
                        </a:rPr>
                        <a:t>E2</a:t>
                      </a:r>
                    </a:p>
                  </a:txBody>
                  <a:tcPr marL="109728" marR="91440" marT="73152" marB="54864" anchor="ctr">
                    <a:solidFill>
                      <a:srgbClr val="EEF4F8"/>
                    </a:solidFill>
                  </a:tcPr>
                </a:tc>
                <a:tc>
                  <a:txBody>
                    <a:bodyPr/>
                    <a:lstStyle/>
                    <a:p>
                      <a:r>
                        <a:rPr sz="1800" b="0">
                          <a:solidFill>
                            <a:srgbClr val="223544"/>
                          </a:solidFill>
                          <a:latin typeface="Times New Roman"/>
                        </a:rPr>
                        <a:t>45.920</a:t>
                      </a:r>
                    </a:p>
                  </a:txBody>
                  <a:tcPr marL="109728" marR="91440" marT="73152" marB="54864" anchor="ctr">
                    <a:solidFill>
                      <a:srgbClr val="EEF4F8"/>
                    </a:solidFill>
                  </a:tcPr>
                </a:tc>
                <a:tc>
                  <a:txBody>
                    <a:bodyPr/>
                    <a:lstStyle/>
                    <a:p>
                      <a:r>
                        <a:rPr sz="1800" b="0">
                          <a:solidFill>
                            <a:srgbClr val="223544"/>
                          </a:solidFill>
                          <a:latin typeface="Times New Roman"/>
                        </a:rPr>
                        <a:t>320.449</a:t>
                      </a:r>
                    </a:p>
                  </a:txBody>
                  <a:tcPr marL="109728" marR="91440" marT="73152" marB="54864" anchor="ctr">
                    <a:solidFill>
                      <a:srgbClr val="EEF4F8"/>
                    </a:solidFill>
                  </a:tcPr>
                </a:tc>
                <a:tc>
                  <a:txBody>
                    <a:bodyPr/>
                    <a:lstStyle/>
                    <a:p>
                      <a:r>
                        <a:rPr sz="1800" b="0">
                          <a:solidFill>
                            <a:srgbClr val="223544"/>
                          </a:solidFill>
                          <a:latin typeface="Times New Roman"/>
                        </a:rPr>
                        <a:t>41.400</a:t>
                      </a:r>
                    </a:p>
                  </a:txBody>
                  <a:tcPr marL="109728" marR="91440" marT="73152" marB="54864" anchor="ctr">
                    <a:solidFill>
                      <a:srgbClr val="EEF4F8"/>
                    </a:solidFill>
                  </a:tcPr>
                </a:tc>
                <a:tc>
                  <a:txBody>
                    <a:bodyPr/>
                    <a:lstStyle/>
                    <a:p>
                      <a:r>
                        <a:rPr sz="1800" b="0">
                          <a:solidFill>
                            <a:srgbClr val="223544"/>
                          </a:solidFill>
                          <a:latin typeface="Times New Roman"/>
                        </a:rPr>
                        <a:t>280.976</a:t>
                      </a:r>
                    </a:p>
                  </a:txBody>
                  <a:tcPr marL="109728" marR="91440" marT="73152" marB="54864" anchor="ctr">
                    <a:solidFill>
                      <a:srgbClr val="EEF4F8"/>
                    </a:solidFill>
                  </a:tcPr>
                </a:tc>
                <a:tc>
                  <a:txBody>
                    <a:bodyPr/>
                    <a:lstStyle/>
                    <a:p>
                      <a:r>
                        <a:rPr sz="1800" b="0">
                          <a:solidFill>
                            <a:srgbClr val="223544"/>
                          </a:solidFill>
                          <a:latin typeface="Times New Roman"/>
                        </a:rPr>
                        <a:t>275.284</a:t>
                      </a:r>
                    </a:p>
                  </a:txBody>
                  <a:tcPr marL="109728" marR="91440" marT="73152" marB="54864" anchor="ctr">
                    <a:solidFill>
                      <a:srgbClr val="EEF4F8"/>
                    </a:solidFill>
                  </a:tcPr>
                </a:tc>
                <a:tc>
                  <a:txBody>
                    <a:bodyPr/>
                    <a:lstStyle/>
                    <a:p>
                      <a:r>
                        <a:rPr sz="1800" b="0">
                          <a:solidFill>
                            <a:srgbClr val="223544"/>
                          </a:solidFill>
                          <a:latin typeface="Times New Roman"/>
                        </a:rPr>
                        <a:t>6.636</a:t>
                      </a:r>
                    </a:p>
                  </a:txBody>
                  <a:tcPr marL="109728" marR="91440" marT="73152" marB="54864" anchor="ctr">
                    <a:solidFill>
                      <a:srgbClr val="EEF4F8"/>
                    </a:solidFill>
                  </a:tcPr>
                </a:tc>
              </a:tr>
              <a:tr h="451485">
                <a:tc>
                  <a:txBody>
                    <a:bodyPr/>
                    <a:lstStyle/>
                    <a:p>
                      <a:r>
                        <a:rPr sz="1800" b="0">
                          <a:solidFill>
                            <a:srgbClr val="223544"/>
                          </a:solidFill>
                          <a:latin typeface="Times New Roman"/>
                        </a:rPr>
                        <a:t>E3</a:t>
                      </a:r>
                    </a:p>
                  </a:txBody>
                  <a:tcPr marL="109728" marR="91440" marT="73152" marB="54864" anchor="ctr">
                    <a:solidFill>
                      <a:srgbClr val="FFFFFF"/>
                    </a:solidFill>
                  </a:tcPr>
                </a:tc>
                <a:tc>
                  <a:txBody>
                    <a:bodyPr/>
                    <a:lstStyle/>
                    <a:p>
                      <a:r>
                        <a:rPr sz="1800" b="0">
                          <a:solidFill>
                            <a:srgbClr val="223544"/>
                          </a:solidFill>
                          <a:latin typeface="Times New Roman"/>
                        </a:rPr>
                        <a:t>22.880</a:t>
                      </a:r>
                    </a:p>
                  </a:txBody>
                  <a:tcPr marL="109728" marR="91440" marT="73152" marB="54864" anchor="ctr">
                    <a:solidFill>
                      <a:srgbClr val="FFFFFF"/>
                    </a:solidFill>
                  </a:tcPr>
                </a:tc>
                <a:tc>
                  <a:txBody>
                    <a:bodyPr/>
                    <a:lstStyle/>
                    <a:p>
                      <a:r>
                        <a:rPr sz="1800" b="0">
                          <a:solidFill>
                            <a:srgbClr val="223544"/>
                          </a:solidFill>
                          <a:latin typeface="Times New Roman"/>
                        </a:rPr>
                        <a:t>301.489</a:t>
                      </a:r>
                    </a:p>
                  </a:txBody>
                  <a:tcPr marL="109728" marR="91440" marT="73152" marB="54864" anchor="ctr">
                    <a:solidFill>
                      <a:srgbClr val="FFFFFF"/>
                    </a:solidFill>
                  </a:tcPr>
                </a:tc>
                <a:tc>
                  <a:txBody>
                    <a:bodyPr/>
                    <a:lstStyle/>
                    <a:p>
                      <a:r>
                        <a:rPr sz="1800" b="0">
                          <a:solidFill>
                            <a:srgbClr val="223544"/>
                          </a:solidFill>
                          <a:latin typeface="Times New Roman"/>
                        </a:rPr>
                        <a:t>63.204</a:t>
                      </a:r>
                    </a:p>
                  </a:txBody>
                  <a:tcPr marL="109728" marR="91440" marT="73152" marB="54864" anchor="ctr">
                    <a:solidFill>
                      <a:srgbClr val="FFFFFF"/>
                    </a:solidFill>
                  </a:tcPr>
                </a:tc>
                <a:tc>
                  <a:txBody>
                    <a:bodyPr/>
                    <a:lstStyle/>
                    <a:p>
                      <a:r>
                        <a:rPr sz="1800" b="0">
                          <a:solidFill>
                            <a:srgbClr val="223544"/>
                          </a:solidFill>
                          <a:latin typeface="Times New Roman"/>
                        </a:rPr>
                        <a:t>257.440</a:t>
                      </a:r>
                    </a:p>
                  </a:txBody>
                  <a:tcPr marL="109728" marR="91440" marT="73152" marB="54864" anchor="ctr">
                    <a:solidFill>
                      <a:srgbClr val="FFFFFF"/>
                    </a:solidFill>
                  </a:tcPr>
                </a:tc>
                <a:tc>
                  <a:txBody>
                    <a:bodyPr/>
                    <a:lstStyle/>
                    <a:p>
                      <a:r>
                        <a:rPr sz="1800" b="0">
                          <a:solidFill>
                            <a:srgbClr val="223544"/>
                          </a:solidFill>
                          <a:latin typeface="Times New Roman"/>
                        </a:rPr>
                        <a:t>251.748</a:t>
                      </a:r>
                    </a:p>
                  </a:txBody>
                  <a:tcPr marL="109728" marR="91440" marT="73152" marB="54864" anchor="ctr">
                    <a:solidFill>
                      <a:srgbClr val="FFFFFF"/>
                    </a:solidFill>
                  </a:tcPr>
                </a:tc>
                <a:tc>
                  <a:txBody>
                    <a:bodyPr/>
                    <a:lstStyle/>
                    <a:p>
                      <a:r>
                        <a:rPr sz="1800" b="0">
                          <a:solidFill>
                            <a:srgbClr val="223544"/>
                          </a:solidFill>
                          <a:latin typeface="Times New Roman"/>
                        </a:rPr>
                        <a:t>6.636</a:t>
                      </a:r>
                    </a:p>
                  </a:txBody>
                  <a:tcPr marL="109728" marR="91440" marT="73152" marB="54864" anchor="ctr">
                    <a:solidFill>
                      <a:srgbClr val="FFFFFF"/>
                    </a:solidFill>
                  </a:tcPr>
                </a:tc>
              </a:tr>
              <a:tr h="451485">
                <a:tc>
                  <a:txBody>
                    <a:bodyPr/>
                    <a:lstStyle/>
                    <a:p>
                      <a:r>
                        <a:rPr sz="1800" b="0">
                          <a:solidFill>
                            <a:srgbClr val="223544"/>
                          </a:solidFill>
                          <a:latin typeface="Times New Roman"/>
                        </a:rPr>
                        <a:t>E4</a:t>
                      </a:r>
                    </a:p>
                  </a:txBody>
                  <a:tcPr marL="109728" marR="91440" marT="73152" marB="54864" anchor="ctr">
                    <a:solidFill>
                      <a:srgbClr val="EEF4F8"/>
                    </a:solidFill>
                  </a:tcPr>
                </a:tc>
                <a:tc>
                  <a:txBody>
                    <a:bodyPr/>
                    <a:lstStyle/>
                    <a:p>
                      <a:r>
                        <a:rPr sz="1800" b="0">
                          <a:solidFill>
                            <a:srgbClr val="223544"/>
                          </a:solidFill>
                          <a:latin typeface="Times New Roman"/>
                        </a:rPr>
                        <a:t>22.592</a:t>
                      </a:r>
                    </a:p>
                  </a:txBody>
                  <a:tcPr marL="109728" marR="91440" marT="73152" marB="54864" anchor="ctr">
                    <a:solidFill>
                      <a:srgbClr val="EEF4F8"/>
                    </a:solidFill>
                  </a:tcPr>
                </a:tc>
                <a:tc>
                  <a:txBody>
                    <a:bodyPr/>
                    <a:lstStyle/>
                    <a:p>
                      <a:r>
                        <a:rPr sz="1800" b="0">
                          <a:solidFill>
                            <a:srgbClr val="223544"/>
                          </a:solidFill>
                          <a:latin typeface="Times New Roman"/>
                        </a:rPr>
                        <a:t>300.229</a:t>
                      </a:r>
                    </a:p>
                  </a:txBody>
                  <a:tcPr marL="109728" marR="91440" marT="73152" marB="54864" anchor="ctr">
                    <a:solidFill>
                      <a:srgbClr val="EEF4F8"/>
                    </a:solidFill>
                  </a:tcPr>
                </a:tc>
                <a:tc>
                  <a:txBody>
                    <a:bodyPr/>
                    <a:lstStyle/>
                    <a:p>
                      <a:r>
                        <a:rPr sz="1800" b="0">
                          <a:solidFill>
                            <a:srgbClr val="223544"/>
                          </a:solidFill>
                          <a:latin typeface="Times New Roman"/>
                        </a:rPr>
                        <a:t>58.676</a:t>
                      </a:r>
                    </a:p>
                  </a:txBody>
                  <a:tcPr marL="109728" marR="91440" marT="73152" marB="54864" anchor="ctr">
                    <a:solidFill>
                      <a:srgbClr val="EEF4F8"/>
                    </a:solidFill>
                  </a:tcPr>
                </a:tc>
                <a:tc>
                  <a:txBody>
                    <a:bodyPr/>
                    <a:lstStyle/>
                    <a:p>
                      <a:r>
                        <a:rPr sz="1800" b="0">
                          <a:solidFill>
                            <a:srgbClr val="223544"/>
                          </a:solidFill>
                          <a:latin typeface="Times New Roman"/>
                        </a:rPr>
                        <a:t>262.704</a:t>
                      </a:r>
                    </a:p>
                  </a:txBody>
                  <a:tcPr marL="109728" marR="91440" marT="73152" marB="54864" anchor="ctr">
                    <a:solidFill>
                      <a:srgbClr val="EEF4F8"/>
                    </a:solidFill>
                  </a:tcPr>
                </a:tc>
                <a:tc>
                  <a:txBody>
                    <a:bodyPr/>
                    <a:lstStyle/>
                    <a:p>
                      <a:r>
                        <a:rPr sz="1800" b="0">
                          <a:solidFill>
                            <a:srgbClr val="223544"/>
                          </a:solidFill>
                          <a:latin typeface="Times New Roman"/>
                        </a:rPr>
                        <a:t>257.012</a:t>
                      </a:r>
                    </a:p>
                  </a:txBody>
                  <a:tcPr marL="109728" marR="91440" marT="73152" marB="54864" anchor="ctr">
                    <a:solidFill>
                      <a:srgbClr val="EEF4F8"/>
                    </a:solidFill>
                  </a:tcPr>
                </a:tc>
                <a:tc>
                  <a:txBody>
                    <a:bodyPr/>
                    <a:lstStyle/>
                    <a:p>
                      <a:r>
                        <a:rPr sz="1800" b="0">
                          <a:solidFill>
                            <a:srgbClr val="223544"/>
                          </a:solidFill>
                          <a:latin typeface="Times New Roman"/>
                        </a:rPr>
                        <a:t>6.636</a:t>
                      </a:r>
                    </a:p>
                  </a:txBody>
                  <a:tcPr marL="109728" marR="91440" marT="73152" marB="54864" anchor="ctr">
                    <a:solidFill>
                      <a:srgbClr val="EEF4F8"/>
                    </a:solidFill>
                  </a:tcPr>
                </a:tc>
              </a:tr>
              <a:tr h="451485">
                <a:tc>
                  <a:txBody>
                    <a:bodyPr/>
                    <a:lstStyle/>
                    <a:p>
                      <a:r>
                        <a:rPr sz="1800" b="0">
                          <a:solidFill>
                            <a:srgbClr val="223544"/>
                          </a:solidFill>
                          <a:latin typeface="Times New Roman"/>
                        </a:rPr>
                        <a:t>E5</a:t>
                      </a:r>
                    </a:p>
                  </a:txBody>
                  <a:tcPr marL="109728" marR="91440" marT="73152" marB="54864" anchor="ctr">
                    <a:solidFill>
                      <a:srgbClr val="FFFFFF"/>
                    </a:solidFill>
                  </a:tcPr>
                </a:tc>
                <a:tc>
                  <a:txBody>
                    <a:bodyPr/>
                    <a:lstStyle/>
                    <a:p>
                      <a:r>
                        <a:rPr sz="1800" b="0">
                          <a:solidFill>
                            <a:srgbClr val="223544"/>
                          </a:solidFill>
                          <a:latin typeface="Times New Roman"/>
                        </a:rPr>
                        <a:t>22.016</a:t>
                      </a:r>
                    </a:p>
                  </a:txBody>
                  <a:tcPr marL="109728" marR="91440" marT="73152" marB="54864" anchor="ctr">
                    <a:solidFill>
                      <a:srgbClr val="FFFFFF"/>
                    </a:solidFill>
                  </a:tcPr>
                </a:tc>
                <a:tc>
                  <a:txBody>
                    <a:bodyPr/>
                    <a:lstStyle/>
                    <a:p>
                      <a:r>
                        <a:rPr sz="1800" b="0">
                          <a:solidFill>
                            <a:srgbClr val="223544"/>
                          </a:solidFill>
                          <a:latin typeface="Times New Roman"/>
                        </a:rPr>
                        <a:t>300.557</a:t>
                      </a:r>
                    </a:p>
                  </a:txBody>
                  <a:tcPr marL="109728" marR="91440" marT="73152" marB="54864" anchor="ctr">
                    <a:solidFill>
                      <a:srgbClr val="FFFFFF"/>
                    </a:solidFill>
                  </a:tcPr>
                </a:tc>
                <a:tc>
                  <a:txBody>
                    <a:bodyPr/>
                    <a:lstStyle/>
                    <a:p>
                      <a:r>
                        <a:rPr sz="1800" b="0">
                          <a:solidFill>
                            <a:srgbClr val="223544"/>
                          </a:solidFill>
                          <a:latin typeface="Times New Roman"/>
                        </a:rPr>
                        <a:t>63.204</a:t>
                      </a:r>
                    </a:p>
                  </a:txBody>
                  <a:tcPr marL="109728" marR="91440" marT="73152" marB="54864" anchor="ctr">
                    <a:solidFill>
                      <a:srgbClr val="FFFFFF"/>
                    </a:solidFill>
                  </a:tcPr>
                </a:tc>
                <a:tc>
                  <a:txBody>
                    <a:bodyPr/>
                    <a:lstStyle/>
                    <a:p>
                      <a:r>
                        <a:rPr sz="1800" b="0">
                          <a:solidFill>
                            <a:srgbClr val="223544"/>
                          </a:solidFill>
                          <a:latin typeface="Times New Roman"/>
                        </a:rPr>
                        <a:t>257.440</a:t>
                      </a:r>
                    </a:p>
                  </a:txBody>
                  <a:tcPr marL="109728" marR="91440" marT="73152" marB="54864" anchor="ctr">
                    <a:solidFill>
                      <a:srgbClr val="FFFFFF"/>
                    </a:solidFill>
                  </a:tcPr>
                </a:tc>
                <a:tc>
                  <a:txBody>
                    <a:bodyPr/>
                    <a:lstStyle/>
                    <a:p>
                      <a:r>
                        <a:rPr sz="1800" b="0">
                          <a:solidFill>
                            <a:srgbClr val="223544"/>
                          </a:solidFill>
                          <a:latin typeface="Times New Roman"/>
                        </a:rPr>
                        <a:t>251.748</a:t>
                      </a:r>
                    </a:p>
                  </a:txBody>
                  <a:tcPr marL="109728" marR="91440" marT="73152" marB="54864" anchor="ctr">
                    <a:solidFill>
                      <a:srgbClr val="FFFFFF"/>
                    </a:solidFill>
                  </a:tcPr>
                </a:tc>
                <a:tc>
                  <a:txBody>
                    <a:bodyPr/>
                    <a:lstStyle/>
                    <a:p>
                      <a:r>
                        <a:rPr sz="1800" b="0">
                          <a:solidFill>
                            <a:srgbClr val="223544"/>
                          </a:solidFill>
                          <a:latin typeface="Times New Roman"/>
                        </a:rPr>
                        <a:t>6.636</a:t>
                      </a:r>
                    </a:p>
                  </a:txBody>
                  <a:tcPr marL="109728" marR="91440" marT="73152" marB="54864" anchor="ctr">
                    <a:solidFill>
                      <a:srgbClr val="FFFFFF"/>
                    </a:solidFill>
                  </a:tcPr>
                </a:tc>
              </a:tr>
              <a:tr h="451485">
                <a:tc>
                  <a:txBody>
                    <a:bodyPr/>
                    <a:lstStyle/>
                    <a:p>
                      <a:r>
                        <a:rPr sz="1800" b="0">
                          <a:solidFill>
                            <a:srgbClr val="223544"/>
                          </a:solidFill>
                          <a:latin typeface="Times New Roman"/>
                        </a:rPr>
                        <a:t>E6</a:t>
                      </a:r>
                    </a:p>
                  </a:txBody>
                  <a:tcPr marL="109728" marR="91440" marT="73152" marB="54864" anchor="ctr">
                    <a:solidFill>
                      <a:srgbClr val="E4F1F8"/>
                    </a:solidFill>
                  </a:tcPr>
                </a:tc>
                <a:tc>
                  <a:txBody>
                    <a:bodyPr/>
                    <a:lstStyle/>
                    <a:p>
                      <a:r>
                        <a:rPr sz="1800" b="0">
                          <a:solidFill>
                            <a:srgbClr val="223544"/>
                          </a:solidFill>
                          <a:latin typeface="Times New Roman"/>
                        </a:rPr>
                        <a:t>30.088</a:t>
                      </a:r>
                    </a:p>
                  </a:txBody>
                  <a:tcPr marL="109728" marR="91440" marT="73152" marB="54864" anchor="ctr">
                    <a:solidFill>
                      <a:srgbClr val="E4F1F8"/>
                    </a:solidFill>
                  </a:tcPr>
                </a:tc>
                <a:tc>
                  <a:txBody>
                    <a:bodyPr/>
                    <a:lstStyle/>
                    <a:p>
                      <a:r>
                        <a:rPr sz="1800" b="0">
                          <a:solidFill>
                            <a:srgbClr val="223544"/>
                          </a:solidFill>
                          <a:latin typeface="Times New Roman"/>
                        </a:rPr>
                        <a:t>309.685</a:t>
                      </a:r>
                    </a:p>
                  </a:txBody>
                  <a:tcPr marL="109728" marR="91440" marT="73152" marB="54864" anchor="ctr">
                    <a:solidFill>
                      <a:srgbClr val="E4F1F8"/>
                    </a:solidFill>
                  </a:tcPr>
                </a:tc>
                <a:tc>
                  <a:txBody>
                    <a:bodyPr/>
                    <a:lstStyle/>
                    <a:p>
                      <a:r>
                        <a:rPr sz="1800" b="0">
                          <a:solidFill>
                            <a:srgbClr val="223544"/>
                          </a:solidFill>
                          <a:latin typeface="Times New Roman"/>
                        </a:rPr>
                        <a:t>106.920</a:t>
                      </a:r>
                    </a:p>
                  </a:txBody>
                  <a:tcPr marL="109728" marR="91440" marT="73152" marB="54864" anchor="ctr">
                    <a:solidFill>
                      <a:srgbClr val="E4F1F8"/>
                    </a:solidFill>
                  </a:tcPr>
                </a:tc>
                <a:tc>
                  <a:txBody>
                    <a:bodyPr/>
                    <a:lstStyle/>
                    <a:p>
                      <a:r>
                        <a:rPr sz="1800" b="0">
                          <a:solidFill>
                            <a:srgbClr val="223544"/>
                          </a:solidFill>
                          <a:latin typeface="Times New Roman"/>
                        </a:rPr>
                        <a:t>265.956</a:t>
                      </a:r>
                    </a:p>
                  </a:txBody>
                  <a:tcPr marL="109728" marR="91440" marT="73152" marB="54864" anchor="ctr">
                    <a:solidFill>
                      <a:srgbClr val="E4F1F8"/>
                    </a:solidFill>
                  </a:tcPr>
                </a:tc>
                <a:tc>
                  <a:txBody>
                    <a:bodyPr/>
                    <a:lstStyle/>
                    <a:p>
                      <a:r>
                        <a:rPr sz="1800" b="0">
                          <a:solidFill>
                            <a:srgbClr val="223544"/>
                          </a:solidFill>
                          <a:latin typeface="Times New Roman"/>
                        </a:rPr>
                        <a:t>260.092</a:t>
                      </a:r>
                    </a:p>
                  </a:txBody>
                  <a:tcPr marL="109728" marR="91440" marT="73152" marB="54864" anchor="ctr">
                    <a:solidFill>
                      <a:srgbClr val="E4F1F8"/>
                    </a:solidFill>
                  </a:tcPr>
                </a:tc>
                <a:tc>
                  <a:txBody>
                    <a:bodyPr/>
                    <a:lstStyle/>
                    <a:p>
                      <a:r>
                        <a:rPr sz="1800" b="0">
                          <a:solidFill>
                            <a:srgbClr val="223544"/>
                          </a:solidFill>
                          <a:latin typeface="Times New Roman"/>
                        </a:rPr>
                        <a:t>6.588</a:t>
                      </a:r>
                    </a:p>
                  </a:txBody>
                  <a:tcPr marL="109728" marR="91440" marT="73152" marB="54864" anchor="ctr">
                    <a:solidFill>
                      <a:srgbClr val="E4F1F8"/>
                    </a:solidFill>
                  </a:tcPr>
                </a:tc>
              </a:tr>
              <a:tr h="451485">
                <a:tc>
                  <a:txBody>
                    <a:bodyPr/>
                    <a:lstStyle/>
                    <a:p>
                      <a:r>
                        <a:rPr sz="1800" b="0">
                          <a:solidFill>
                            <a:srgbClr val="223544"/>
                          </a:solidFill>
                          <a:latin typeface="Times New Roman"/>
                        </a:rPr>
                        <a:t>Q1</a:t>
                      </a:r>
                    </a:p>
                  </a:txBody>
                  <a:tcPr marL="109728" marR="91440" marT="73152" marB="54864" anchor="ctr">
                    <a:solidFill>
                      <a:srgbClr val="FFFFFF"/>
                    </a:solidFill>
                  </a:tcPr>
                </a:tc>
                <a:tc>
                  <a:txBody>
                    <a:bodyPr/>
                    <a:lstStyle/>
                    <a:p>
                      <a:r>
                        <a:rPr sz="1800" b="0">
                          <a:solidFill>
                            <a:srgbClr val="223544"/>
                          </a:solidFill>
                          <a:latin typeface="Times New Roman"/>
                        </a:rPr>
                        <a:t>6.336</a:t>
                      </a:r>
                    </a:p>
                  </a:txBody>
                  <a:tcPr marL="109728" marR="91440" marT="73152" marB="54864" anchor="ctr">
                    <a:solidFill>
                      <a:srgbClr val="FFFFFF"/>
                    </a:solidFill>
                  </a:tcPr>
                </a:tc>
                <a:tc>
                  <a:txBody>
                    <a:bodyPr/>
                    <a:lstStyle/>
                    <a:p>
                      <a:r>
                        <a:rPr sz="1800" b="0">
                          <a:solidFill>
                            <a:srgbClr val="223544"/>
                          </a:solidFill>
                          <a:latin typeface="Times New Roman"/>
                        </a:rPr>
                        <a:t>287.037</a:t>
                      </a:r>
                    </a:p>
                  </a:txBody>
                  <a:tcPr marL="109728" marR="91440" marT="73152" marB="54864" anchor="ctr">
                    <a:solidFill>
                      <a:srgbClr val="FFFFFF"/>
                    </a:solidFill>
                  </a:tcPr>
                </a:tc>
                <a:tc>
                  <a:txBody>
                    <a:bodyPr/>
                    <a:lstStyle/>
                    <a:p>
                      <a:r>
                        <a:rPr sz="1800" b="0">
                          <a:solidFill>
                            <a:srgbClr val="223544"/>
                          </a:solidFill>
                          <a:latin typeface="Times New Roman"/>
                        </a:rPr>
                        <a:t>75.476</a:t>
                      </a:r>
                    </a:p>
                  </a:txBody>
                  <a:tcPr marL="109728" marR="91440" marT="73152" marB="54864" anchor="ctr">
                    <a:solidFill>
                      <a:srgbClr val="FFFFFF"/>
                    </a:solidFill>
                  </a:tcPr>
                </a:tc>
                <a:tc>
                  <a:txBody>
                    <a:bodyPr/>
                    <a:lstStyle/>
                    <a:p>
                      <a:r>
                        <a:rPr sz="1800" b="0">
                          <a:solidFill>
                            <a:srgbClr val="223544"/>
                          </a:solidFill>
                          <a:latin typeface="Times New Roman"/>
                        </a:rPr>
                        <a:t>290.768</a:t>
                      </a:r>
                    </a:p>
                  </a:txBody>
                  <a:tcPr marL="109728" marR="91440" marT="73152" marB="54864" anchor="ctr">
                    <a:solidFill>
                      <a:srgbClr val="FFFFFF"/>
                    </a:solidFill>
                  </a:tcPr>
                </a:tc>
                <a:tc>
                  <a:txBody>
                    <a:bodyPr/>
                    <a:lstStyle/>
                    <a:p>
                      <a:r>
                        <a:rPr sz="1800" b="0">
                          <a:solidFill>
                            <a:srgbClr val="223544"/>
                          </a:solidFill>
                          <a:latin typeface="Times New Roman"/>
                        </a:rPr>
                        <a:t>285.076</a:t>
                      </a:r>
                    </a:p>
                  </a:txBody>
                  <a:tcPr marL="109728" marR="91440" marT="73152" marB="54864" anchor="ctr">
                    <a:solidFill>
                      <a:srgbClr val="FFFFFF"/>
                    </a:solidFill>
                  </a:tcPr>
                </a:tc>
                <a:tc>
                  <a:txBody>
                    <a:bodyPr/>
                    <a:lstStyle/>
                    <a:p>
                      <a:r>
                        <a:rPr sz="1800" b="0">
                          <a:solidFill>
                            <a:srgbClr val="223544"/>
                          </a:solidFill>
                          <a:latin typeface="Times New Roman"/>
                        </a:rPr>
                        <a:t>6.636</a:t>
                      </a:r>
                    </a:p>
                  </a:txBody>
                  <a:tcPr marL="109728" marR="91440" marT="73152" marB="54864" anchor="ctr">
                    <a:solidFill>
                      <a:srgbClr val="FFFFFF"/>
                    </a:solidFill>
                  </a:tcPr>
                </a:tc>
              </a:tr>
            </a:tbl>
          </a:graphicData>
        </a:graphic>
      </p:graphicFrame>
      <p:sp>
        <p:nvSpPr>
          <p:cNvPr id="7" name="TextBox 6"/>
          <p:cNvSpPr txBox="1"/>
          <p:nvPr/>
        </p:nvSpPr>
        <p:spPr>
          <a:xfrm>
            <a:off x="685800" y="5230368"/>
            <a:ext cx="10881360" cy="969264"/>
          </a:xfrm>
          <a:prstGeom prst="rect">
            <a:avLst/>
          </a:prstGeom>
          <a:noFill/>
        </p:spPr>
        <p:txBody>
          <a:bodyPr wrap="square" lIns="18288" rIns="18288" tIns="18288" bIns="0">
            <a:spAutoFit/>
          </a:bodyPr>
          <a:lstStyle/>
          <a:p>
            <a:pPr algn="l">
              <a:spcAft>
                <a:spcPts val="400"/>
              </a:spcAft>
            </a:pPr>
            <a:r>
              <a:rPr sz="1900" b="0">
                <a:solidFill>
                  <a:srgbClr val="223544"/>
                </a:solidFill>
                <a:latin typeface="Times New Roman"/>
              </a:rPr>
              <a:t>Mỗi model chạy 1 lần trên S13_W000035; không dùng PSRAM.</a:t>
            </a:r>
          </a:p>
          <a:p>
            <a:pPr algn="l">
              <a:spcAft>
                <a:spcPts val="400"/>
              </a:spcAft>
            </a:pPr>
            <a:r>
              <a:rPr sz="1900" b="0">
                <a:solidFill>
                  <a:srgbClr val="223544"/>
                </a:solidFill>
                <a:latin typeface="Times New Roman"/>
              </a:rPr>
              <a:t>Dung lượng firmware trong flash đã gồm trọng số. Heap/stack là phần còn trống.</a:t>
            </a:r>
          </a:p>
          <a:p>
            <a:pPr algn="l">
              <a:spcAft>
                <a:spcPts val="400"/>
              </a:spcAft>
            </a:pPr>
            <a:r>
              <a:rPr sz="1900" b="0">
                <a:solidFill>
                  <a:srgbClr val="223544"/>
                </a:solidFill>
                <a:latin typeface="Times New Roman"/>
              </a:rPr>
              <a:t>Min free heap tính từ lúc khởi động, không phải peak RAM riêng của inference.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100584"/>
          </a:xfrm>
          <a:prstGeom prst="roundRect">
            <a:avLst/>
          </a:prstGeom>
          <a:solidFill>
            <a:srgbClr val="2879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r>
              <a:rPr sz="3100" b="1">
                <a:solidFill>
                  <a:srgbClr val="19364D"/>
                </a:solidFill>
                <a:latin typeface="Times New Roman"/>
              </a:rPr>
              <a:t>Kết luận và giới hạn</a:t>
            </a: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526575"/>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526575"/>
                </a:solidFill>
                <a:latin typeface="Times New Roman"/>
              </a:rPr>
              <a:t>22 / 23</a:t>
            </a:r>
          </a:p>
        </p:txBody>
      </p:sp>
      <p:sp>
        <p:nvSpPr>
          <p:cNvPr id="6" name="Rounded Rectangle 5"/>
          <p:cNvSpPr/>
          <p:nvPr/>
        </p:nvSpPr>
        <p:spPr>
          <a:xfrm>
            <a:off x="594360" y="1417320"/>
            <a:ext cx="5349240" cy="452628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554480"/>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Kết quả chính</a:t>
            </a:r>
          </a:p>
        </p:txBody>
      </p:sp>
      <p:sp>
        <p:nvSpPr>
          <p:cNvPr id="8" name="TextBox 7"/>
          <p:cNvSpPr txBox="1"/>
          <p:nvPr/>
        </p:nvSpPr>
        <p:spPr>
          <a:xfrm>
            <a:off x="795528" y="2130552"/>
            <a:ext cx="4946903" cy="3739896"/>
          </a:xfrm>
          <a:prstGeom prst="rect">
            <a:avLst/>
          </a:prstGeom>
          <a:noFill/>
        </p:spPr>
        <p:txBody>
          <a:bodyPr wrap="square" lIns="18288" rIns="18288" tIns="18288" bIns="0">
            <a:spAutoFit/>
          </a:bodyPr>
          <a:lstStyle/>
          <a:p>
            <a:pPr algn="l">
              <a:spcAft>
                <a:spcPts val="800"/>
              </a:spcAft>
            </a:pPr>
            <a:r>
              <a:rPr sz="2200" b="0">
                <a:solidFill>
                  <a:srgbClr val="223544"/>
                </a:solidFill>
                <a:latin typeface="Times New Roman"/>
              </a:rPr>
              <a:t>E2: Macro F1 trung bình 78,48%, cao nhất trong E1–E5.</a:t>
            </a:r>
          </a:p>
          <a:p>
            <a:pPr algn="l">
              <a:spcAft>
                <a:spcPts val="800"/>
              </a:spcAft>
            </a:pPr>
            <a:r>
              <a:rPr sz="2200" b="0">
                <a:solidFill>
                  <a:srgbClr val="223544"/>
                </a:solidFill>
                <a:latin typeface="Times New Roman"/>
              </a:rPr>
              <a:t>E6: Macro F1 85,31%, cao nhất trong các cấu hình đã thử.</a:t>
            </a:r>
          </a:p>
          <a:p>
            <a:pPr algn="l">
              <a:spcAft>
                <a:spcPts val="800"/>
              </a:spcAft>
            </a:pPr>
            <a:r>
              <a:rPr sz="2200" b="0">
                <a:solidFill>
                  <a:srgbClr val="223544"/>
                </a:solidFill>
                <a:latin typeface="Times New Roman"/>
              </a:rPr>
              <a:t>Q1 giảm dung lượng trọng số 72,31%; thời gian pipeline giảm 4,07%.</a:t>
            </a:r>
          </a:p>
          <a:p>
            <a:pPr algn="l">
              <a:spcAft>
                <a:spcPts val="800"/>
              </a:spcAft>
            </a:pPr>
            <a:r>
              <a:rPr sz="2200" b="0">
                <a:solidFill>
                  <a:srgbClr val="223544"/>
                </a:solidFill>
                <a:latin typeface="Times New Roman"/>
              </a:rPr>
              <a:t>E1–E6/Q1 đều chạy được trên ESP32.</a:t>
            </a:r>
          </a:p>
        </p:txBody>
      </p:sp>
      <p:sp>
        <p:nvSpPr>
          <p:cNvPr id="9" name="Rounded Rectangle 8"/>
          <p:cNvSpPr/>
          <p:nvPr/>
        </p:nvSpPr>
        <p:spPr>
          <a:xfrm>
            <a:off x="6217920" y="1417320"/>
            <a:ext cx="5349240" cy="4526280"/>
          </a:xfrm>
          <a:prstGeom prst="round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554480"/>
            <a:ext cx="4946903" cy="438912"/>
          </a:xfrm>
          <a:prstGeom prst="rect">
            <a:avLst/>
          </a:prstGeom>
          <a:noFill/>
        </p:spPr>
        <p:txBody>
          <a:bodyPr wrap="square" lIns="18288" rIns="18288" tIns="18288" bIns="0">
            <a:spAutoFit/>
          </a:bodyPr>
          <a:lstStyle/>
          <a:p>
            <a:pPr algn="l">
              <a:spcAft>
                <a:spcPts val="800"/>
              </a:spcAft>
            </a:pPr>
            <a:r>
              <a:rPr sz="2400" b="1">
                <a:solidFill>
                  <a:srgbClr val="216C9A"/>
                </a:solidFill>
                <a:latin typeface="Times New Roman"/>
              </a:rPr>
              <a:t>Giới hạn</a:t>
            </a:r>
          </a:p>
        </p:txBody>
      </p:sp>
      <p:sp>
        <p:nvSpPr>
          <p:cNvPr id="11" name="TextBox 10"/>
          <p:cNvSpPr txBox="1"/>
          <p:nvPr/>
        </p:nvSpPr>
        <p:spPr>
          <a:xfrm>
            <a:off x="6419088" y="2130552"/>
            <a:ext cx="4946903" cy="3739896"/>
          </a:xfrm>
          <a:prstGeom prst="rect">
            <a:avLst/>
          </a:prstGeom>
          <a:noFill/>
        </p:spPr>
        <p:txBody>
          <a:bodyPr wrap="square" lIns="18288" rIns="18288" tIns="18288" bIns="0">
            <a:spAutoFit/>
          </a:bodyPr>
          <a:lstStyle/>
          <a:p>
            <a:pPr algn="l">
              <a:spcAft>
                <a:spcPts val="800"/>
              </a:spcAft>
            </a:pPr>
            <a:r>
              <a:rPr sz="2100" b="0">
                <a:solidFill>
                  <a:srgbClr val="223544"/>
                </a:solidFill>
                <a:latin typeface="Times New Roman"/>
              </a:rPr>
              <a:t>Test chỉ có 3 người; E6 chỉ 1 checkpoint.</a:t>
            </a:r>
          </a:p>
          <a:p>
            <a:pPr algn="l">
              <a:spcAft>
                <a:spcPts val="800"/>
              </a:spcAft>
            </a:pPr>
            <a:r>
              <a:rPr sz="2100" b="0">
                <a:solidFill>
                  <a:srgbClr val="223544"/>
                </a:solidFill>
                <a:latin typeface="Times New Roman"/>
              </a:rPr>
              <a:t>Làm việc: Recall 50,03%.</a:t>
            </a:r>
          </a:p>
          <a:p>
            <a:pPr algn="l">
              <a:spcAft>
                <a:spcPts val="800"/>
              </a:spcAft>
            </a:pPr>
            <a:r>
              <a:rPr sz="2100" b="0">
                <a:solidFill>
                  <a:srgbClr val="223544"/>
                </a:solidFill>
                <a:latin typeface="Times New Roman"/>
              </a:rPr>
              <a:t>Chưa thu dữ liệu từ cảm biến, chưa đo điện năng và độ ổn định khi chạy lâu dài.</a:t>
            </a:r>
          </a:p>
          <a:p>
            <a:pPr algn="l">
              <a:spcAft>
                <a:spcPts val="800"/>
              </a:spcAft>
            </a:pPr>
            <a:r>
              <a:rPr sz="2100" b="0">
                <a:solidFill>
                  <a:srgbClr val="223544"/>
                </a:solidFill>
                <a:latin typeface="Times New Roman"/>
              </a:rPr>
              <a:t>Độ trễ chỉ tính lượt thành công; còn lỗi RF/CRC.</a:t>
            </a:r>
          </a:p>
          <a:p>
            <a:pPr algn="l">
              <a:spcAft>
                <a:spcPts val="800"/>
              </a:spcAft>
            </a:pPr>
            <a:r>
              <a:rPr sz="2100" b="0">
                <a:solidFill>
                  <a:srgbClr val="223544"/>
                </a:solidFill>
                <a:latin typeface="Times New Roman"/>
              </a:rPr>
              <a:t>Bộ nhớ đo trên 1 cửa sổ; chưa có peak RAM riêng cho inference.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9364D"/>
        </a:solidFill>
        <a:effectLst/>
      </p:bgPr>
    </p:bg>
    <p:spTree>
      <p:nvGrpSpPr>
        <p:cNvPr id="1" name=""/>
        <p:cNvGrpSpPr/>
        <p:nvPr/>
      </p:nvGrpSpPr>
      <p:grpSpPr/>
      <p:sp>
        <p:nvSpPr>
          <p:cNvPr id="2" name="Rounded Rectangle 1"/>
          <p:cNvSpPr/>
          <p:nvPr/>
        </p:nvSpPr>
        <p:spPr>
          <a:xfrm>
            <a:off x="0" y="0"/>
            <a:ext cx="12191695" cy="128016"/>
          </a:xfrm>
          <a:prstGeom prst="roundRect">
            <a:avLst/>
          </a:prstGeom>
          <a:solidFill>
            <a:srgbClr val="1936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9184"/>
            <a:ext cx="11109960" cy="621792"/>
          </a:xfrm>
          <a:prstGeom prst="rect">
            <a:avLst/>
          </a:prstGeom>
          <a:noFill/>
        </p:spPr>
        <p:txBody>
          <a:bodyPr wrap="square" lIns="18288" rIns="18288" tIns="18288" bIns="0">
            <a:spAutoFit/>
          </a:bodyPr>
          <a:lstStyle/>
          <a:p>
            <a:pPr algn="l">
              <a:spcAft>
                <a:spcPts val="800"/>
              </a:spcAft>
            </a:pPr>
          </a:p>
        </p:txBody>
      </p:sp>
      <p:sp>
        <p:nvSpPr>
          <p:cNvPr id="4" name="TextBox 3"/>
          <p:cNvSpPr txBox="1"/>
          <p:nvPr/>
        </p:nvSpPr>
        <p:spPr>
          <a:xfrm>
            <a:off x="530352" y="6473952"/>
            <a:ext cx="9144000" cy="210312"/>
          </a:xfrm>
          <a:prstGeom prst="rect">
            <a:avLst/>
          </a:prstGeom>
          <a:noFill/>
        </p:spPr>
        <p:txBody>
          <a:bodyPr wrap="square" lIns="18288" rIns="18288" tIns="18288" bIns="0">
            <a:spAutoFit/>
          </a:bodyPr>
          <a:lstStyle/>
          <a:p>
            <a:pPr algn="l">
              <a:spcAft>
                <a:spcPts val="800"/>
              </a:spcAft>
            </a:pPr>
            <a:r>
              <a:rPr sz="1200" b="0">
                <a:solidFill>
                  <a:srgbClr val="B8CCDA"/>
                </a:solidFill>
                <a:latin typeface="Times New Roman"/>
              </a:rPr>
              <a:t>Lương Nguyễn Thành Hưng · MSSV 23110111 · Trí tuệ nhân tạo cho IoT</a:t>
            </a:r>
          </a:p>
        </p:txBody>
      </p:sp>
      <p:sp>
        <p:nvSpPr>
          <p:cNvPr id="5" name="TextBox 4"/>
          <p:cNvSpPr txBox="1"/>
          <p:nvPr/>
        </p:nvSpPr>
        <p:spPr>
          <a:xfrm>
            <a:off x="11064240" y="6419088"/>
            <a:ext cx="594360" cy="274320"/>
          </a:xfrm>
          <a:prstGeom prst="rect">
            <a:avLst/>
          </a:prstGeom>
          <a:noFill/>
        </p:spPr>
        <p:txBody>
          <a:bodyPr wrap="square" lIns="18288" rIns="18288" tIns="18288" bIns="0">
            <a:spAutoFit/>
          </a:bodyPr>
          <a:lstStyle/>
          <a:p>
            <a:pPr algn="r">
              <a:spcAft>
                <a:spcPts val="800"/>
              </a:spcAft>
            </a:pPr>
            <a:r>
              <a:rPr sz="1300" b="0">
                <a:solidFill>
                  <a:srgbClr val="B8CCDA"/>
                </a:solidFill>
                <a:latin typeface="Times New Roman"/>
              </a:rPr>
              <a:t>23 / 23</a:t>
            </a:r>
          </a:p>
        </p:txBody>
      </p:sp>
      <p:sp>
        <p:nvSpPr>
          <p:cNvPr id="6" name="TextBox 5"/>
          <p:cNvSpPr txBox="1"/>
          <p:nvPr/>
        </p:nvSpPr>
        <p:spPr>
          <a:xfrm>
            <a:off x="777240" y="2240280"/>
            <a:ext cx="10652760" cy="1234440"/>
          </a:xfrm>
          <a:prstGeom prst="rect">
            <a:avLst/>
          </a:prstGeom>
          <a:noFill/>
        </p:spPr>
        <p:txBody>
          <a:bodyPr wrap="square" lIns="18288" rIns="18288" tIns="18288" bIns="0">
            <a:spAutoFit/>
          </a:bodyPr>
          <a:lstStyle/>
          <a:p>
            <a:pPr algn="ctr">
              <a:spcAft>
                <a:spcPts val="800"/>
              </a:spcAft>
            </a:pPr>
            <a:r>
              <a:rPr sz="3900" b="1">
                <a:solidFill>
                  <a:srgbClr val="FFFFFF"/>
                </a:solidFill>
                <a:latin typeface="Times New Roman"/>
              </a:rPr>
              <a:t>CẢM ƠN MỌI NGƯỜI</a:t>
            </a:r>
          </a:p>
          <a:p>
            <a:pPr algn="ctr">
              <a:spcAft>
                <a:spcPts val="800"/>
              </a:spcAft>
            </a:pPr>
            <a:r>
              <a:rPr sz="3900" b="1">
                <a:solidFill>
                  <a:srgbClr val="FFFFFF"/>
                </a:solidFill>
                <a:latin typeface="Times New Roman"/>
              </a:rPr>
              <a:t>ĐÃ THEO DÕI</a:t>
            </a:r>
          </a:p>
        </p:txBody>
      </p:sp>
      <p:sp>
        <p:nvSpPr>
          <p:cNvPr id="7" name="TextBox 6"/>
          <p:cNvSpPr txBox="1"/>
          <p:nvPr/>
        </p:nvSpPr>
        <p:spPr>
          <a:xfrm>
            <a:off x="731520" y="3931920"/>
            <a:ext cx="10744200" cy="640080"/>
          </a:xfrm>
          <a:prstGeom prst="rect">
            <a:avLst/>
          </a:prstGeom>
          <a:noFill/>
        </p:spPr>
        <p:txBody>
          <a:bodyPr wrap="square" lIns="18288" rIns="18288" tIns="18288" bIns="0">
            <a:spAutoFit/>
          </a:bodyPr>
          <a:lstStyle/>
          <a:p>
            <a:pPr algn="ctr">
              <a:spcAft>
                <a:spcPts val="800"/>
              </a:spcAft>
            </a:pPr>
            <a:r>
              <a:rPr sz="2400" b="1">
                <a:solidFill>
                  <a:srgbClr val="70CEEF"/>
                </a:solidFill>
                <a:latin typeface="Times New Roman"/>
                <a:hlinkClick r:id="rId3"/>
              </a:rPr>
              <a:t>github.com/Hung0Toy2810/AI4IoT_final_project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CEEF"/>
      </a:hlink>
      <a:folHlink>
        <a:srgbClr val="70CEE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CEEF"/>
      </a:hlink>
      <a:folHlink>
        <a:srgbClr val="70CEE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